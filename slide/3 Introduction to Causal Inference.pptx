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77" r:id="rId4"/>
    <p:sldId id="258" r:id="rId5"/>
    <p:sldId id="278" r:id="rId6"/>
    <p:sldId id="279" r:id="rId7"/>
    <p:sldId id="280" r:id="rId8"/>
    <p:sldId id="281" r:id="rId9"/>
    <p:sldId id="282" r:id="rId10"/>
    <p:sldId id="283" r:id="rId11"/>
    <p:sldId id="284" r:id="rId12"/>
    <p:sldId id="285" r:id="rId13"/>
    <p:sldId id="286" r:id="rId14"/>
    <p:sldId id="271" r:id="rId15"/>
    <p:sldId id="288" r:id="rId16"/>
    <p:sldId id="289" r:id="rId17"/>
    <p:sldId id="290" r:id="rId18"/>
    <p:sldId id="291" r:id="rId19"/>
    <p:sldId id="292" r:id="rId20"/>
    <p:sldId id="293" r:id="rId21"/>
    <p:sldId id="294" r:id="rId22"/>
    <p:sldId id="295" r:id="rId23"/>
    <p:sldId id="296" r:id="rId24"/>
    <p:sldId id="297" r:id="rId25"/>
    <p:sldId id="298" r:id="rId26"/>
    <p:sldId id="299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7D89387-8394-674D-BCD5-DA171F331EA7}" v="15" dt="2026-01-13T03:55:42.93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703"/>
    <p:restoredTop sz="96208"/>
  </p:normalViewPr>
  <p:slideViewPr>
    <p:cSldViewPr snapToGrid="0">
      <p:cViewPr varScale="1">
        <p:scale>
          <a:sx n="117" d="100"/>
          <a:sy n="117" d="100"/>
        </p:scale>
        <p:origin x="20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ebastian Vallejo Vera" userId="661f42ee-5565-49c4-8b1d-325f2d699b91" providerId="ADAL" clId="{A248EEF8-C29E-592E-8CA9-13334A969EB7}"/>
    <pc:docChg chg="modSld">
      <pc:chgData name="Sebastian Vallejo Vera" userId="661f42ee-5565-49c4-8b1d-325f2d699b91" providerId="ADAL" clId="{A248EEF8-C29E-592E-8CA9-13334A969EB7}" dt="2026-01-13T03:59:50.021" v="29" actId="20577"/>
      <pc:docMkLst>
        <pc:docMk/>
      </pc:docMkLst>
      <pc:sldChg chg="modSp">
        <pc:chgData name="Sebastian Vallejo Vera" userId="661f42ee-5565-49c4-8b1d-325f2d699b91" providerId="ADAL" clId="{A248EEF8-C29E-592E-8CA9-13334A969EB7}" dt="2026-01-13T03:55:42.938" v="14" actId="20577"/>
        <pc:sldMkLst>
          <pc:docMk/>
          <pc:sldMk cId="328487814" sldId="286"/>
        </pc:sldMkLst>
        <pc:spChg chg="mod">
          <ac:chgData name="Sebastian Vallejo Vera" userId="661f42ee-5565-49c4-8b1d-325f2d699b91" providerId="ADAL" clId="{A248EEF8-C29E-592E-8CA9-13334A969EB7}" dt="2026-01-13T03:55:42.938" v="14" actId="20577"/>
          <ac:spMkLst>
            <pc:docMk/>
            <pc:sldMk cId="328487814" sldId="286"/>
            <ac:spMk id="5" creationId="{2C75B29B-ED4B-A45B-D8DB-498ADBA03B6F}"/>
          </ac:spMkLst>
        </pc:spChg>
      </pc:sldChg>
      <pc:sldChg chg="modSp mod">
        <pc:chgData name="Sebastian Vallejo Vera" userId="661f42ee-5565-49c4-8b1d-325f2d699b91" providerId="ADAL" clId="{A248EEF8-C29E-592E-8CA9-13334A969EB7}" dt="2026-01-13T03:59:14.490" v="28" actId="20577"/>
        <pc:sldMkLst>
          <pc:docMk/>
          <pc:sldMk cId="2211516910" sldId="292"/>
        </pc:sldMkLst>
        <pc:spChg chg="mod">
          <ac:chgData name="Sebastian Vallejo Vera" userId="661f42ee-5565-49c4-8b1d-325f2d699b91" providerId="ADAL" clId="{A248EEF8-C29E-592E-8CA9-13334A969EB7}" dt="2026-01-13T03:59:14.490" v="28" actId="20577"/>
          <ac:spMkLst>
            <pc:docMk/>
            <pc:sldMk cId="2211516910" sldId="292"/>
            <ac:spMk id="3" creationId="{8DD7E948-628A-BE15-D0CF-D2B6C512677A}"/>
          </ac:spMkLst>
        </pc:spChg>
      </pc:sldChg>
      <pc:sldChg chg="modSp mod">
        <pc:chgData name="Sebastian Vallejo Vera" userId="661f42ee-5565-49c4-8b1d-325f2d699b91" providerId="ADAL" clId="{A248EEF8-C29E-592E-8CA9-13334A969EB7}" dt="2026-01-13T03:58:41.754" v="15" actId="20577"/>
        <pc:sldMkLst>
          <pc:docMk/>
          <pc:sldMk cId="1512667270" sldId="295"/>
        </pc:sldMkLst>
        <pc:spChg chg="mod">
          <ac:chgData name="Sebastian Vallejo Vera" userId="661f42ee-5565-49c4-8b1d-325f2d699b91" providerId="ADAL" clId="{A248EEF8-C29E-592E-8CA9-13334A969EB7}" dt="2026-01-13T03:58:41.754" v="15" actId="20577"/>
          <ac:spMkLst>
            <pc:docMk/>
            <pc:sldMk cId="1512667270" sldId="295"/>
            <ac:spMk id="3" creationId="{4F31C943-543E-8F2F-5106-B1BB14143068}"/>
          </ac:spMkLst>
        </pc:spChg>
      </pc:sldChg>
      <pc:sldChg chg="modSp mod">
        <pc:chgData name="Sebastian Vallejo Vera" userId="661f42ee-5565-49c4-8b1d-325f2d699b91" providerId="ADAL" clId="{A248EEF8-C29E-592E-8CA9-13334A969EB7}" dt="2026-01-13T03:59:50.021" v="29" actId="20577"/>
        <pc:sldMkLst>
          <pc:docMk/>
          <pc:sldMk cId="3608606156" sldId="297"/>
        </pc:sldMkLst>
        <pc:spChg chg="mod">
          <ac:chgData name="Sebastian Vallejo Vera" userId="661f42ee-5565-49c4-8b1d-325f2d699b91" providerId="ADAL" clId="{A248EEF8-C29E-592E-8CA9-13334A969EB7}" dt="2026-01-13T03:59:50.021" v="29" actId="20577"/>
          <ac:spMkLst>
            <pc:docMk/>
            <pc:sldMk cId="3608606156" sldId="297"/>
            <ac:spMk id="3" creationId="{F2B29BEF-E803-2B3D-63D0-1CAA490943F4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 title="scalloped circle"/>
          <p:cNvSpPr/>
          <p:nvPr/>
        </p:nvSpPr>
        <p:spPr bwMode="auto">
          <a:xfrm>
            <a:off x="3557016" y="630936"/>
            <a:ext cx="5235575" cy="5229225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78523" y="1098388"/>
            <a:ext cx="10318418" cy="4394988"/>
          </a:xfrm>
        </p:spPr>
        <p:txBody>
          <a:bodyPr anchor="ctr">
            <a:noAutofit/>
          </a:bodyPr>
          <a:lstStyle>
            <a:lvl1pPr algn="ctr">
              <a:defRPr sz="10000" spc="8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15045" y="5979196"/>
            <a:ext cx="8045373" cy="742279"/>
          </a:xfrm>
        </p:spPr>
        <p:txBody>
          <a:bodyPr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b="1" i="0" cap="all" spc="400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78523" y="6375679"/>
            <a:ext cx="2329722" cy="348462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F0A7FFD6-0D80-574C-8DB8-5DC82B70FEA2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80332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067218" y="6375679"/>
            <a:ext cx="2329723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C19356F2-F5AE-7C4C-9B4D-A0A0BAFB3379}" type="slidenum">
              <a:rPr lang="en-US" smtClean="0"/>
              <a:t>‹#›</a:t>
            </a:fld>
            <a:endParaRPr lang="en-US"/>
          </a:p>
        </p:txBody>
      </p:sp>
      <p:sp>
        <p:nvSpPr>
          <p:cNvPr id="13" name="Rectangle 12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50714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7FFD6-0D80-574C-8DB8-5DC82B70FEA2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356F2-F5AE-7C4C-9B4D-A0A0BAFB33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4568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2929" y="1073888"/>
            <a:ext cx="8187071" cy="4064627"/>
          </a:xfrm>
        </p:spPr>
        <p:txBody>
          <a:bodyPr anchor="b">
            <a:normAutofit/>
          </a:bodyPr>
          <a:lstStyle>
            <a:lvl1pPr>
              <a:defRPr sz="8400" spc="8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42930" y="5159781"/>
            <a:ext cx="7017488" cy="95113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000" b="1" i="0" cap="all" spc="40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3236546" y="6375679"/>
            <a:ext cx="1493947" cy="348462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F0A7FFD6-0D80-574C-8DB8-5DC82B70FEA2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279064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942434" y="6375679"/>
            <a:ext cx="1487566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C19356F2-F5AE-7C4C-9B4D-A0A0BAFB3379}" type="slidenum">
              <a:rPr lang="en-US" smtClean="0"/>
              <a:t>‹#›</a:t>
            </a:fld>
            <a:endParaRPr lang="en-US"/>
          </a:p>
        </p:txBody>
      </p:sp>
      <p:grpSp>
        <p:nvGrpSpPr>
          <p:cNvPr id="7" name="Group 6" title="left scallop shape"/>
          <p:cNvGrpSpPr/>
          <p:nvPr/>
        </p:nvGrpSpPr>
        <p:grpSpPr>
          <a:xfrm>
            <a:off x="0" y="0"/>
            <a:ext cx="2814638" cy="6858000"/>
            <a:chOff x="0" y="0"/>
            <a:chExt cx="2814638" cy="6858000"/>
          </a:xfrm>
        </p:grpSpPr>
        <p:sp>
          <p:nvSpPr>
            <p:cNvPr id="11" name="Freeform 6" title="left scallop shape"/>
            <p:cNvSpPr/>
            <p:nvPr/>
          </p:nvSpPr>
          <p:spPr bwMode="auto">
            <a:xfrm>
              <a:off x="0" y="0"/>
              <a:ext cx="2814638" cy="6858000"/>
            </a:xfrm>
            <a:custGeom>
              <a:avLst/>
              <a:gdLst/>
              <a:ahLst/>
              <a:cxnLst/>
              <a:rect l="0" t="0" r="r" b="b"/>
              <a:pathLst>
                <a:path w="1773" h="4320">
                  <a:moveTo>
                    <a:pt x="0" y="0"/>
                  </a:moveTo>
                  <a:lnTo>
                    <a:pt x="891" y="0"/>
                  </a:lnTo>
                  <a:lnTo>
                    <a:pt x="906" y="56"/>
                  </a:lnTo>
                  <a:lnTo>
                    <a:pt x="921" y="111"/>
                  </a:lnTo>
                  <a:lnTo>
                    <a:pt x="938" y="165"/>
                  </a:lnTo>
                  <a:lnTo>
                    <a:pt x="957" y="217"/>
                  </a:lnTo>
                  <a:lnTo>
                    <a:pt x="980" y="266"/>
                  </a:lnTo>
                  <a:lnTo>
                    <a:pt x="1007" y="312"/>
                  </a:lnTo>
                  <a:lnTo>
                    <a:pt x="1036" y="351"/>
                  </a:lnTo>
                  <a:lnTo>
                    <a:pt x="1069" y="387"/>
                  </a:lnTo>
                  <a:lnTo>
                    <a:pt x="1105" y="422"/>
                  </a:lnTo>
                  <a:lnTo>
                    <a:pt x="1145" y="456"/>
                  </a:lnTo>
                  <a:lnTo>
                    <a:pt x="1185" y="487"/>
                  </a:lnTo>
                  <a:lnTo>
                    <a:pt x="1227" y="520"/>
                  </a:lnTo>
                  <a:lnTo>
                    <a:pt x="1270" y="551"/>
                  </a:lnTo>
                  <a:lnTo>
                    <a:pt x="1311" y="584"/>
                  </a:lnTo>
                  <a:lnTo>
                    <a:pt x="1352" y="617"/>
                  </a:lnTo>
                  <a:lnTo>
                    <a:pt x="1390" y="651"/>
                  </a:lnTo>
                  <a:lnTo>
                    <a:pt x="1425" y="687"/>
                  </a:lnTo>
                  <a:lnTo>
                    <a:pt x="1456" y="725"/>
                  </a:lnTo>
                  <a:lnTo>
                    <a:pt x="1484" y="765"/>
                  </a:lnTo>
                  <a:lnTo>
                    <a:pt x="1505" y="808"/>
                  </a:lnTo>
                  <a:lnTo>
                    <a:pt x="1521" y="856"/>
                  </a:lnTo>
                  <a:lnTo>
                    <a:pt x="1530" y="907"/>
                  </a:lnTo>
                  <a:lnTo>
                    <a:pt x="1534" y="960"/>
                  </a:lnTo>
                  <a:lnTo>
                    <a:pt x="1534" y="1013"/>
                  </a:lnTo>
                  <a:lnTo>
                    <a:pt x="1530" y="1068"/>
                  </a:lnTo>
                  <a:lnTo>
                    <a:pt x="1523" y="1125"/>
                  </a:lnTo>
                  <a:lnTo>
                    <a:pt x="1515" y="1181"/>
                  </a:lnTo>
                  <a:lnTo>
                    <a:pt x="1508" y="1237"/>
                  </a:lnTo>
                  <a:lnTo>
                    <a:pt x="1501" y="1293"/>
                  </a:lnTo>
                  <a:lnTo>
                    <a:pt x="1496" y="1350"/>
                  </a:lnTo>
                  <a:lnTo>
                    <a:pt x="1494" y="1405"/>
                  </a:lnTo>
                  <a:lnTo>
                    <a:pt x="1497" y="1458"/>
                  </a:lnTo>
                  <a:lnTo>
                    <a:pt x="1504" y="1511"/>
                  </a:lnTo>
                  <a:lnTo>
                    <a:pt x="1517" y="1560"/>
                  </a:lnTo>
                  <a:lnTo>
                    <a:pt x="1535" y="1610"/>
                  </a:lnTo>
                  <a:lnTo>
                    <a:pt x="1557" y="1659"/>
                  </a:lnTo>
                  <a:lnTo>
                    <a:pt x="1583" y="1708"/>
                  </a:lnTo>
                  <a:lnTo>
                    <a:pt x="1611" y="1757"/>
                  </a:lnTo>
                  <a:lnTo>
                    <a:pt x="1640" y="1807"/>
                  </a:lnTo>
                  <a:lnTo>
                    <a:pt x="1669" y="1855"/>
                  </a:lnTo>
                  <a:lnTo>
                    <a:pt x="1696" y="1905"/>
                  </a:lnTo>
                  <a:lnTo>
                    <a:pt x="1721" y="1954"/>
                  </a:lnTo>
                  <a:lnTo>
                    <a:pt x="1742" y="2006"/>
                  </a:lnTo>
                  <a:lnTo>
                    <a:pt x="1759" y="2057"/>
                  </a:lnTo>
                  <a:lnTo>
                    <a:pt x="1769" y="2108"/>
                  </a:lnTo>
                  <a:lnTo>
                    <a:pt x="1773" y="2160"/>
                  </a:lnTo>
                  <a:lnTo>
                    <a:pt x="1769" y="2212"/>
                  </a:lnTo>
                  <a:lnTo>
                    <a:pt x="1759" y="2263"/>
                  </a:lnTo>
                  <a:lnTo>
                    <a:pt x="1742" y="2314"/>
                  </a:lnTo>
                  <a:lnTo>
                    <a:pt x="1721" y="2366"/>
                  </a:lnTo>
                  <a:lnTo>
                    <a:pt x="1696" y="2415"/>
                  </a:lnTo>
                  <a:lnTo>
                    <a:pt x="1669" y="2465"/>
                  </a:lnTo>
                  <a:lnTo>
                    <a:pt x="1640" y="2513"/>
                  </a:lnTo>
                  <a:lnTo>
                    <a:pt x="1611" y="2563"/>
                  </a:lnTo>
                  <a:lnTo>
                    <a:pt x="1583" y="2612"/>
                  </a:lnTo>
                  <a:lnTo>
                    <a:pt x="1557" y="2661"/>
                  </a:lnTo>
                  <a:lnTo>
                    <a:pt x="1535" y="2710"/>
                  </a:lnTo>
                  <a:lnTo>
                    <a:pt x="1517" y="2760"/>
                  </a:lnTo>
                  <a:lnTo>
                    <a:pt x="1504" y="2809"/>
                  </a:lnTo>
                  <a:lnTo>
                    <a:pt x="1497" y="2862"/>
                  </a:lnTo>
                  <a:lnTo>
                    <a:pt x="1494" y="2915"/>
                  </a:lnTo>
                  <a:lnTo>
                    <a:pt x="1496" y="2970"/>
                  </a:lnTo>
                  <a:lnTo>
                    <a:pt x="1501" y="3027"/>
                  </a:lnTo>
                  <a:lnTo>
                    <a:pt x="1508" y="3083"/>
                  </a:lnTo>
                  <a:lnTo>
                    <a:pt x="1515" y="3139"/>
                  </a:lnTo>
                  <a:lnTo>
                    <a:pt x="1523" y="3195"/>
                  </a:lnTo>
                  <a:lnTo>
                    <a:pt x="1530" y="3252"/>
                  </a:lnTo>
                  <a:lnTo>
                    <a:pt x="1534" y="3307"/>
                  </a:lnTo>
                  <a:lnTo>
                    <a:pt x="1534" y="3360"/>
                  </a:lnTo>
                  <a:lnTo>
                    <a:pt x="1530" y="3413"/>
                  </a:lnTo>
                  <a:lnTo>
                    <a:pt x="1521" y="3464"/>
                  </a:lnTo>
                  <a:lnTo>
                    <a:pt x="1505" y="3512"/>
                  </a:lnTo>
                  <a:lnTo>
                    <a:pt x="1484" y="3555"/>
                  </a:lnTo>
                  <a:lnTo>
                    <a:pt x="1456" y="3595"/>
                  </a:lnTo>
                  <a:lnTo>
                    <a:pt x="1425" y="3633"/>
                  </a:lnTo>
                  <a:lnTo>
                    <a:pt x="1390" y="3669"/>
                  </a:lnTo>
                  <a:lnTo>
                    <a:pt x="1352" y="3703"/>
                  </a:lnTo>
                  <a:lnTo>
                    <a:pt x="1311" y="3736"/>
                  </a:lnTo>
                  <a:lnTo>
                    <a:pt x="1270" y="3769"/>
                  </a:lnTo>
                  <a:lnTo>
                    <a:pt x="1227" y="3800"/>
                  </a:lnTo>
                  <a:lnTo>
                    <a:pt x="1185" y="3833"/>
                  </a:lnTo>
                  <a:lnTo>
                    <a:pt x="1145" y="3864"/>
                  </a:lnTo>
                  <a:lnTo>
                    <a:pt x="1105" y="3898"/>
                  </a:lnTo>
                  <a:lnTo>
                    <a:pt x="1069" y="3933"/>
                  </a:lnTo>
                  <a:lnTo>
                    <a:pt x="1036" y="3969"/>
                  </a:lnTo>
                  <a:lnTo>
                    <a:pt x="1007" y="4008"/>
                  </a:lnTo>
                  <a:lnTo>
                    <a:pt x="980" y="4054"/>
                  </a:lnTo>
                  <a:lnTo>
                    <a:pt x="957" y="4103"/>
                  </a:lnTo>
                  <a:lnTo>
                    <a:pt x="938" y="4155"/>
                  </a:lnTo>
                  <a:lnTo>
                    <a:pt x="921" y="4209"/>
                  </a:lnTo>
                  <a:lnTo>
                    <a:pt x="906" y="4264"/>
                  </a:lnTo>
                  <a:lnTo>
                    <a:pt x="891" y="4320"/>
                  </a:lnTo>
                  <a:lnTo>
                    <a:pt x="0" y="43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1" title="left scallop inline"/>
            <p:cNvSpPr/>
            <p:nvPr/>
          </p:nvSpPr>
          <p:spPr bwMode="auto">
            <a:xfrm>
              <a:off x="874382" y="0"/>
              <a:ext cx="1646238" cy="6858000"/>
            </a:xfrm>
            <a:custGeom>
              <a:avLst/>
              <a:gdLst/>
              <a:ahLst/>
              <a:cxnLst/>
              <a:rect l="0" t="0" r="r" b="b"/>
              <a:pathLst>
                <a:path w="1037" h="4320">
                  <a:moveTo>
                    <a:pt x="0" y="0"/>
                  </a:moveTo>
                  <a:lnTo>
                    <a:pt x="171" y="0"/>
                  </a:lnTo>
                  <a:lnTo>
                    <a:pt x="188" y="55"/>
                  </a:lnTo>
                  <a:lnTo>
                    <a:pt x="204" y="110"/>
                  </a:lnTo>
                  <a:lnTo>
                    <a:pt x="220" y="166"/>
                  </a:lnTo>
                  <a:lnTo>
                    <a:pt x="234" y="223"/>
                  </a:lnTo>
                  <a:lnTo>
                    <a:pt x="251" y="278"/>
                  </a:lnTo>
                  <a:lnTo>
                    <a:pt x="269" y="331"/>
                  </a:lnTo>
                  <a:lnTo>
                    <a:pt x="292" y="381"/>
                  </a:lnTo>
                  <a:lnTo>
                    <a:pt x="319" y="427"/>
                  </a:lnTo>
                  <a:lnTo>
                    <a:pt x="349" y="466"/>
                  </a:lnTo>
                  <a:lnTo>
                    <a:pt x="382" y="503"/>
                  </a:lnTo>
                  <a:lnTo>
                    <a:pt x="420" y="537"/>
                  </a:lnTo>
                  <a:lnTo>
                    <a:pt x="460" y="571"/>
                  </a:lnTo>
                  <a:lnTo>
                    <a:pt x="502" y="603"/>
                  </a:lnTo>
                  <a:lnTo>
                    <a:pt x="544" y="635"/>
                  </a:lnTo>
                  <a:lnTo>
                    <a:pt x="587" y="668"/>
                  </a:lnTo>
                  <a:lnTo>
                    <a:pt x="628" y="700"/>
                  </a:lnTo>
                  <a:lnTo>
                    <a:pt x="667" y="734"/>
                  </a:lnTo>
                  <a:lnTo>
                    <a:pt x="703" y="771"/>
                  </a:lnTo>
                  <a:lnTo>
                    <a:pt x="736" y="808"/>
                  </a:lnTo>
                  <a:lnTo>
                    <a:pt x="763" y="848"/>
                  </a:lnTo>
                  <a:lnTo>
                    <a:pt x="786" y="893"/>
                  </a:lnTo>
                  <a:lnTo>
                    <a:pt x="800" y="937"/>
                  </a:lnTo>
                  <a:lnTo>
                    <a:pt x="809" y="986"/>
                  </a:lnTo>
                  <a:lnTo>
                    <a:pt x="813" y="1034"/>
                  </a:lnTo>
                  <a:lnTo>
                    <a:pt x="812" y="1085"/>
                  </a:lnTo>
                  <a:lnTo>
                    <a:pt x="808" y="1136"/>
                  </a:lnTo>
                  <a:lnTo>
                    <a:pt x="803" y="1189"/>
                  </a:lnTo>
                  <a:lnTo>
                    <a:pt x="796" y="1242"/>
                  </a:lnTo>
                  <a:lnTo>
                    <a:pt x="788" y="1295"/>
                  </a:lnTo>
                  <a:lnTo>
                    <a:pt x="782" y="1348"/>
                  </a:lnTo>
                  <a:lnTo>
                    <a:pt x="778" y="1401"/>
                  </a:lnTo>
                  <a:lnTo>
                    <a:pt x="775" y="1452"/>
                  </a:lnTo>
                  <a:lnTo>
                    <a:pt x="778" y="1502"/>
                  </a:lnTo>
                  <a:lnTo>
                    <a:pt x="784" y="1551"/>
                  </a:lnTo>
                  <a:lnTo>
                    <a:pt x="797" y="1602"/>
                  </a:lnTo>
                  <a:lnTo>
                    <a:pt x="817" y="1652"/>
                  </a:lnTo>
                  <a:lnTo>
                    <a:pt x="841" y="1702"/>
                  </a:lnTo>
                  <a:lnTo>
                    <a:pt x="868" y="1752"/>
                  </a:lnTo>
                  <a:lnTo>
                    <a:pt x="896" y="1801"/>
                  </a:lnTo>
                  <a:lnTo>
                    <a:pt x="926" y="1851"/>
                  </a:lnTo>
                  <a:lnTo>
                    <a:pt x="953" y="1901"/>
                  </a:lnTo>
                  <a:lnTo>
                    <a:pt x="980" y="1952"/>
                  </a:lnTo>
                  <a:lnTo>
                    <a:pt x="1003" y="2003"/>
                  </a:lnTo>
                  <a:lnTo>
                    <a:pt x="1021" y="2054"/>
                  </a:lnTo>
                  <a:lnTo>
                    <a:pt x="1031" y="2106"/>
                  </a:lnTo>
                  <a:lnTo>
                    <a:pt x="1037" y="2160"/>
                  </a:lnTo>
                  <a:lnTo>
                    <a:pt x="1031" y="2214"/>
                  </a:lnTo>
                  <a:lnTo>
                    <a:pt x="1021" y="2266"/>
                  </a:lnTo>
                  <a:lnTo>
                    <a:pt x="1003" y="2317"/>
                  </a:lnTo>
                  <a:lnTo>
                    <a:pt x="980" y="2368"/>
                  </a:lnTo>
                  <a:lnTo>
                    <a:pt x="953" y="2419"/>
                  </a:lnTo>
                  <a:lnTo>
                    <a:pt x="926" y="2469"/>
                  </a:lnTo>
                  <a:lnTo>
                    <a:pt x="896" y="2519"/>
                  </a:lnTo>
                  <a:lnTo>
                    <a:pt x="868" y="2568"/>
                  </a:lnTo>
                  <a:lnTo>
                    <a:pt x="841" y="2618"/>
                  </a:lnTo>
                  <a:lnTo>
                    <a:pt x="817" y="2668"/>
                  </a:lnTo>
                  <a:lnTo>
                    <a:pt x="797" y="2718"/>
                  </a:lnTo>
                  <a:lnTo>
                    <a:pt x="784" y="2769"/>
                  </a:lnTo>
                  <a:lnTo>
                    <a:pt x="778" y="2818"/>
                  </a:lnTo>
                  <a:lnTo>
                    <a:pt x="775" y="2868"/>
                  </a:lnTo>
                  <a:lnTo>
                    <a:pt x="778" y="2919"/>
                  </a:lnTo>
                  <a:lnTo>
                    <a:pt x="782" y="2972"/>
                  </a:lnTo>
                  <a:lnTo>
                    <a:pt x="788" y="3025"/>
                  </a:lnTo>
                  <a:lnTo>
                    <a:pt x="796" y="3078"/>
                  </a:lnTo>
                  <a:lnTo>
                    <a:pt x="803" y="3131"/>
                  </a:lnTo>
                  <a:lnTo>
                    <a:pt x="808" y="3184"/>
                  </a:lnTo>
                  <a:lnTo>
                    <a:pt x="812" y="3235"/>
                  </a:lnTo>
                  <a:lnTo>
                    <a:pt x="813" y="3286"/>
                  </a:lnTo>
                  <a:lnTo>
                    <a:pt x="809" y="3334"/>
                  </a:lnTo>
                  <a:lnTo>
                    <a:pt x="800" y="3383"/>
                  </a:lnTo>
                  <a:lnTo>
                    <a:pt x="786" y="3427"/>
                  </a:lnTo>
                  <a:lnTo>
                    <a:pt x="763" y="3472"/>
                  </a:lnTo>
                  <a:lnTo>
                    <a:pt x="736" y="3512"/>
                  </a:lnTo>
                  <a:lnTo>
                    <a:pt x="703" y="3549"/>
                  </a:lnTo>
                  <a:lnTo>
                    <a:pt x="667" y="3586"/>
                  </a:lnTo>
                  <a:lnTo>
                    <a:pt x="628" y="3620"/>
                  </a:lnTo>
                  <a:lnTo>
                    <a:pt x="587" y="3652"/>
                  </a:lnTo>
                  <a:lnTo>
                    <a:pt x="544" y="3685"/>
                  </a:lnTo>
                  <a:lnTo>
                    <a:pt x="502" y="3717"/>
                  </a:lnTo>
                  <a:lnTo>
                    <a:pt x="460" y="3749"/>
                  </a:lnTo>
                  <a:lnTo>
                    <a:pt x="420" y="3783"/>
                  </a:lnTo>
                  <a:lnTo>
                    <a:pt x="382" y="3817"/>
                  </a:lnTo>
                  <a:lnTo>
                    <a:pt x="349" y="3854"/>
                  </a:lnTo>
                  <a:lnTo>
                    <a:pt x="319" y="3893"/>
                  </a:lnTo>
                  <a:lnTo>
                    <a:pt x="292" y="3939"/>
                  </a:lnTo>
                  <a:lnTo>
                    <a:pt x="269" y="3989"/>
                  </a:lnTo>
                  <a:lnTo>
                    <a:pt x="251" y="4042"/>
                  </a:lnTo>
                  <a:lnTo>
                    <a:pt x="234" y="4097"/>
                  </a:lnTo>
                  <a:lnTo>
                    <a:pt x="220" y="4154"/>
                  </a:lnTo>
                  <a:lnTo>
                    <a:pt x="204" y="4210"/>
                  </a:lnTo>
                  <a:lnTo>
                    <a:pt x="188" y="4265"/>
                  </a:lnTo>
                  <a:lnTo>
                    <a:pt x="171" y="4320"/>
                  </a:lnTo>
                  <a:lnTo>
                    <a:pt x="0" y="4320"/>
                  </a:lnTo>
                  <a:lnTo>
                    <a:pt x="17" y="4278"/>
                  </a:lnTo>
                  <a:lnTo>
                    <a:pt x="33" y="4232"/>
                  </a:lnTo>
                  <a:lnTo>
                    <a:pt x="46" y="4183"/>
                  </a:lnTo>
                  <a:lnTo>
                    <a:pt x="60" y="4131"/>
                  </a:lnTo>
                  <a:lnTo>
                    <a:pt x="75" y="4075"/>
                  </a:lnTo>
                  <a:lnTo>
                    <a:pt x="90" y="4019"/>
                  </a:lnTo>
                  <a:lnTo>
                    <a:pt x="109" y="3964"/>
                  </a:lnTo>
                  <a:lnTo>
                    <a:pt x="129" y="3909"/>
                  </a:lnTo>
                  <a:lnTo>
                    <a:pt x="156" y="3855"/>
                  </a:lnTo>
                  <a:lnTo>
                    <a:pt x="186" y="3804"/>
                  </a:lnTo>
                  <a:lnTo>
                    <a:pt x="222" y="3756"/>
                  </a:lnTo>
                  <a:lnTo>
                    <a:pt x="261" y="3713"/>
                  </a:lnTo>
                  <a:lnTo>
                    <a:pt x="303" y="3672"/>
                  </a:lnTo>
                  <a:lnTo>
                    <a:pt x="348" y="3634"/>
                  </a:lnTo>
                  <a:lnTo>
                    <a:pt x="392" y="3599"/>
                  </a:lnTo>
                  <a:lnTo>
                    <a:pt x="438" y="3565"/>
                  </a:lnTo>
                  <a:lnTo>
                    <a:pt x="482" y="3531"/>
                  </a:lnTo>
                  <a:lnTo>
                    <a:pt x="523" y="3499"/>
                  </a:lnTo>
                  <a:lnTo>
                    <a:pt x="561" y="3466"/>
                  </a:lnTo>
                  <a:lnTo>
                    <a:pt x="594" y="3434"/>
                  </a:lnTo>
                  <a:lnTo>
                    <a:pt x="620" y="3400"/>
                  </a:lnTo>
                  <a:lnTo>
                    <a:pt x="638" y="3367"/>
                  </a:lnTo>
                  <a:lnTo>
                    <a:pt x="647" y="3336"/>
                  </a:lnTo>
                  <a:lnTo>
                    <a:pt x="652" y="3302"/>
                  </a:lnTo>
                  <a:lnTo>
                    <a:pt x="654" y="3265"/>
                  </a:lnTo>
                  <a:lnTo>
                    <a:pt x="651" y="3224"/>
                  </a:lnTo>
                  <a:lnTo>
                    <a:pt x="647" y="3181"/>
                  </a:lnTo>
                  <a:lnTo>
                    <a:pt x="642" y="3137"/>
                  </a:lnTo>
                  <a:lnTo>
                    <a:pt x="637" y="3091"/>
                  </a:lnTo>
                  <a:lnTo>
                    <a:pt x="626" y="3021"/>
                  </a:lnTo>
                  <a:lnTo>
                    <a:pt x="620" y="2952"/>
                  </a:lnTo>
                  <a:lnTo>
                    <a:pt x="616" y="2881"/>
                  </a:lnTo>
                  <a:lnTo>
                    <a:pt x="618" y="2809"/>
                  </a:lnTo>
                  <a:lnTo>
                    <a:pt x="628" y="2737"/>
                  </a:lnTo>
                  <a:lnTo>
                    <a:pt x="642" y="2681"/>
                  </a:lnTo>
                  <a:lnTo>
                    <a:pt x="661" y="2626"/>
                  </a:lnTo>
                  <a:lnTo>
                    <a:pt x="685" y="2574"/>
                  </a:lnTo>
                  <a:lnTo>
                    <a:pt x="711" y="2521"/>
                  </a:lnTo>
                  <a:lnTo>
                    <a:pt x="739" y="2472"/>
                  </a:lnTo>
                  <a:lnTo>
                    <a:pt x="767" y="2423"/>
                  </a:lnTo>
                  <a:lnTo>
                    <a:pt x="791" y="2381"/>
                  </a:lnTo>
                  <a:lnTo>
                    <a:pt x="813" y="2342"/>
                  </a:lnTo>
                  <a:lnTo>
                    <a:pt x="834" y="2303"/>
                  </a:lnTo>
                  <a:lnTo>
                    <a:pt x="851" y="2265"/>
                  </a:lnTo>
                  <a:lnTo>
                    <a:pt x="864" y="2228"/>
                  </a:lnTo>
                  <a:lnTo>
                    <a:pt x="873" y="2194"/>
                  </a:lnTo>
                  <a:lnTo>
                    <a:pt x="876" y="2160"/>
                  </a:lnTo>
                  <a:lnTo>
                    <a:pt x="873" y="2126"/>
                  </a:lnTo>
                  <a:lnTo>
                    <a:pt x="864" y="2092"/>
                  </a:lnTo>
                  <a:lnTo>
                    <a:pt x="851" y="2055"/>
                  </a:lnTo>
                  <a:lnTo>
                    <a:pt x="834" y="2017"/>
                  </a:lnTo>
                  <a:lnTo>
                    <a:pt x="813" y="1978"/>
                  </a:lnTo>
                  <a:lnTo>
                    <a:pt x="791" y="1939"/>
                  </a:lnTo>
                  <a:lnTo>
                    <a:pt x="767" y="1897"/>
                  </a:lnTo>
                  <a:lnTo>
                    <a:pt x="739" y="1848"/>
                  </a:lnTo>
                  <a:lnTo>
                    <a:pt x="711" y="1799"/>
                  </a:lnTo>
                  <a:lnTo>
                    <a:pt x="685" y="1746"/>
                  </a:lnTo>
                  <a:lnTo>
                    <a:pt x="661" y="1694"/>
                  </a:lnTo>
                  <a:lnTo>
                    <a:pt x="642" y="1639"/>
                  </a:lnTo>
                  <a:lnTo>
                    <a:pt x="628" y="1583"/>
                  </a:lnTo>
                  <a:lnTo>
                    <a:pt x="618" y="1511"/>
                  </a:lnTo>
                  <a:lnTo>
                    <a:pt x="616" y="1439"/>
                  </a:lnTo>
                  <a:lnTo>
                    <a:pt x="620" y="1368"/>
                  </a:lnTo>
                  <a:lnTo>
                    <a:pt x="626" y="1299"/>
                  </a:lnTo>
                  <a:lnTo>
                    <a:pt x="637" y="1229"/>
                  </a:lnTo>
                  <a:lnTo>
                    <a:pt x="642" y="1183"/>
                  </a:lnTo>
                  <a:lnTo>
                    <a:pt x="647" y="1139"/>
                  </a:lnTo>
                  <a:lnTo>
                    <a:pt x="651" y="1096"/>
                  </a:lnTo>
                  <a:lnTo>
                    <a:pt x="654" y="1055"/>
                  </a:lnTo>
                  <a:lnTo>
                    <a:pt x="652" y="1018"/>
                  </a:lnTo>
                  <a:lnTo>
                    <a:pt x="647" y="984"/>
                  </a:lnTo>
                  <a:lnTo>
                    <a:pt x="638" y="953"/>
                  </a:lnTo>
                  <a:lnTo>
                    <a:pt x="620" y="920"/>
                  </a:lnTo>
                  <a:lnTo>
                    <a:pt x="594" y="886"/>
                  </a:lnTo>
                  <a:lnTo>
                    <a:pt x="561" y="854"/>
                  </a:lnTo>
                  <a:lnTo>
                    <a:pt x="523" y="822"/>
                  </a:lnTo>
                  <a:lnTo>
                    <a:pt x="482" y="789"/>
                  </a:lnTo>
                  <a:lnTo>
                    <a:pt x="438" y="755"/>
                  </a:lnTo>
                  <a:lnTo>
                    <a:pt x="392" y="721"/>
                  </a:lnTo>
                  <a:lnTo>
                    <a:pt x="348" y="686"/>
                  </a:lnTo>
                  <a:lnTo>
                    <a:pt x="303" y="648"/>
                  </a:lnTo>
                  <a:lnTo>
                    <a:pt x="261" y="607"/>
                  </a:lnTo>
                  <a:lnTo>
                    <a:pt x="222" y="564"/>
                  </a:lnTo>
                  <a:lnTo>
                    <a:pt x="186" y="516"/>
                  </a:lnTo>
                  <a:lnTo>
                    <a:pt x="156" y="465"/>
                  </a:lnTo>
                  <a:lnTo>
                    <a:pt x="129" y="411"/>
                  </a:lnTo>
                  <a:lnTo>
                    <a:pt x="109" y="356"/>
                  </a:lnTo>
                  <a:lnTo>
                    <a:pt x="90" y="301"/>
                  </a:lnTo>
                  <a:lnTo>
                    <a:pt x="75" y="245"/>
                  </a:lnTo>
                  <a:lnTo>
                    <a:pt x="60" y="189"/>
                  </a:lnTo>
                  <a:lnTo>
                    <a:pt x="46" y="137"/>
                  </a:lnTo>
                  <a:lnTo>
                    <a:pt x="33" y="88"/>
                  </a:lnTo>
                  <a:lnTo>
                    <a:pt x="17" y="42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74645460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2286000"/>
            <a:ext cx="4800600" cy="36195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47796" y="2286000"/>
            <a:ext cx="4800600" cy="36195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7FFD6-0D80-574C-8DB8-5DC82B70FEA2}" type="datetimeFigureOut">
              <a:rPr lang="en-US" smtClean="0"/>
              <a:t>1/12/26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356F2-F5AE-7C4C-9B4D-A0A0BAFB33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440328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2728" y="381000"/>
            <a:ext cx="10172700" cy="14935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7300" y="2909102"/>
            <a:ext cx="4800600" cy="299639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33864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33864" y="2909102"/>
            <a:ext cx="4800600" cy="299639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7FFD6-0D80-574C-8DB8-5DC82B70FEA2}" type="datetimeFigureOut">
              <a:rPr lang="en-US" smtClean="0"/>
              <a:t>1/12/26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356F2-F5AE-7C4C-9B4D-A0A0BAFB33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1145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7FFD6-0D80-574C-8DB8-5DC82B70FEA2}" type="datetimeFigureOut">
              <a:rPr lang="en-US" smtClean="0"/>
              <a:t>1/12/26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356F2-F5AE-7C4C-9B4D-A0A0BAFB33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05523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7FFD6-0D80-574C-8DB8-5DC82B70FEA2}" type="datetimeFigureOut">
              <a:rPr lang="en-US" smtClean="0"/>
              <a:t>1/12/26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356F2-F5AE-7C4C-9B4D-A0A0BAFB33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94004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4" y="457199"/>
            <a:ext cx="3092115" cy="1196671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cap="all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051" y="920377"/>
            <a:ext cx="6158418" cy="498512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5" y="1741336"/>
            <a:ext cx="3092115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051" y="6375679"/>
            <a:ext cx="1233355" cy="348462"/>
          </a:xfrm>
        </p:spPr>
        <p:txBody>
          <a:bodyPr/>
          <a:lstStyle/>
          <a:p>
            <a:fld id="{F0A7FFD6-0D80-574C-8DB8-5DC82B70FEA2}" type="datetimeFigureOut">
              <a:rPr lang="en-US" smtClean="0"/>
              <a:t>1/12/26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0" y="6375679"/>
            <a:ext cx="3482179" cy="345796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91014" y="6375679"/>
            <a:ext cx="1232456" cy="345796"/>
          </a:xfrm>
        </p:spPr>
        <p:txBody>
          <a:bodyPr/>
          <a:lstStyle/>
          <a:p>
            <a:fld id="{C19356F2-F5AE-7C4C-9B4D-A0A0BAFB337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6622337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6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83464" y="0"/>
            <a:ext cx="7355585" cy="6857999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1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12" name="Rectangle 11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3" y="457200"/>
            <a:ext cx="3092117" cy="1196670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3" y="1741336"/>
            <a:ext cx="3092117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950" y="6375679"/>
            <a:ext cx="1232456" cy="348462"/>
          </a:xfrm>
        </p:spPr>
        <p:txBody>
          <a:bodyPr/>
          <a:lstStyle/>
          <a:p>
            <a:fld id="{F0A7FFD6-0D80-574C-8DB8-5DC82B70FEA2}" type="datetimeFigureOut">
              <a:rPr lang="en-US" smtClean="0"/>
              <a:t>1/12/26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1" y="6375679"/>
            <a:ext cx="3482178" cy="345796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87568" y="6375679"/>
            <a:ext cx="1234440" cy="345796"/>
          </a:xfrm>
        </p:spPr>
        <p:txBody>
          <a:bodyPr/>
          <a:lstStyle/>
          <a:p>
            <a:fld id="{C19356F2-F5AE-7C4C-9B4D-A0A0BAFB33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37898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7FFD6-0D80-574C-8DB8-5DC82B70FEA2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356F2-F5AE-7C4C-9B4D-A0A0BAFB33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84962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066321" y="382386"/>
            <a:ext cx="1492132" cy="560040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0" y="382385"/>
            <a:ext cx="8392585" cy="560040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7FFD6-0D80-574C-8DB8-5DC82B70FEA2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356F2-F5AE-7C4C-9B4D-A0A0BAFB33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2887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1678" y="382385"/>
            <a:ext cx="10178322" cy="149213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286001"/>
            <a:ext cx="10178322" cy="35935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1678" y="6375679"/>
            <a:ext cx="2329722" cy="3484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F0A7FFD6-0D80-574C-8DB8-5DC82B70FEA2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75679"/>
            <a:ext cx="4114800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1" y="6375679"/>
            <a:ext cx="2819399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C19356F2-F5AE-7C4C-9B4D-A0A0BAFB3379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Freeform 6" title="Left scallop edge"/>
          <p:cNvSpPr/>
          <p:nvPr/>
        </p:nvSpPr>
        <p:spPr bwMode="auto">
          <a:xfrm>
            <a:off x="0" y="0"/>
            <a:ext cx="885825" cy="6858000"/>
          </a:xfrm>
          <a:custGeom>
            <a:avLst/>
            <a:gdLst/>
            <a:ahLst/>
            <a:cxnLst/>
            <a:rect l="0" t="0" r="r" b="b"/>
            <a:pathLst>
              <a:path w="558" h="4320">
                <a:moveTo>
                  <a:pt x="0" y="0"/>
                </a:moveTo>
                <a:lnTo>
                  <a:pt x="447" y="0"/>
                </a:lnTo>
                <a:lnTo>
                  <a:pt x="448" y="43"/>
                </a:lnTo>
                <a:lnTo>
                  <a:pt x="453" y="81"/>
                </a:lnTo>
                <a:lnTo>
                  <a:pt x="460" y="114"/>
                </a:lnTo>
                <a:lnTo>
                  <a:pt x="469" y="143"/>
                </a:lnTo>
                <a:lnTo>
                  <a:pt x="479" y="169"/>
                </a:lnTo>
                <a:lnTo>
                  <a:pt x="491" y="192"/>
                </a:lnTo>
                <a:lnTo>
                  <a:pt x="503" y="216"/>
                </a:lnTo>
                <a:lnTo>
                  <a:pt x="515" y="240"/>
                </a:lnTo>
                <a:lnTo>
                  <a:pt x="525" y="263"/>
                </a:lnTo>
                <a:lnTo>
                  <a:pt x="535" y="289"/>
                </a:lnTo>
                <a:lnTo>
                  <a:pt x="545" y="318"/>
                </a:lnTo>
                <a:lnTo>
                  <a:pt x="552" y="351"/>
                </a:lnTo>
                <a:lnTo>
                  <a:pt x="556" y="389"/>
                </a:lnTo>
                <a:lnTo>
                  <a:pt x="558" y="432"/>
                </a:lnTo>
                <a:lnTo>
                  <a:pt x="556" y="475"/>
                </a:lnTo>
                <a:lnTo>
                  <a:pt x="552" y="513"/>
                </a:lnTo>
                <a:lnTo>
                  <a:pt x="545" y="546"/>
                </a:lnTo>
                <a:lnTo>
                  <a:pt x="535" y="575"/>
                </a:lnTo>
                <a:lnTo>
                  <a:pt x="525" y="601"/>
                </a:lnTo>
                <a:lnTo>
                  <a:pt x="515" y="624"/>
                </a:lnTo>
                <a:lnTo>
                  <a:pt x="503" y="648"/>
                </a:lnTo>
                <a:lnTo>
                  <a:pt x="491" y="672"/>
                </a:lnTo>
                <a:lnTo>
                  <a:pt x="479" y="695"/>
                </a:lnTo>
                <a:lnTo>
                  <a:pt x="469" y="721"/>
                </a:lnTo>
                <a:lnTo>
                  <a:pt x="460" y="750"/>
                </a:lnTo>
                <a:lnTo>
                  <a:pt x="453" y="783"/>
                </a:lnTo>
                <a:lnTo>
                  <a:pt x="448" y="821"/>
                </a:lnTo>
                <a:lnTo>
                  <a:pt x="447" y="864"/>
                </a:lnTo>
                <a:lnTo>
                  <a:pt x="448" y="907"/>
                </a:lnTo>
                <a:lnTo>
                  <a:pt x="453" y="945"/>
                </a:lnTo>
                <a:lnTo>
                  <a:pt x="460" y="978"/>
                </a:lnTo>
                <a:lnTo>
                  <a:pt x="469" y="1007"/>
                </a:lnTo>
                <a:lnTo>
                  <a:pt x="479" y="1033"/>
                </a:lnTo>
                <a:lnTo>
                  <a:pt x="491" y="1056"/>
                </a:lnTo>
                <a:lnTo>
                  <a:pt x="503" y="1080"/>
                </a:lnTo>
                <a:lnTo>
                  <a:pt x="515" y="1104"/>
                </a:lnTo>
                <a:lnTo>
                  <a:pt x="525" y="1127"/>
                </a:lnTo>
                <a:lnTo>
                  <a:pt x="535" y="1153"/>
                </a:lnTo>
                <a:lnTo>
                  <a:pt x="545" y="1182"/>
                </a:lnTo>
                <a:lnTo>
                  <a:pt x="552" y="1215"/>
                </a:lnTo>
                <a:lnTo>
                  <a:pt x="556" y="1253"/>
                </a:lnTo>
                <a:lnTo>
                  <a:pt x="558" y="1296"/>
                </a:lnTo>
                <a:lnTo>
                  <a:pt x="556" y="1339"/>
                </a:lnTo>
                <a:lnTo>
                  <a:pt x="552" y="1377"/>
                </a:lnTo>
                <a:lnTo>
                  <a:pt x="545" y="1410"/>
                </a:lnTo>
                <a:lnTo>
                  <a:pt x="535" y="1439"/>
                </a:lnTo>
                <a:lnTo>
                  <a:pt x="525" y="1465"/>
                </a:lnTo>
                <a:lnTo>
                  <a:pt x="515" y="1488"/>
                </a:lnTo>
                <a:lnTo>
                  <a:pt x="503" y="1512"/>
                </a:lnTo>
                <a:lnTo>
                  <a:pt x="491" y="1536"/>
                </a:lnTo>
                <a:lnTo>
                  <a:pt x="479" y="1559"/>
                </a:lnTo>
                <a:lnTo>
                  <a:pt x="469" y="1585"/>
                </a:lnTo>
                <a:lnTo>
                  <a:pt x="460" y="1614"/>
                </a:lnTo>
                <a:lnTo>
                  <a:pt x="453" y="1647"/>
                </a:lnTo>
                <a:lnTo>
                  <a:pt x="448" y="1685"/>
                </a:lnTo>
                <a:lnTo>
                  <a:pt x="447" y="1728"/>
                </a:lnTo>
                <a:lnTo>
                  <a:pt x="448" y="1771"/>
                </a:lnTo>
                <a:lnTo>
                  <a:pt x="453" y="1809"/>
                </a:lnTo>
                <a:lnTo>
                  <a:pt x="460" y="1842"/>
                </a:lnTo>
                <a:lnTo>
                  <a:pt x="469" y="1871"/>
                </a:lnTo>
                <a:lnTo>
                  <a:pt x="479" y="1897"/>
                </a:lnTo>
                <a:lnTo>
                  <a:pt x="491" y="1920"/>
                </a:lnTo>
                <a:lnTo>
                  <a:pt x="503" y="1944"/>
                </a:lnTo>
                <a:lnTo>
                  <a:pt x="515" y="1968"/>
                </a:lnTo>
                <a:lnTo>
                  <a:pt x="525" y="1991"/>
                </a:lnTo>
                <a:lnTo>
                  <a:pt x="535" y="2017"/>
                </a:lnTo>
                <a:lnTo>
                  <a:pt x="545" y="2046"/>
                </a:lnTo>
                <a:lnTo>
                  <a:pt x="552" y="2079"/>
                </a:lnTo>
                <a:lnTo>
                  <a:pt x="556" y="2117"/>
                </a:lnTo>
                <a:lnTo>
                  <a:pt x="558" y="2159"/>
                </a:lnTo>
                <a:lnTo>
                  <a:pt x="556" y="2203"/>
                </a:lnTo>
                <a:lnTo>
                  <a:pt x="552" y="2241"/>
                </a:lnTo>
                <a:lnTo>
                  <a:pt x="545" y="2274"/>
                </a:lnTo>
                <a:lnTo>
                  <a:pt x="535" y="2303"/>
                </a:lnTo>
                <a:lnTo>
                  <a:pt x="525" y="2329"/>
                </a:lnTo>
                <a:lnTo>
                  <a:pt x="515" y="2352"/>
                </a:lnTo>
                <a:lnTo>
                  <a:pt x="503" y="2376"/>
                </a:lnTo>
                <a:lnTo>
                  <a:pt x="491" y="2400"/>
                </a:lnTo>
                <a:lnTo>
                  <a:pt x="479" y="2423"/>
                </a:lnTo>
                <a:lnTo>
                  <a:pt x="469" y="2449"/>
                </a:lnTo>
                <a:lnTo>
                  <a:pt x="460" y="2478"/>
                </a:lnTo>
                <a:lnTo>
                  <a:pt x="453" y="2511"/>
                </a:lnTo>
                <a:lnTo>
                  <a:pt x="448" y="2549"/>
                </a:lnTo>
                <a:lnTo>
                  <a:pt x="447" y="2592"/>
                </a:lnTo>
                <a:lnTo>
                  <a:pt x="448" y="2635"/>
                </a:lnTo>
                <a:lnTo>
                  <a:pt x="453" y="2673"/>
                </a:lnTo>
                <a:lnTo>
                  <a:pt x="460" y="2706"/>
                </a:lnTo>
                <a:lnTo>
                  <a:pt x="469" y="2735"/>
                </a:lnTo>
                <a:lnTo>
                  <a:pt x="479" y="2761"/>
                </a:lnTo>
                <a:lnTo>
                  <a:pt x="491" y="2784"/>
                </a:lnTo>
                <a:lnTo>
                  <a:pt x="515" y="2832"/>
                </a:lnTo>
                <a:lnTo>
                  <a:pt x="525" y="2855"/>
                </a:lnTo>
                <a:lnTo>
                  <a:pt x="535" y="2881"/>
                </a:lnTo>
                <a:lnTo>
                  <a:pt x="545" y="2910"/>
                </a:lnTo>
                <a:lnTo>
                  <a:pt x="552" y="2943"/>
                </a:lnTo>
                <a:lnTo>
                  <a:pt x="556" y="2981"/>
                </a:lnTo>
                <a:lnTo>
                  <a:pt x="558" y="3024"/>
                </a:lnTo>
                <a:lnTo>
                  <a:pt x="556" y="3067"/>
                </a:lnTo>
                <a:lnTo>
                  <a:pt x="552" y="3105"/>
                </a:lnTo>
                <a:lnTo>
                  <a:pt x="545" y="3138"/>
                </a:lnTo>
                <a:lnTo>
                  <a:pt x="535" y="3167"/>
                </a:lnTo>
                <a:lnTo>
                  <a:pt x="525" y="3193"/>
                </a:lnTo>
                <a:lnTo>
                  <a:pt x="515" y="3216"/>
                </a:lnTo>
                <a:lnTo>
                  <a:pt x="503" y="3240"/>
                </a:lnTo>
                <a:lnTo>
                  <a:pt x="491" y="3264"/>
                </a:lnTo>
                <a:lnTo>
                  <a:pt x="479" y="3287"/>
                </a:lnTo>
                <a:lnTo>
                  <a:pt x="469" y="3313"/>
                </a:lnTo>
                <a:lnTo>
                  <a:pt x="460" y="3342"/>
                </a:lnTo>
                <a:lnTo>
                  <a:pt x="453" y="3375"/>
                </a:lnTo>
                <a:lnTo>
                  <a:pt x="448" y="3413"/>
                </a:lnTo>
                <a:lnTo>
                  <a:pt x="447" y="3456"/>
                </a:lnTo>
                <a:lnTo>
                  <a:pt x="448" y="3499"/>
                </a:lnTo>
                <a:lnTo>
                  <a:pt x="453" y="3537"/>
                </a:lnTo>
                <a:lnTo>
                  <a:pt x="460" y="3570"/>
                </a:lnTo>
                <a:lnTo>
                  <a:pt x="469" y="3599"/>
                </a:lnTo>
                <a:lnTo>
                  <a:pt x="479" y="3625"/>
                </a:lnTo>
                <a:lnTo>
                  <a:pt x="491" y="3648"/>
                </a:lnTo>
                <a:lnTo>
                  <a:pt x="503" y="3672"/>
                </a:lnTo>
                <a:lnTo>
                  <a:pt x="515" y="3696"/>
                </a:lnTo>
                <a:lnTo>
                  <a:pt x="525" y="3719"/>
                </a:lnTo>
                <a:lnTo>
                  <a:pt x="535" y="3745"/>
                </a:lnTo>
                <a:lnTo>
                  <a:pt x="545" y="3774"/>
                </a:lnTo>
                <a:lnTo>
                  <a:pt x="552" y="3807"/>
                </a:lnTo>
                <a:lnTo>
                  <a:pt x="556" y="3845"/>
                </a:lnTo>
                <a:lnTo>
                  <a:pt x="558" y="3888"/>
                </a:lnTo>
                <a:lnTo>
                  <a:pt x="556" y="3931"/>
                </a:lnTo>
                <a:lnTo>
                  <a:pt x="552" y="3969"/>
                </a:lnTo>
                <a:lnTo>
                  <a:pt x="545" y="4002"/>
                </a:lnTo>
                <a:lnTo>
                  <a:pt x="535" y="4031"/>
                </a:lnTo>
                <a:lnTo>
                  <a:pt x="525" y="4057"/>
                </a:lnTo>
                <a:lnTo>
                  <a:pt x="515" y="4080"/>
                </a:lnTo>
                <a:lnTo>
                  <a:pt x="503" y="4104"/>
                </a:lnTo>
                <a:lnTo>
                  <a:pt x="491" y="4128"/>
                </a:lnTo>
                <a:lnTo>
                  <a:pt x="479" y="4151"/>
                </a:lnTo>
                <a:lnTo>
                  <a:pt x="469" y="4177"/>
                </a:lnTo>
                <a:lnTo>
                  <a:pt x="460" y="4206"/>
                </a:lnTo>
                <a:lnTo>
                  <a:pt x="453" y="4239"/>
                </a:lnTo>
                <a:lnTo>
                  <a:pt x="448" y="4277"/>
                </a:lnTo>
                <a:lnTo>
                  <a:pt x="447" y="4320"/>
                </a:lnTo>
                <a:lnTo>
                  <a:pt x="0" y="4320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 title="right edge border"/>
          <p:cNvSpPr/>
          <p:nvPr/>
        </p:nvSpPr>
        <p:spPr>
          <a:xfrm>
            <a:off x="11908536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91921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100" kern="1200" cap="all" spc="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792">
          <p15:clr>
            <a:srgbClr val="F26B43"/>
          </p15:clr>
        </p15:guide>
        <p15:guide id="2" pos="7200">
          <p15:clr>
            <a:srgbClr val="F26B43"/>
          </p15:clr>
        </p15:guide>
        <p15:guide id="3" orient="horz" pos="4008">
          <p15:clr>
            <a:srgbClr val="F26B43"/>
          </p15:clr>
        </p15:guide>
        <p15:guide id="4" orient="horz" pos="1440">
          <p15:clr>
            <a:srgbClr val="F26B43"/>
          </p15:clr>
        </p15:guide>
        <p15:guide id="5" orient="horz" pos="3720">
          <p15:clr>
            <a:srgbClr val="F26B43"/>
          </p15:clr>
        </p15:guide>
        <p15:guide id="6" orient="horz" pos="2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slideLayout" Target="../slideLayouts/slideLayout7.xml"/><Relationship Id="rId1" Type="http://schemas.openxmlformats.org/officeDocument/2006/relationships/video" Target="https://www.youtube.com/embed/guDoo-tmffQ?feature=oembed" TargetMode="Externa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12CBF-99C1-4AC9-4F18-80B4280B3B6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Introduction to Causal Inference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C9B722-24AD-C1D0-B80F-7944BE134AB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Prof. Sebastián Vallejo Vera</a:t>
            </a:r>
          </a:p>
        </p:txBody>
      </p:sp>
    </p:spTree>
    <p:extLst>
      <p:ext uri="{BB962C8B-B14F-4D97-AF65-F5344CB8AC3E}">
        <p14:creationId xmlns:p14="http://schemas.microsoft.com/office/powerpoint/2010/main" val="4106741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6119FC-238C-181A-17E6-1040684C6A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causality?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33A8BD-70E0-DCD3-E561-286EB77CEA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 of the questions of interest for us (i.e., social scientists) are causal.</a:t>
            </a:r>
          </a:p>
          <a:p>
            <a:pPr lvl="1"/>
            <a:r>
              <a:rPr lang="en-US" dirty="0"/>
              <a:t>There are some questions that are not causal and are interesting nonetheless (e.g., normative questions). </a:t>
            </a:r>
          </a:p>
          <a:p>
            <a:r>
              <a:rPr lang="en-US" dirty="0"/>
              <a:t>Social scientists strive to establish causal relationships, that is, evaluate how changes in a variable of interest (X) affects the values in another variable (Y). </a:t>
            </a:r>
          </a:p>
        </p:txBody>
      </p:sp>
    </p:spTree>
    <p:extLst>
      <p:ext uri="{BB962C8B-B14F-4D97-AF65-F5344CB8AC3E}">
        <p14:creationId xmlns:p14="http://schemas.microsoft.com/office/powerpoint/2010/main" val="2358434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1E982FE-0F2B-E14C-84D2-F9DF63F0CFA2}"/>
              </a:ext>
            </a:extLst>
          </p:cNvPr>
          <p:cNvSpPr txBox="1"/>
          <p:nvPr/>
        </p:nvSpPr>
        <p:spPr>
          <a:xfrm>
            <a:off x="3218329" y="3836171"/>
            <a:ext cx="32272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9600" dirty="0"/>
              <a:t>X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AADB32-4921-C148-AAC6-BBE8FCAC701E}"/>
              </a:ext>
            </a:extLst>
          </p:cNvPr>
          <p:cNvSpPr txBox="1"/>
          <p:nvPr/>
        </p:nvSpPr>
        <p:spPr>
          <a:xfrm>
            <a:off x="8108577" y="3836171"/>
            <a:ext cx="76199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9600" dirty="0"/>
              <a:t>Y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F217D0F-20FF-D549-AA8F-DCBE453632A4}"/>
              </a:ext>
            </a:extLst>
          </p:cNvPr>
          <p:cNvCxnSpPr/>
          <p:nvPr/>
        </p:nvCxnSpPr>
        <p:spPr>
          <a:xfrm>
            <a:off x="4649096" y="4621001"/>
            <a:ext cx="2893807" cy="0"/>
          </a:xfrm>
          <a:prstGeom prst="straightConnector1">
            <a:avLst/>
          </a:prstGeom>
          <a:ln w="571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4E92D84B-8B0D-7E6E-7C25-E1D5E467BDD5}"/>
              </a:ext>
            </a:extLst>
          </p:cNvPr>
          <p:cNvSpPr txBox="1"/>
          <p:nvPr/>
        </p:nvSpPr>
        <p:spPr>
          <a:xfrm>
            <a:off x="3106808" y="1165663"/>
            <a:ext cx="1101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Education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CE4A1B-AD02-1EB7-9849-59841592A32E}"/>
              </a:ext>
            </a:extLst>
          </p:cNvPr>
          <p:cNvSpPr txBox="1"/>
          <p:nvPr/>
        </p:nvSpPr>
        <p:spPr>
          <a:xfrm>
            <a:off x="3009922" y="1774927"/>
            <a:ext cx="12953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Partisanship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742A3E1-2CA4-6905-3CFB-AE64190504A2}"/>
              </a:ext>
            </a:extLst>
          </p:cNvPr>
          <p:cNvSpPr txBox="1"/>
          <p:nvPr/>
        </p:nvSpPr>
        <p:spPr>
          <a:xfrm>
            <a:off x="3020245" y="2384191"/>
            <a:ext cx="12747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Small Loans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E1C1524-3F63-545D-5E0A-2CEB83E69464}"/>
              </a:ext>
            </a:extLst>
          </p:cNvPr>
          <p:cNvSpPr txBox="1"/>
          <p:nvPr/>
        </p:nvSpPr>
        <p:spPr>
          <a:xfrm>
            <a:off x="8052597" y="1220929"/>
            <a:ext cx="8739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Income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37030A6-EEE9-3CD9-A89E-495A963A5E02}"/>
              </a:ext>
            </a:extLst>
          </p:cNvPr>
          <p:cNvSpPr txBox="1"/>
          <p:nvPr/>
        </p:nvSpPr>
        <p:spPr>
          <a:xfrm>
            <a:off x="7834273" y="1774927"/>
            <a:ext cx="13478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Vote Choice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2B54A91-DC66-FA3C-3658-4D7EE4D2A8C3}"/>
              </a:ext>
            </a:extLst>
          </p:cNvPr>
          <p:cNvSpPr txBox="1"/>
          <p:nvPr/>
        </p:nvSpPr>
        <p:spPr>
          <a:xfrm>
            <a:off x="8038970" y="2384191"/>
            <a:ext cx="9012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Poverty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20B5420-CB8A-5B72-D24C-B6E7723418FF}"/>
              </a:ext>
            </a:extLst>
          </p:cNvPr>
          <p:cNvCxnSpPr/>
          <p:nvPr/>
        </p:nvCxnSpPr>
        <p:spPr>
          <a:xfrm>
            <a:off x="4649095" y="1434718"/>
            <a:ext cx="2893807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4171A20-0FB8-CCE1-922C-3B5BC8C0C151}"/>
              </a:ext>
            </a:extLst>
          </p:cNvPr>
          <p:cNvCxnSpPr/>
          <p:nvPr/>
        </p:nvCxnSpPr>
        <p:spPr>
          <a:xfrm>
            <a:off x="4649094" y="1959593"/>
            <a:ext cx="2893807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7A2E3AD-56DD-45BB-1FEA-173B035F1563}"/>
              </a:ext>
            </a:extLst>
          </p:cNvPr>
          <p:cNvCxnSpPr/>
          <p:nvPr/>
        </p:nvCxnSpPr>
        <p:spPr>
          <a:xfrm>
            <a:off x="4649095" y="2568857"/>
            <a:ext cx="2893807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01464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8D55138-6F6C-A828-763C-54ADCD664D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5E6AD59-540B-49D6-0202-D86A1D5F42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are not interested in a mere statistical association between two variable through a correlation analysis. </a:t>
            </a:r>
          </a:p>
          <a:p>
            <a:r>
              <a:rPr lang="en-US" dirty="0"/>
              <a:t>We want to show—within previously agreed margins of uncertainty—that changes in one variable </a:t>
            </a:r>
            <a:r>
              <a:rPr lang="en-US" i="1" dirty="0"/>
              <a:t>cause</a:t>
            </a:r>
            <a:r>
              <a:rPr lang="en-US" dirty="0"/>
              <a:t> change in another.</a:t>
            </a:r>
          </a:p>
          <a:p>
            <a:pPr lvl="1"/>
            <a:r>
              <a:rPr lang="en-US" dirty="0"/>
              <a:t>And then use our comparative advantage as social scientist to tell convincing stories about society and power. </a:t>
            </a:r>
          </a:p>
        </p:txBody>
      </p:sp>
    </p:spTree>
    <p:extLst>
      <p:ext uri="{BB962C8B-B14F-4D97-AF65-F5344CB8AC3E}">
        <p14:creationId xmlns:p14="http://schemas.microsoft.com/office/powerpoint/2010/main" val="4751276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E490C8-0323-65D7-BCE1-1930B61D12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causal inference?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6E6E44-5DF5-84BB-71FE-C8B4DF8D38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39382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E490C8-0323-65D7-BCE1-1930B61D12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</a:t>
            </a:r>
            <a:r>
              <a:rPr lang="en-US" dirty="0">
                <a:highlight>
                  <a:srgbClr val="FFFF00"/>
                </a:highlight>
              </a:rPr>
              <a:t>causal</a:t>
            </a:r>
            <a:r>
              <a:rPr lang="en-US" dirty="0"/>
              <a:t> inference?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6E6E44-5DF5-84BB-71FE-C8B4DF8D38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”causal” component refers to establishing cause-to-effect relationships of the type X→Y (where X is the cause—independent/explanatory variable—and Y the effect—dependent/outcome variable);</a:t>
            </a:r>
          </a:p>
        </p:txBody>
      </p:sp>
    </p:spTree>
    <p:extLst>
      <p:ext uri="{BB962C8B-B14F-4D97-AF65-F5344CB8AC3E}">
        <p14:creationId xmlns:p14="http://schemas.microsoft.com/office/powerpoint/2010/main" val="38929299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E490C8-0323-65D7-BCE1-1930B61D12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causal </a:t>
            </a:r>
            <a:r>
              <a:rPr lang="en-US" dirty="0">
                <a:highlight>
                  <a:srgbClr val="FFFF00"/>
                </a:highlight>
              </a:rPr>
              <a:t>inference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6E6E44-5DF5-84BB-71FE-C8B4DF8D38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”causal” component refers to establishing cause-to-effect relationships of the type X→Y (where X is the cause—independent/explanatory variable—and Y the effect—dependent/outcome variable);</a:t>
            </a:r>
          </a:p>
          <a:p>
            <a:r>
              <a:rPr lang="en-US" dirty="0"/>
              <a:t>The ”inference” component refers to forming judgments about the reliability of statistical relationships in a population on the basis of random sampling.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89272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E490C8-0323-65D7-BCE1-1930B61D12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</a:t>
            </a:r>
            <a:r>
              <a:rPr lang="en-US" dirty="0">
                <a:highlight>
                  <a:srgbClr val="FFFF00"/>
                </a:highlight>
              </a:rPr>
              <a:t>causal inference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6E6E44-5DF5-84BB-71FE-C8B4DF8D38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Thus, </a:t>
            </a:r>
            <a:r>
              <a:rPr lang="en-US" dirty="0">
                <a:highlight>
                  <a:srgbClr val="FFFF00"/>
                </a:highlight>
              </a:rPr>
              <a:t>causal inference </a:t>
            </a:r>
            <a:r>
              <a:rPr lang="en-US" dirty="0"/>
              <a:t>refers to the process of </a:t>
            </a:r>
            <a:r>
              <a:rPr lang="en-US" dirty="0">
                <a:solidFill>
                  <a:schemeClr val="accent1"/>
                </a:solidFill>
              </a:rPr>
              <a:t>drawing a conclusion </a:t>
            </a:r>
            <a:r>
              <a:rPr lang="en-US" dirty="0"/>
              <a:t>about the response of the effect variable (Y) when the values of the causal variable (X) is changed in a population on the basis of a random sample from that population.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6986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776C8-B237-1BC9-868A-F04CF28DDE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 of Causality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641FB30-BC09-3F5C-96BE-A46CE02BA61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Obvious examples of causality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i="1" smtClean="0">
                            <a:latin typeface="Cambria Math" panose="02040503050406030204" pitchFamily="18" charset="0"/>
                          </a:rPr>
                          <m:t>𝐸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CA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CA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CA" b="0" i="1" smtClean="0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  <m:sup>
                                <m:r>
                                  <a:rPr lang="en-CA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CA" b="0" i="1" smtClean="0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sup>
                            </m:sSup>
                          </m:e>
                        </m:d>
                        <m:r>
                          <a:rPr lang="en-CA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𝐸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CA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CA" i="1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  <m:sup>
                                <m:r>
                                  <a:rPr lang="en-CA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CA" i="1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sup>
                            </m:sSup>
                          </m:e>
                        </m:d>
                      </m:e>
                    </m:d>
                    <m:r>
                      <a:rPr lang="en-CA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Moving the light switch </a:t>
                </a:r>
                <a:r>
                  <a:rPr lang="en-US" dirty="0">
                    <a:solidFill>
                      <a:schemeClr val="accent1"/>
                    </a:solidFill>
                  </a:rPr>
                  <a:t>causes</a:t>
                </a:r>
                <a:r>
                  <a:rPr lang="en-US" dirty="0"/>
                  <a:t> the lights to turn on. </a:t>
                </a:r>
              </a:p>
              <a:p>
                <a:pPr lvl="1"/>
                <a:r>
                  <a:rPr lang="en-US" dirty="0"/>
                  <a:t>Pulling the thingy of the chair </a:t>
                </a:r>
                <a:r>
                  <a:rPr lang="en-US" dirty="0">
                    <a:solidFill>
                      <a:schemeClr val="accent1"/>
                    </a:solidFill>
                  </a:rPr>
                  <a:t>causes</a:t>
                </a:r>
                <a:r>
                  <a:rPr lang="en-US" dirty="0"/>
                  <a:t> the chair to lower. 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Less obvious examples of causality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i="1" smtClean="0">
                            <a:latin typeface="Cambria Math" panose="02040503050406030204" pitchFamily="18" charset="0"/>
                          </a:rPr>
                          <m:t>𝐸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CA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CA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CA" b="0" i="1" smtClean="0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  <m:sup>
                                <m:r>
                                  <a:rPr lang="en-CA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CA" b="0" i="1" smtClean="0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sup>
                            </m:sSup>
                          </m:e>
                        </m:d>
                        <m:r>
                          <a:rPr lang="en-CA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𝐸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CA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CA" i="1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  <m:sup>
                                <m:r>
                                  <a:rPr lang="en-CA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CA" i="1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sup>
                            </m:sSup>
                          </m:e>
                        </m:d>
                      </m:e>
                    </m:d>
                    <m:r>
                      <a:rPr lang="en-CA" b="0" i="1" smtClean="0">
                        <a:latin typeface="Cambria Math" panose="02040503050406030204" pitchFamily="18" charset="0"/>
                      </a:rPr>
                      <m:t>&gt;0 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Getting a college degree </a:t>
                </a:r>
                <a:r>
                  <a:rPr lang="en-US" dirty="0">
                    <a:solidFill>
                      <a:schemeClr val="accent1"/>
                    </a:solidFill>
                  </a:rPr>
                  <a:t>causes</a:t>
                </a:r>
                <a:r>
                  <a:rPr lang="en-US" dirty="0"/>
                  <a:t> higher income. </a:t>
                </a:r>
              </a:p>
              <a:p>
                <a:pPr lvl="1"/>
                <a:r>
                  <a:rPr lang="en-US" dirty="0"/>
                  <a:t>Tariffs </a:t>
                </a:r>
                <a:r>
                  <a:rPr lang="en-US" dirty="0">
                    <a:solidFill>
                      <a:schemeClr val="accent1"/>
                    </a:solidFill>
                  </a:rPr>
                  <a:t>cause</a:t>
                </a:r>
                <a:r>
                  <a:rPr lang="en-US" dirty="0"/>
                  <a:t> a reduction in imports. </a:t>
                </a:r>
              </a:p>
              <a:p>
                <a:pPr lvl="1"/>
                <a:r>
                  <a:rPr lang="en-US" dirty="0"/>
                  <a:t>Other?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641FB30-BC09-3F5C-96BE-A46CE02BA6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98" t="-7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341723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DB6730-5466-DFBA-98B2-2079F97869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 of correlations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93FE01-BBBE-FEFD-62F4-745673DCA8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Examples of correlations </a:t>
                </a:r>
                <a14:m>
                  <m:oMath xmlns:m="http://schemas.openxmlformats.org/officeDocument/2006/math">
                    <m:r>
                      <a:rPr lang="en-CA" b="0" i="0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begChr m:val="["/>
                        <m:endChr m:val="]"/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e>
                    </m:d>
                    <m:r>
                      <a:rPr lang="en-CA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begChr m:val="["/>
                        <m:endChr m:val="]"/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e>
                    </m:d>
                    <m:r>
                      <a:rPr lang="en-CA" b="0" i="1" smtClean="0">
                        <a:latin typeface="Cambria Math" panose="02040503050406030204" pitchFamily="18" charset="0"/>
                      </a:rPr>
                      <m:t>|&gt;0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>
                    <a:sym typeface="Wingdings" pitchFamily="2" charset="2"/>
                  </a:rPr>
                  <a:t>that are not causal </a:t>
                </a:r>
                <a14:m>
                  <m:oMath xmlns:m="http://schemas.openxmlformats.org/officeDocument/2006/math">
                    <m:r>
                      <a:rPr lang="en-CA" i="1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begChr m:val="["/>
                        <m:endChr m:val="]"/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CA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CA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p>
                            <m:r>
                              <a:rPr lang="en-CA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CA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p>
                        </m:sSup>
                      </m:e>
                    </m:d>
                    <m:r>
                      <a:rPr lang="en-CA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begChr m:val="["/>
                        <m:endChr m:val="]"/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p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=0</m:t>
                            </m:r>
                          </m:sup>
                        </m:sSup>
                      </m:e>
                    </m:d>
                    <m:r>
                      <a:rPr lang="en-CA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More people drown when the ice cream sales increase. </a:t>
                </a:r>
              </a:p>
              <a:p>
                <a:pPr lvl="1"/>
                <a:r>
                  <a:rPr lang="en-US" dirty="0"/>
                  <a:t>Colds tend to go away after you take Vitamin C. </a:t>
                </a:r>
              </a:p>
              <a:p>
                <a:pPr lvl="1"/>
                <a:r>
                  <a:rPr lang="en-US" dirty="0"/>
                  <a:t> When Liberals govern, the economy worsens.</a:t>
                </a:r>
              </a:p>
              <a:p>
                <a:pPr lvl="1"/>
                <a:r>
                  <a:rPr lang="en-US" dirty="0"/>
                  <a:t>Other?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93FE01-BBBE-FEFD-62F4-745673DCA8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98" t="-7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777406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6A701-641C-F9F9-93D2-1BE689A30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Important Note: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5CF11D-9F75-322B-661A-AFE9FCCD186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That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i="1" smtClean="0">
                            <a:latin typeface="Cambria Math" panose="02040503050406030204" pitchFamily="18" charset="0"/>
                          </a:rPr>
                          <m:t>𝐸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CA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CA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CA" b="0" i="1" smtClean="0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  <m:sup>
                                <m:r>
                                  <a:rPr lang="en-CA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CA" b="0" i="1" smtClean="0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sup>
                            </m:sSup>
                          </m:e>
                        </m:d>
                        <m:r>
                          <a:rPr lang="en-CA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𝐸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CA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CA" i="1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  <m:sup>
                                <m:r>
                                  <a:rPr lang="en-CA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CA" i="1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sup>
                            </m:sSup>
                          </m:e>
                        </m:d>
                      </m:e>
                    </m:d>
                    <m:r>
                      <a:rPr lang="en-CA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>
                    <a:solidFill>
                      <a:schemeClr val="accent1"/>
                    </a:solidFill>
                  </a:rPr>
                  <a:t>does not </a:t>
                </a:r>
                <a:r>
                  <a:rPr lang="en-US" dirty="0"/>
                  <a:t>mean that A is the only variable that causes Y. </a:t>
                </a:r>
              </a:p>
              <a:p>
                <a:r>
                  <a:rPr lang="en-US" dirty="0"/>
                  <a:t>Also, it </a:t>
                </a:r>
                <a:r>
                  <a:rPr lang="en-US" dirty="0">
                    <a:solidFill>
                      <a:schemeClr val="accent1"/>
                    </a:solidFill>
                  </a:rPr>
                  <a:t>does not </a:t>
                </a:r>
                <a:r>
                  <a:rPr lang="en-US" dirty="0"/>
                  <a:t>mean that Y will always change when A=1. </a:t>
                </a:r>
              </a:p>
              <a:p>
                <a:pPr lvl="1"/>
                <a:r>
                  <a:rPr lang="en-US" dirty="0"/>
                  <a:t>When know the switch turns on the lights, but it won’t if there is no light bulb. </a:t>
                </a:r>
              </a:p>
              <a:p>
                <a:r>
                  <a:rPr lang="en-US" dirty="0"/>
                  <a:t>However, we would still say that the switch turns on the lights. What’s important is that the probability (stochastic and non-deterministic) of Y changing increases/decreases when A=1 (but not necessarily that this will always happens).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5CF11D-9F75-322B-661A-AFE9FCCD18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98" t="-704" r="-1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423513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CF514D-F4B6-0ABC-E42C-992FE59D5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dirty="0"/>
              <a:t>The path to causality is a difficult one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CA90AB-C868-58FE-EDF9-F776EE268A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(as are the paths of love)</a:t>
            </a:r>
          </a:p>
        </p:txBody>
      </p:sp>
    </p:spTree>
    <p:extLst>
      <p:ext uri="{BB962C8B-B14F-4D97-AF65-F5344CB8AC3E}">
        <p14:creationId xmlns:p14="http://schemas.microsoft.com/office/powerpoint/2010/main" val="41764156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26C400A-EE7E-72F7-EA39-C1286DD187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2C75B29B-ED4B-A45B-D8DB-498ADBA03B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Establishing causal relationships is not easy. </a:t>
                </a:r>
              </a:p>
              <a:p>
                <a:r>
                  <a:rPr lang="en-US" dirty="0"/>
                  <a:t>It requires the comparison between two states of the world:</a:t>
                </a:r>
              </a:p>
              <a:p>
                <a:pPr lvl="1"/>
                <a:r>
                  <a:rPr lang="en-US" dirty="0"/>
                  <a:t>A world where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CA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CA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p>
                            <m:r>
                              <a:rPr lang="en-CA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CA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 and a world where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p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=0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. </a:t>
                </a:r>
              </a:p>
              <a:p>
                <a:pPr lvl="1"/>
                <a:r>
                  <a:rPr lang="en-US" dirty="0"/>
                  <a:t>Unless you have a time-machine or a quantum-string something or other, those worlds do not exist concurrently (or our current technology does not allow us to observe them). </a:t>
                </a:r>
              </a:p>
              <a:p>
                <a:r>
                  <a:rPr lang="en-US" dirty="0"/>
                  <a:t>For example, the same voter cannot be both a partisan and a nonpartisan at the same time to evaluate how partisanship affects vote choice.</a:t>
                </a:r>
              </a:p>
              <a:p>
                <a:endParaRPr lang="en-US" dirty="0"/>
              </a:p>
              <a:p>
                <a:r>
                  <a:rPr lang="en-US" dirty="0">
                    <a:solidFill>
                      <a:schemeClr val="accent1"/>
                    </a:solidFill>
                    <a:highlight>
                      <a:srgbClr val="FFFF00"/>
                    </a:highlight>
                  </a:rPr>
                  <a:t>This constitutes the fundamental problem of causal inference: the counterfactual problem.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2C75B29B-ED4B-A45B-D8DB-498ADBA03B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98" t="-704" b="-7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8487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E079F42-5C7A-44DD-9E9F-A34795A48F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19091" y="0"/>
            <a:ext cx="11472909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Freeform 6">
            <a:extLst>
              <a:ext uri="{FF2B5EF4-FFF2-40B4-BE49-F238E27FC236}">
                <a16:creationId xmlns:a16="http://schemas.microsoft.com/office/drawing/2014/main" id="{09777E15-6D68-4808-AD20-82EA7377F4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3285" y="0"/>
            <a:ext cx="885825" cy="6858000"/>
          </a:xfrm>
          <a:custGeom>
            <a:avLst/>
            <a:gdLst/>
            <a:ahLst/>
            <a:cxnLst/>
            <a:rect l="0" t="0" r="r" b="b"/>
            <a:pathLst>
              <a:path w="558" h="4320">
                <a:moveTo>
                  <a:pt x="0" y="0"/>
                </a:moveTo>
                <a:lnTo>
                  <a:pt x="447" y="0"/>
                </a:lnTo>
                <a:lnTo>
                  <a:pt x="448" y="43"/>
                </a:lnTo>
                <a:lnTo>
                  <a:pt x="453" y="81"/>
                </a:lnTo>
                <a:lnTo>
                  <a:pt x="460" y="114"/>
                </a:lnTo>
                <a:lnTo>
                  <a:pt x="469" y="143"/>
                </a:lnTo>
                <a:lnTo>
                  <a:pt x="479" y="169"/>
                </a:lnTo>
                <a:lnTo>
                  <a:pt x="491" y="192"/>
                </a:lnTo>
                <a:lnTo>
                  <a:pt x="503" y="216"/>
                </a:lnTo>
                <a:lnTo>
                  <a:pt x="515" y="240"/>
                </a:lnTo>
                <a:lnTo>
                  <a:pt x="525" y="263"/>
                </a:lnTo>
                <a:lnTo>
                  <a:pt x="535" y="289"/>
                </a:lnTo>
                <a:lnTo>
                  <a:pt x="545" y="318"/>
                </a:lnTo>
                <a:lnTo>
                  <a:pt x="552" y="351"/>
                </a:lnTo>
                <a:lnTo>
                  <a:pt x="556" y="389"/>
                </a:lnTo>
                <a:lnTo>
                  <a:pt x="558" y="432"/>
                </a:lnTo>
                <a:lnTo>
                  <a:pt x="556" y="475"/>
                </a:lnTo>
                <a:lnTo>
                  <a:pt x="552" y="513"/>
                </a:lnTo>
                <a:lnTo>
                  <a:pt x="545" y="546"/>
                </a:lnTo>
                <a:lnTo>
                  <a:pt x="535" y="575"/>
                </a:lnTo>
                <a:lnTo>
                  <a:pt x="525" y="601"/>
                </a:lnTo>
                <a:lnTo>
                  <a:pt x="515" y="624"/>
                </a:lnTo>
                <a:lnTo>
                  <a:pt x="503" y="648"/>
                </a:lnTo>
                <a:lnTo>
                  <a:pt x="491" y="672"/>
                </a:lnTo>
                <a:lnTo>
                  <a:pt x="479" y="695"/>
                </a:lnTo>
                <a:lnTo>
                  <a:pt x="469" y="721"/>
                </a:lnTo>
                <a:lnTo>
                  <a:pt x="460" y="750"/>
                </a:lnTo>
                <a:lnTo>
                  <a:pt x="453" y="783"/>
                </a:lnTo>
                <a:lnTo>
                  <a:pt x="448" y="821"/>
                </a:lnTo>
                <a:lnTo>
                  <a:pt x="447" y="864"/>
                </a:lnTo>
                <a:lnTo>
                  <a:pt x="448" y="907"/>
                </a:lnTo>
                <a:lnTo>
                  <a:pt x="453" y="945"/>
                </a:lnTo>
                <a:lnTo>
                  <a:pt x="460" y="978"/>
                </a:lnTo>
                <a:lnTo>
                  <a:pt x="469" y="1007"/>
                </a:lnTo>
                <a:lnTo>
                  <a:pt x="479" y="1033"/>
                </a:lnTo>
                <a:lnTo>
                  <a:pt x="491" y="1056"/>
                </a:lnTo>
                <a:lnTo>
                  <a:pt x="503" y="1080"/>
                </a:lnTo>
                <a:lnTo>
                  <a:pt x="515" y="1104"/>
                </a:lnTo>
                <a:lnTo>
                  <a:pt x="525" y="1127"/>
                </a:lnTo>
                <a:lnTo>
                  <a:pt x="535" y="1153"/>
                </a:lnTo>
                <a:lnTo>
                  <a:pt x="545" y="1182"/>
                </a:lnTo>
                <a:lnTo>
                  <a:pt x="552" y="1215"/>
                </a:lnTo>
                <a:lnTo>
                  <a:pt x="556" y="1253"/>
                </a:lnTo>
                <a:lnTo>
                  <a:pt x="558" y="1296"/>
                </a:lnTo>
                <a:lnTo>
                  <a:pt x="556" y="1339"/>
                </a:lnTo>
                <a:lnTo>
                  <a:pt x="552" y="1377"/>
                </a:lnTo>
                <a:lnTo>
                  <a:pt x="545" y="1410"/>
                </a:lnTo>
                <a:lnTo>
                  <a:pt x="535" y="1439"/>
                </a:lnTo>
                <a:lnTo>
                  <a:pt x="525" y="1465"/>
                </a:lnTo>
                <a:lnTo>
                  <a:pt x="515" y="1488"/>
                </a:lnTo>
                <a:lnTo>
                  <a:pt x="503" y="1512"/>
                </a:lnTo>
                <a:lnTo>
                  <a:pt x="491" y="1536"/>
                </a:lnTo>
                <a:lnTo>
                  <a:pt x="479" y="1559"/>
                </a:lnTo>
                <a:lnTo>
                  <a:pt x="469" y="1585"/>
                </a:lnTo>
                <a:lnTo>
                  <a:pt x="460" y="1614"/>
                </a:lnTo>
                <a:lnTo>
                  <a:pt x="453" y="1647"/>
                </a:lnTo>
                <a:lnTo>
                  <a:pt x="448" y="1685"/>
                </a:lnTo>
                <a:lnTo>
                  <a:pt x="447" y="1728"/>
                </a:lnTo>
                <a:lnTo>
                  <a:pt x="448" y="1771"/>
                </a:lnTo>
                <a:lnTo>
                  <a:pt x="453" y="1809"/>
                </a:lnTo>
                <a:lnTo>
                  <a:pt x="460" y="1842"/>
                </a:lnTo>
                <a:lnTo>
                  <a:pt x="469" y="1871"/>
                </a:lnTo>
                <a:lnTo>
                  <a:pt x="479" y="1897"/>
                </a:lnTo>
                <a:lnTo>
                  <a:pt x="491" y="1920"/>
                </a:lnTo>
                <a:lnTo>
                  <a:pt x="503" y="1944"/>
                </a:lnTo>
                <a:lnTo>
                  <a:pt x="515" y="1968"/>
                </a:lnTo>
                <a:lnTo>
                  <a:pt x="525" y="1991"/>
                </a:lnTo>
                <a:lnTo>
                  <a:pt x="535" y="2017"/>
                </a:lnTo>
                <a:lnTo>
                  <a:pt x="545" y="2046"/>
                </a:lnTo>
                <a:lnTo>
                  <a:pt x="552" y="2079"/>
                </a:lnTo>
                <a:lnTo>
                  <a:pt x="556" y="2117"/>
                </a:lnTo>
                <a:lnTo>
                  <a:pt x="558" y="2159"/>
                </a:lnTo>
                <a:lnTo>
                  <a:pt x="556" y="2203"/>
                </a:lnTo>
                <a:lnTo>
                  <a:pt x="552" y="2241"/>
                </a:lnTo>
                <a:lnTo>
                  <a:pt x="545" y="2274"/>
                </a:lnTo>
                <a:lnTo>
                  <a:pt x="535" y="2303"/>
                </a:lnTo>
                <a:lnTo>
                  <a:pt x="525" y="2329"/>
                </a:lnTo>
                <a:lnTo>
                  <a:pt x="515" y="2352"/>
                </a:lnTo>
                <a:lnTo>
                  <a:pt x="503" y="2376"/>
                </a:lnTo>
                <a:lnTo>
                  <a:pt x="491" y="2400"/>
                </a:lnTo>
                <a:lnTo>
                  <a:pt x="479" y="2423"/>
                </a:lnTo>
                <a:lnTo>
                  <a:pt x="469" y="2449"/>
                </a:lnTo>
                <a:lnTo>
                  <a:pt x="460" y="2478"/>
                </a:lnTo>
                <a:lnTo>
                  <a:pt x="453" y="2511"/>
                </a:lnTo>
                <a:lnTo>
                  <a:pt x="448" y="2549"/>
                </a:lnTo>
                <a:lnTo>
                  <a:pt x="447" y="2592"/>
                </a:lnTo>
                <a:lnTo>
                  <a:pt x="448" y="2635"/>
                </a:lnTo>
                <a:lnTo>
                  <a:pt x="453" y="2673"/>
                </a:lnTo>
                <a:lnTo>
                  <a:pt x="460" y="2706"/>
                </a:lnTo>
                <a:lnTo>
                  <a:pt x="469" y="2735"/>
                </a:lnTo>
                <a:lnTo>
                  <a:pt x="479" y="2761"/>
                </a:lnTo>
                <a:lnTo>
                  <a:pt x="491" y="2784"/>
                </a:lnTo>
                <a:lnTo>
                  <a:pt x="515" y="2832"/>
                </a:lnTo>
                <a:lnTo>
                  <a:pt x="525" y="2855"/>
                </a:lnTo>
                <a:lnTo>
                  <a:pt x="535" y="2881"/>
                </a:lnTo>
                <a:lnTo>
                  <a:pt x="545" y="2910"/>
                </a:lnTo>
                <a:lnTo>
                  <a:pt x="552" y="2943"/>
                </a:lnTo>
                <a:lnTo>
                  <a:pt x="556" y="2981"/>
                </a:lnTo>
                <a:lnTo>
                  <a:pt x="558" y="3024"/>
                </a:lnTo>
                <a:lnTo>
                  <a:pt x="556" y="3067"/>
                </a:lnTo>
                <a:lnTo>
                  <a:pt x="552" y="3105"/>
                </a:lnTo>
                <a:lnTo>
                  <a:pt x="545" y="3138"/>
                </a:lnTo>
                <a:lnTo>
                  <a:pt x="535" y="3167"/>
                </a:lnTo>
                <a:lnTo>
                  <a:pt x="525" y="3193"/>
                </a:lnTo>
                <a:lnTo>
                  <a:pt x="515" y="3216"/>
                </a:lnTo>
                <a:lnTo>
                  <a:pt x="503" y="3240"/>
                </a:lnTo>
                <a:lnTo>
                  <a:pt x="491" y="3264"/>
                </a:lnTo>
                <a:lnTo>
                  <a:pt x="479" y="3287"/>
                </a:lnTo>
                <a:lnTo>
                  <a:pt x="469" y="3313"/>
                </a:lnTo>
                <a:lnTo>
                  <a:pt x="460" y="3342"/>
                </a:lnTo>
                <a:lnTo>
                  <a:pt x="453" y="3375"/>
                </a:lnTo>
                <a:lnTo>
                  <a:pt x="448" y="3413"/>
                </a:lnTo>
                <a:lnTo>
                  <a:pt x="447" y="3456"/>
                </a:lnTo>
                <a:lnTo>
                  <a:pt x="448" y="3499"/>
                </a:lnTo>
                <a:lnTo>
                  <a:pt x="453" y="3537"/>
                </a:lnTo>
                <a:lnTo>
                  <a:pt x="460" y="3570"/>
                </a:lnTo>
                <a:lnTo>
                  <a:pt x="469" y="3599"/>
                </a:lnTo>
                <a:lnTo>
                  <a:pt x="479" y="3625"/>
                </a:lnTo>
                <a:lnTo>
                  <a:pt x="491" y="3648"/>
                </a:lnTo>
                <a:lnTo>
                  <a:pt x="503" y="3672"/>
                </a:lnTo>
                <a:lnTo>
                  <a:pt x="515" y="3696"/>
                </a:lnTo>
                <a:lnTo>
                  <a:pt x="525" y="3719"/>
                </a:lnTo>
                <a:lnTo>
                  <a:pt x="535" y="3745"/>
                </a:lnTo>
                <a:lnTo>
                  <a:pt x="545" y="3774"/>
                </a:lnTo>
                <a:lnTo>
                  <a:pt x="552" y="3807"/>
                </a:lnTo>
                <a:lnTo>
                  <a:pt x="556" y="3845"/>
                </a:lnTo>
                <a:lnTo>
                  <a:pt x="558" y="3888"/>
                </a:lnTo>
                <a:lnTo>
                  <a:pt x="556" y="3931"/>
                </a:lnTo>
                <a:lnTo>
                  <a:pt x="552" y="3969"/>
                </a:lnTo>
                <a:lnTo>
                  <a:pt x="545" y="4002"/>
                </a:lnTo>
                <a:lnTo>
                  <a:pt x="535" y="4031"/>
                </a:lnTo>
                <a:lnTo>
                  <a:pt x="525" y="4057"/>
                </a:lnTo>
                <a:lnTo>
                  <a:pt x="515" y="4080"/>
                </a:lnTo>
                <a:lnTo>
                  <a:pt x="503" y="4104"/>
                </a:lnTo>
                <a:lnTo>
                  <a:pt x="491" y="4128"/>
                </a:lnTo>
                <a:lnTo>
                  <a:pt x="479" y="4151"/>
                </a:lnTo>
                <a:lnTo>
                  <a:pt x="469" y="4177"/>
                </a:lnTo>
                <a:lnTo>
                  <a:pt x="460" y="4206"/>
                </a:lnTo>
                <a:lnTo>
                  <a:pt x="453" y="4239"/>
                </a:lnTo>
                <a:lnTo>
                  <a:pt x="448" y="4277"/>
                </a:lnTo>
                <a:lnTo>
                  <a:pt x="447" y="4320"/>
                </a:lnTo>
                <a:lnTo>
                  <a:pt x="0" y="432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2" name="Freeform 6">
            <a:extLst>
              <a:ext uri="{FF2B5EF4-FFF2-40B4-BE49-F238E27FC236}">
                <a16:creationId xmlns:a16="http://schemas.microsoft.com/office/drawing/2014/main" id="{CE79CAD8-9F7F-4756-BD12-8463CA4C6F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0"/>
            <a:ext cx="885825" cy="6858000"/>
          </a:xfrm>
          <a:custGeom>
            <a:avLst/>
            <a:gdLst/>
            <a:ahLst/>
            <a:cxnLst/>
            <a:rect l="0" t="0" r="r" b="b"/>
            <a:pathLst>
              <a:path w="558" h="4320">
                <a:moveTo>
                  <a:pt x="0" y="0"/>
                </a:moveTo>
                <a:lnTo>
                  <a:pt x="447" y="0"/>
                </a:lnTo>
                <a:lnTo>
                  <a:pt x="448" y="43"/>
                </a:lnTo>
                <a:lnTo>
                  <a:pt x="453" y="81"/>
                </a:lnTo>
                <a:lnTo>
                  <a:pt x="460" y="114"/>
                </a:lnTo>
                <a:lnTo>
                  <a:pt x="469" y="143"/>
                </a:lnTo>
                <a:lnTo>
                  <a:pt x="479" y="169"/>
                </a:lnTo>
                <a:lnTo>
                  <a:pt x="491" y="192"/>
                </a:lnTo>
                <a:lnTo>
                  <a:pt x="503" y="216"/>
                </a:lnTo>
                <a:lnTo>
                  <a:pt x="515" y="240"/>
                </a:lnTo>
                <a:lnTo>
                  <a:pt x="525" y="263"/>
                </a:lnTo>
                <a:lnTo>
                  <a:pt x="535" y="289"/>
                </a:lnTo>
                <a:lnTo>
                  <a:pt x="545" y="318"/>
                </a:lnTo>
                <a:lnTo>
                  <a:pt x="552" y="351"/>
                </a:lnTo>
                <a:lnTo>
                  <a:pt x="556" y="389"/>
                </a:lnTo>
                <a:lnTo>
                  <a:pt x="558" y="432"/>
                </a:lnTo>
                <a:lnTo>
                  <a:pt x="556" y="475"/>
                </a:lnTo>
                <a:lnTo>
                  <a:pt x="552" y="513"/>
                </a:lnTo>
                <a:lnTo>
                  <a:pt x="545" y="546"/>
                </a:lnTo>
                <a:lnTo>
                  <a:pt x="535" y="575"/>
                </a:lnTo>
                <a:lnTo>
                  <a:pt x="525" y="601"/>
                </a:lnTo>
                <a:lnTo>
                  <a:pt x="515" y="624"/>
                </a:lnTo>
                <a:lnTo>
                  <a:pt x="503" y="648"/>
                </a:lnTo>
                <a:lnTo>
                  <a:pt x="491" y="672"/>
                </a:lnTo>
                <a:lnTo>
                  <a:pt x="479" y="695"/>
                </a:lnTo>
                <a:lnTo>
                  <a:pt x="469" y="721"/>
                </a:lnTo>
                <a:lnTo>
                  <a:pt x="460" y="750"/>
                </a:lnTo>
                <a:lnTo>
                  <a:pt x="453" y="783"/>
                </a:lnTo>
                <a:lnTo>
                  <a:pt x="448" y="821"/>
                </a:lnTo>
                <a:lnTo>
                  <a:pt x="447" y="864"/>
                </a:lnTo>
                <a:lnTo>
                  <a:pt x="448" y="907"/>
                </a:lnTo>
                <a:lnTo>
                  <a:pt x="453" y="945"/>
                </a:lnTo>
                <a:lnTo>
                  <a:pt x="460" y="978"/>
                </a:lnTo>
                <a:lnTo>
                  <a:pt x="469" y="1007"/>
                </a:lnTo>
                <a:lnTo>
                  <a:pt x="479" y="1033"/>
                </a:lnTo>
                <a:lnTo>
                  <a:pt x="491" y="1056"/>
                </a:lnTo>
                <a:lnTo>
                  <a:pt x="503" y="1080"/>
                </a:lnTo>
                <a:lnTo>
                  <a:pt x="515" y="1104"/>
                </a:lnTo>
                <a:lnTo>
                  <a:pt x="525" y="1127"/>
                </a:lnTo>
                <a:lnTo>
                  <a:pt x="535" y="1153"/>
                </a:lnTo>
                <a:lnTo>
                  <a:pt x="545" y="1182"/>
                </a:lnTo>
                <a:lnTo>
                  <a:pt x="552" y="1215"/>
                </a:lnTo>
                <a:lnTo>
                  <a:pt x="556" y="1253"/>
                </a:lnTo>
                <a:lnTo>
                  <a:pt x="558" y="1296"/>
                </a:lnTo>
                <a:lnTo>
                  <a:pt x="556" y="1339"/>
                </a:lnTo>
                <a:lnTo>
                  <a:pt x="552" y="1377"/>
                </a:lnTo>
                <a:lnTo>
                  <a:pt x="545" y="1410"/>
                </a:lnTo>
                <a:lnTo>
                  <a:pt x="535" y="1439"/>
                </a:lnTo>
                <a:lnTo>
                  <a:pt x="525" y="1465"/>
                </a:lnTo>
                <a:lnTo>
                  <a:pt x="515" y="1488"/>
                </a:lnTo>
                <a:lnTo>
                  <a:pt x="503" y="1512"/>
                </a:lnTo>
                <a:lnTo>
                  <a:pt x="491" y="1536"/>
                </a:lnTo>
                <a:lnTo>
                  <a:pt x="479" y="1559"/>
                </a:lnTo>
                <a:lnTo>
                  <a:pt x="469" y="1585"/>
                </a:lnTo>
                <a:lnTo>
                  <a:pt x="460" y="1614"/>
                </a:lnTo>
                <a:lnTo>
                  <a:pt x="453" y="1647"/>
                </a:lnTo>
                <a:lnTo>
                  <a:pt x="448" y="1685"/>
                </a:lnTo>
                <a:lnTo>
                  <a:pt x="447" y="1728"/>
                </a:lnTo>
                <a:lnTo>
                  <a:pt x="448" y="1771"/>
                </a:lnTo>
                <a:lnTo>
                  <a:pt x="453" y="1809"/>
                </a:lnTo>
                <a:lnTo>
                  <a:pt x="460" y="1842"/>
                </a:lnTo>
                <a:lnTo>
                  <a:pt x="469" y="1871"/>
                </a:lnTo>
                <a:lnTo>
                  <a:pt x="479" y="1897"/>
                </a:lnTo>
                <a:lnTo>
                  <a:pt x="491" y="1920"/>
                </a:lnTo>
                <a:lnTo>
                  <a:pt x="503" y="1944"/>
                </a:lnTo>
                <a:lnTo>
                  <a:pt x="515" y="1968"/>
                </a:lnTo>
                <a:lnTo>
                  <a:pt x="525" y="1991"/>
                </a:lnTo>
                <a:lnTo>
                  <a:pt x="535" y="2017"/>
                </a:lnTo>
                <a:lnTo>
                  <a:pt x="545" y="2046"/>
                </a:lnTo>
                <a:lnTo>
                  <a:pt x="552" y="2079"/>
                </a:lnTo>
                <a:lnTo>
                  <a:pt x="556" y="2117"/>
                </a:lnTo>
                <a:lnTo>
                  <a:pt x="558" y="2159"/>
                </a:lnTo>
                <a:lnTo>
                  <a:pt x="556" y="2203"/>
                </a:lnTo>
                <a:lnTo>
                  <a:pt x="552" y="2241"/>
                </a:lnTo>
                <a:lnTo>
                  <a:pt x="545" y="2274"/>
                </a:lnTo>
                <a:lnTo>
                  <a:pt x="535" y="2303"/>
                </a:lnTo>
                <a:lnTo>
                  <a:pt x="525" y="2329"/>
                </a:lnTo>
                <a:lnTo>
                  <a:pt x="515" y="2352"/>
                </a:lnTo>
                <a:lnTo>
                  <a:pt x="503" y="2376"/>
                </a:lnTo>
                <a:lnTo>
                  <a:pt x="491" y="2400"/>
                </a:lnTo>
                <a:lnTo>
                  <a:pt x="479" y="2423"/>
                </a:lnTo>
                <a:lnTo>
                  <a:pt x="469" y="2449"/>
                </a:lnTo>
                <a:lnTo>
                  <a:pt x="460" y="2478"/>
                </a:lnTo>
                <a:lnTo>
                  <a:pt x="453" y="2511"/>
                </a:lnTo>
                <a:lnTo>
                  <a:pt x="448" y="2549"/>
                </a:lnTo>
                <a:lnTo>
                  <a:pt x="447" y="2592"/>
                </a:lnTo>
                <a:lnTo>
                  <a:pt x="448" y="2635"/>
                </a:lnTo>
                <a:lnTo>
                  <a:pt x="453" y="2673"/>
                </a:lnTo>
                <a:lnTo>
                  <a:pt x="460" y="2706"/>
                </a:lnTo>
                <a:lnTo>
                  <a:pt x="469" y="2735"/>
                </a:lnTo>
                <a:lnTo>
                  <a:pt x="479" y="2761"/>
                </a:lnTo>
                <a:lnTo>
                  <a:pt x="491" y="2784"/>
                </a:lnTo>
                <a:lnTo>
                  <a:pt x="515" y="2832"/>
                </a:lnTo>
                <a:lnTo>
                  <a:pt x="525" y="2855"/>
                </a:lnTo>
                <a:lnTo>
                  <a:pt x="535" y="2881"/>
                </a:lnTo>
                <a:lnTo>
                  <a:pt x="545" y="2910"/>
                </a:lnTo>
                <a:lnTo>
                  <a:pt x="552" y="2943"/>
                </a:lnTo>
                <a:lnTo>
                  <a:pt x="556" y="2981"/>
                </a:lnTo>
                <a:lnTo>
                  <a:pt x="558" y="3024"/>
                </a:lnTo>
                <a:lnTo>
                  <a:pt x="556" y="3067"/>
                </a:lnTo>
                <a:lnTo>
                  <a:pt x="552" y="3105"/>
                </a:lnTo>
                <a:lnTo>
                  <a:pt x="545" y="3138"/>
                </a:lnTo>
                <a:lnTo>
                  <a:pt x="535" y="3167"/>
                </a:lnTo>
                <a:lnTo>
                  <a:pt x="525" y="3193"/>
                </a:lnTo>
                <a:lnTo>
                  <a:pt x="515" y="3216"/>
                </a:lnTo>
                <a:lnTo>
                  <a:pt x="503" y="3240"/>
                </a:lnTo>
                <a:lnTo>
                  <a:pt x="491" y="3264"/>
                </a:lnTo>
                <a:lnTo>
                  <a:pt x="479" y="3287"/>
                </a:lnTo>
                <a:lnTo>
                  <a:pt x="469" y="3313"/>
                </a:lnTo>
                <a:lnTo>
                  <a:pt x="460" y="3342"/>
                </a:lnTo>
                <a:lnTo>
                  <a:pt x="453" y="3375"/>
                </a:lnTo>
                <a:lnTo>
                  <a:pt x="448" y="3413"/>
                </a:lnTo>
                <a:lnTo>
                  <a:pt x="447" y="3456"/>
                </a:lnTo>
                <a:lnTo>
                  <a:pt x="448" y="3499"/>
                </a:lnTo>
                <a:lnTo>
                  <a:pt x="453" y="3537"/>
                </a:lnTo>
                <a:lnTo>
                  <a:pt x="460" y="3570"/>
                </a:lnTo>
                <a:lnTo>
                  <a:pt x="469" y="3599"/>
                </a:lnTo>
                <a:lnTo>
                  <a:pt x="479" y="3625"/>
                </a:lnTo>
                <a:lnTo>
                  <a:pt x="491" y="3648"/>
                </a:lnTo>
                <a:lnTo>
                  <a:pt x="503" y="3672"/>
                </a:lnTo>
                <a:lnTo>
                  <a:pt x="515" y="3696"/>
                </a:lnTo>
                <a:lnTo>
                  <a:pt x="525" y="3719"/>
                </a:lnTo>
                <a:lnTo>
                  <a:pt x="535" y="3745"/>
                </a:lnTo>
                <a:lnTo>
                  <a:pt x="545" y="3774"/>
                </a:lnTo>
                <a:lnTo>
                  <a:pt x="552" y="3807"/>
                </a:lnTo>
                <a:lnTo>
                  <a:pt x="556" y="3845"/>
                </a:lnTo>
                <a:lnTo>
                  <a:pt x="558" y="3888"/>
                </a:lnTo>
                <a:lnTo>
                  <a:pt x="556" y="3931"/>
                </a:lnTo>
                <a:lnTo>
                  <a:pt x="552" y="3969"/>
                </a:lnTo>
                <a:lnTo>
                  <a:pt x="545" y="4002"/>
                </a:lnTo>
                <a:lnTo>
                  <a:pt x="535" y="4031"/>
                </a:lnTo>
                <a:lnTo>
                  <a:pt x="525" y="4057"/>
                </a:lnTo>
                <a:lnTo>
                  <a:pt x="515" y="4080"/>
                </a:lnTo>
                <a:lnTo>
                  <a:pt x="503" y="4104"/>
                </a:lnTo>
                <a:lnTo>
                  <a:pt x="491" y="4128"/>
                </a:lnTo>
                <a:lnTo>
                  <a:pt x="479" y="4151"/>
                </a:lnTo>
                <a:lnTo>
                  <a:pt x="469" y="4177"/>
                </a:lnTo>
                <a:lnTo>
                  <a:pt x="460" y="4206"/>
                </a:lnTo>
                <a:lnTo>
                  <a:pt x="453" y="4239"/>
                </a:lnTo>
                <a:lnTo>
                  <a:pt x="448" y="4277"/>
                </a:lnTo>
                <a:lnTo>
                  <a:pt x="447" y="4320"/>
                </a:lnTo>
                <a:lnTo>
                  <a:pt x="0" y="4320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9923A21-5790-4667-B5C7-ADA793B499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64448" y="643466"/>
            <a:ext cx="9600802" cy="557106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Online Media 1" descr="Y ahora  Abdala Bucaram">
            <a:hlinkClick r:id="" action="ppaction://media"/>
            <a:extLst>
              <a:ext uri="{FF2B5EF4-FFF2-40B4-BE49-F238E27FC236}">
                <a16:creationId xmlns:a16="http://schemas.microsoft.com/office/drawing/2014/main" id="{490471ED-B267-E253-C146-1E86CD29896D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3179780" y="965199"/>
            <a:ext cx="6570134" cy="4927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0484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  <p:video>
              <p:cMediaNode vol="80000">
                <p:cTn id="1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59D18-CED6-3E49-E83D-8DF23116E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600" dirty="0"/>
              <a:t>Estimating causal Effects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A39C49-57FA-3D80-0351-FC68B63AA5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8201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BF185DE-D63E-CCB0-773D-7C5C890882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Randomized trails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C5D449A-18CD-EDBA-1221-DB4F29CA71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Among the numerous research designs at hand, the one that circumvents best the fundamental problem of causal inference is the </a:t>
            </a:r>
            <a:r>
              <a:rPr lang="en-US" dirty="0">
                <a:solidFill>
                  <a:schemeClr val="accent1"/>
                </a:solidFill>
              </a:rPr>
              <a:t>randomized experiment</a:t>
            </a:r>
            <a:r>
              <a:rPr lang="en-US" dirty="0"/>
              <a:t>, also called randomized trial.</a:t>
            </a:r>
          </a:p>
          <a:p>
            <a:r>
              <a:rPr lang="en-US" dirty="0"/>
              <a:t>In a randomized trial, the researcher </a:t>
            </a:r>
            <a:r>
              <a:rPr lang="en-US" dirty="0">
                <a:solidFill>
                  <a:schemeClr val="accent1"/>
                </a:solidFill>
              </a:rPr>
              <a:t>randomly</a:t>
            </a:r>
            <a:r>
              <a:rPr lang="en-US" dirty="0"/>
              <a:t> assigns specific values of the causal variable to groups of people. Generally, members of one group receive an experimental manipulation like a small loan—labeled treatment group—and members of the other group do not receive it (no loan)—control group.</a:t>
            </a:r>
          </a:p>
          <a:p>
            <a:r>
              <a:rPr lang="en-US" dirty="0"/>
              <a:t>Random assignment of the experimental manipulation makes other things equal hold on average across the groups.</a:t>
            </a:r>
          </a:p>
        </p:txBody>
      </p:sp>
    </p:spTree>
    <p:extLst>
      <p:ext uri="{BB962C8B-B14F-4D97-AF65-F5344CB8AC3E}">
        <p14:creationId xmlns:p14="http://schemas.microsoft.com/office/powerpoint/2010/main" val="3983663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7F23ED-5CBB-EDDF-9B1C-B7BA7C285F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Randomized trails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DEAC13-4DAB-EC46-21F0-59F1F2DEF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Ok, but why does this work?</a:t>
            </a:r>
          </a:p>
          <a:p>
            <a:endParaRPr lang="en-US" dirty="0"/>
          </a:p>
          <a:p>
            <a:r>
              <a:rPr lang="en-US" dirty="0"/>
              <a:t>One way to think about this is in the same way that we think about sampling:</a:t>
            </a:r>
          </a:p>
          <a:p>
            <a:pPr lvl="1"/>
            <a:r>
              <a:rPr lang="en-US" dirty="0"/>
              <a:t>The distribution of the means of infinite samples from a population will have a normal distribution (i.e., central limit theorem). With a big enough N, samples are increasingly more likely to be similar. </a:t>
            </a:r>
          </a:p>
          <a:p>
            <a:pPr lvl="1"/>
            <a:r>
              <a:rPr lang="en-US" dirty="0"/>
              <a:t>Now, take two of these random samples. If the risk of receiving the treatment is the same for both sample (i.e., if it does not matter which groups receives the treatment; if being treated is independent from the outcome), then the only difference between these two groups is the treatment itself. It’s as if these groups were… exchangeable.  </a:t>
            </a:r>
          </a:p>
        </p:txBody>
      </p:sp>
    </p:spTree>
    <p:extLst>
      <p:ext uri="{BB962C8B-B14F-4D97-AF65-F5344CB8AC3E}">
        <p14:creationId xmlns:p14="http://schemas.microsoft.com/office/powerpoint/2010/main" val="1098778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B45CE8-B49E-9B6E-6E4E-7EAF2696A8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Randomized trails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2A14A7-9035-FFFA-F210-FB73AFA8A5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r>
              <a:rPr lang="en-US" dirty="0"/>
              <a:t>Let’s see this in action (go to code for 3 Intro to Causal </a:t>
            </a:r>
            <a:r>
              <a:rPr lang="en-US"/>
              <a:t>Inference.R</a:t>
            </a:r>
            <a:r>
              <a:rPr lang="en-US" dirty="0"/>
              <a:t> / Vignette 2.1)</a:t>
            </a:r>
          </a:p>
        </p:txBody>
      </p:sp>
    </p:spTree>
    <p:extLst>
      <p:ext uri="{BB962C8B-B14F-4D97-AF65-F5344CB8AC3E}">
        <p14:creationId xmlns:p14="http://schemas.microsoft.com/office/powerpoint/2010/main" val="12096532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5E5D46-195B-63F4-EEC0-82BDB7F174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Observational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D7E948-628A-BE15-D0CF-D2B6C51267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The problem is that experimental data are not always readily available, and some social phenomena simply cannot be studied through randomized trials. </a:t>
            </a:r>
          </a:p>
          <a:p>
            <a:pPr lvl="1"/>
            <a:r>
              <a:rPr lang="en-US" dirty="0"/>
              <a:t>We cannot randomly assign </a:t>
            </a:r>
            <a:r>
              <a:rPr lang="en-US" i="1" dirty="0">
                <a:solidFill>
                  <a:schemeClr val="accent1"/>
                </a:solidFill>
              </a:rPr>
              <a:t>democracy</a:t>
            </a:r>
            <a:r>
              <a:rPr lang="en-US" dirty="0"/>
              <a:t> to a country to estimate its effect on </a:t>
            </a:r>
            <a:r>
              <a:rPr lang="en-US" i="1" dirty="0">
                <a:solidFill>
                  <a:schemeClr val="accent1"/>
                </a:solidFill>
              </a:rPr>
              <a:t>development</a:t>
            </a:r>
            <a:r>
              <a:rPr lang="en-US" dirty="0"/>
              <a:t>. </a:t>
            </a:r>
          </a:p>
          <a:p>
            <a:r>
              <a:rPr lang="en-US" dirty="0"/>
              <a:t>Frequently, researchers must rely on nonexperimental data, also called observational data or retrospective data.</a:t>
            </a:r>
          </a:p>
          <a:p>
            <a:r>
              <a:rPr lang="en-US" dirty="0"/>
              <a:t>When working with observational data, researchers have a hard time holding other relevant things equal. In other words, finding a perfect </a:t>
            </a:r>
            <a:r>
              <a:rPr lang="en-US" dirty="0">
                <a:solidFill>
                  <a:schemeClr val="accent1"/>
                </a:solidFill>
              </a:rPr>
              <a:t>counterfactual</a:t>
            </a:r>
            <a:r>
              <a:rPr lang="en-US" dirty="0"/>
              <a:t> to a specific state of the world (to which we could compare it to, to estimate the causal effect of interest).</a:t>
            </a:r>
          </a:p>
          <a:p>
            <a:pPr lvl="1"/>
            <a:r>
              <a:rPr lang="en-US" dirty="0"/>
              <a:t>Why is Canada under a Liberal Government in 1995 a bad counterfactual to Canada under a Conservative Government in 1985?</a:t>
            </a:r>
          </a:p>
        </p:txBody>
      </p:sp>
    </p:spTree>
    <p:extLst>
      <p:ext uri="{BB962C8B-B14F-4D97-AF65-F5344CB8AC3E}">
        <p14:creationId xmlns:p14="http://schemas.microsoft.com/office/powerpoint/2010/main" val="22115169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0E03E9-BE67-1D74-B0F4-9CB512FF7C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Observational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89C55E-0271-5C67-4A34-AC39376BA9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estimating causal effects using observational data, researchers face one important problem: </a:t>
            </a:r>
            <a:r>
              <a:rPr lang="en-US" b="1" dirty="0">
                <a:solidFill>
                  <a:schemeClr val="accent1"/>
                </a:solidFill>
              </a:rPr>
              <a:t>omitted variables bias.</a:t>
            </a:r>
            <a:endParaRPr lang="en-US" dirty="0"/>
          </a:p>
          <a:p>
            <a:pPr lvl="1"/>
            <a:r>
              <a:rPr lang="en-US" dirty="0"/>
              <a:t>A situation where one or many variables that affect both the dependent and the independent variable of interest are left uncontrolled (e.g., leaving motivation out when explaining how education affects income). 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2AD7727-7064-6C79-BBE3-C0EAEC59C5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2841" y="4258174"/>
            <a:ext cx="2506317" cy="2032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440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8E52FE-9CD8-0BA4-523F-11AF73184B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D08E54-60C9-3660-5B2B-6D68E37B5B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r>
              <a:rPr lang="en-US" dirty="0"/>
              <a:t>Let’s see this in action (go to code for 3 Intro to Causal </a:t>
            </a:r>
            <a:r>
              <a:rPr lang="en-US" dirty="0" err="1"/>
              <a:t>Inference.R</a:t>
            </a:r>
            <a:r>
              <a:rPr lang="en-US" dirty="0"/>
              <a:t> / Vignette 2.2)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02066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491A00-3BA2-D8E6-375D-504984348F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Observational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31C943-543E-8F2F-5106-B1BB141430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Unlike our simulated example, we can never be sure that such relevant variable(s) have been left out, and their omission might cause us to mistakenly draw (biased) inferences. </a:t>
            </a:r>
          </a:p>
          <a:p>
            <a:r>
              <a:rPr lang="en-US" dirty="0"/>
              <a:t>These unmeasured and/or unaccounted attributes are also called </a:t>
            </a:r>
            <a:r>
              <a:rPr lang="en-US" dirty="0">
                <a:solidFill>
                  <a:schemeClr val="accent1"/>
                </a:solidFill>
              </a:rPr>
              <a:t>confounders</a:t>
            </a:r>
            <a:r>
              <a:rPr lang="en-US" dirty="0"/>
              <a:t> or </a:t>
            </a:r>
            <a:r>
              <a:rPr lang="en-US" dirty="0">
                <a:solidFill>
                  <a:schemeClr val="accent1"/>
                </a:solidFill>
              </a:rPr>
              <a:t>lurking variables </a:t>
            </a:r>
            <a:r>
              <a:rPr lang="en-US" dirty="0"/>
              <a:t>or </a:t>
            </a:r>
            <a:r>
              <a:rPr lang="en-US" dirty="0">
                <a:solidFill>
                  <a:schemeClr val="accent1"/>
                </a:solidFill>
              </a:rPr>
              <a:t>unobserved heterogeneity</a:t>
            </a:r>
            <a:r>
              <a:rPr lang="en-US" dirty="0"/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26672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61050C-FD5F-2E90-D78C-0E07F6732B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Observational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822825-856E-176F-C3F1-437F2C484B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In randomized trials, random assignment implies that the observed and unobserved factors that affect the dependent/outcome variable are equally likely to be present in the control and treatment groups.</a:t>
            </a:r>
          </a:p>
          <a:p>
            <a:r>
              <a:rPr lang="en-US" dirty="0"/>
              <a:t>Luckily, social scientists (mainly econometricians) have developed statistical tools to isolate (as best as possible) causal effects using observational data.</a:t>
            </a:r>
          </a:p>
          <a:p>
            <a:r>
              <a:rPr lang="en-US" dirty="0"/>
              <a:t>In this course, we will explore the three following tools (time permitting):</a:t>
            </a:r>
          </a:p>
          <a:p>
            <a:pPr lvl="1"/>
            <a:r>
              <a:rPr lang="en-US" dirty="0"/>
              <a:t>Regression analysis</a:t>
            </a:r>
          </a:p>
          <a:p>
            <a:pPr lvl="1"/>
            <a:r>
              <a:rPr lang="en-US" dirty="0"/>
              <a:t>Regression discontinuity design (RDD) (like in the code!)</a:t>
            </a:r>
          </a:p>
          <a:p>
            <a:pPr lvl="1"/>
            <a:r>
              <a:rPr lang="en-US" dirty="0"/>
              <a:t>Difference-in-Differences (</a:t>
            </a:r>
            <a:r>
              <a:rPr lang="en-US" dirty="0" err="1"/>
              <a:t>DiD</a:t>
            </a:r>
            <a:r>
              <a:rPr lang="en-US" dirty="0"/>
              <a:t>)</a:t>
            </a:r>
          </a:p>
          <a:p>
            <a:r>
              <a:rPr lang="en-US" dirty="0"/>
              <a:t>There are other techniques like instrumental variables and matching (which you can explore on your own in most textbooks in the Syllabus).</a:t>
            </a:r>
          </a:p>
        </p:txBody>
      </p:sp>
    </p:spTree>
    <p:extLst>
      <p:ext uri="{BB962C8B-B14F-4D97-AF65-F5344CB8AC3E}">
        <p14:creationId xmlns:p14="http://schemas.microsoft.com/office/powerpoint/2010/main" val="27470797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03B7F1-2E5C-AB5D-FB44-F2F20D497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Structure of the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B29BEF-E803-2B3D-63D0-1CAA490943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Observational data come under different structures, and each data structure requires specific treatment to evaluate causal relationships.</a:t>
            </a:r>
          </a:p>
          <a:p>
            <a:r>
              <a:rPr lang="en-US" dirty="0"/>
              <a:t>In this course, we focus mostly on one data structure: cross-sectional data. Cross-sectional data consist of a sample of individuals, households, cities, states/provinces, countries, or any variety of other units, taken at a given point in time (Prof. </a:t>
            </a:r>
            <a:r>
              <a:rPr lang="en-US" dirty="0" err="1"/>
              <a:t>Lebo</a:t>
            </a:r>
            <a:r>
              <a:rPr lang="en-US" dirty="0"/>
              <a:t> will show you how things that vary in time can cause inference problems). </a:t>
            </a:r>
          </a:p>
        </p:txBody>
      </p:sp>
    </p:spTree>
    <p:extLst>
      <p:ext uri="{BB962C8B-B14F-4D97-AF65-F5344CB8AC3E}">
        <p14:creationId xmlns:p14="http://schemas.microsoft.com/office/powerpoint/2010/main" val="360860615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E606343-BADE-4565-AB89-E9EF7E253F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0555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9E183BD-2932-401F-8B53-E247764B37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16367A5-DBD3-9E93-1310-4ECDE6C86B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683" y="796343"/>
            <a:ext cx="10530634" cy="5265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355858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2A7BB5-ECBB-5262-9562-B737497114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 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06BD28-6DEA-73E7-3971-966D602C4F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From ’</a:t>
            </a:r>
            <a:r>
              <a:rPr lang="en-US" dirty="0" err="1"/>
              <a:t>wooldridge</a:t>
            </a:r>
            <a:r>
              <a:rPr lang="en-US" dirty="0"/>
              <a:t>’:</a:t>
            </a:r>
          </a:p>
          <a:p>
            <a:r>
              <a:rPr lang="en-US" dirty="0"/>
              <a:t>C5. The data ’fertil2’ were collected on women living in the Republic of Botswana in 1988. The variable children refers to the number of living children. The variable electric is a binary indicator equal to one if the woman’s home has electricity, and zero if not.</a:t>
            </a:r>
          </a:p>
          <a:p>
            <a:pPr lvl="1"/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Find the smallest and largest values of children in the sample. What is the average of children?</a:t>
            </a:r>
          </a:p>
          <a:p>
            <a:pPr lvl="1"/>
            <a:r>
              <a:rPr lang="en-US" dirty="0"/>
              <a:t>(ii) What percentage of women have electricity in the home?</a:t>
            </a:r>
          </a:p>
          <a:p>
            <a:pPr lvl="1"/>
            <a:r>
              <a:rPr lang="en-US" dirty="0"/>
              <a:t>(iii) Compute the average of children for those without electricity and do the same for those with electricity. Comment on what you find.</a:t>
            </a:r>
          </a:p>
          <a:p>
            <a:pPr lvl="1"/>
            <a:r>
              <a:rPr lang="en-US" dirty="0"/>
              <a:t>(iv) From part (iii), can you infer that having electricity “causes” women to have fewer children? Explain.</a:t>
            </a:r>
          </a:p>
        </p:txBody>
      </p:sp>
    </p:spTree>
    <p:extLst>
      <p:ext uri="{BB962C8B-B14F-4D97-AF65-F5344CB8AC3E}">
        <p14:creationId xmlns:p14="http://schemas.microsoft.com/office/powerpoint/2010/main" val="699668685"/>
      </p:ext>
    </p:extLst>
  </p:cSld>
  <p:clrMapOvr>
    <a:masterClrMapping/>
  </p:clrMapOvr>
</p:sld>
</file>

<file path=ppt/theme/theme1.xml><?xml version="1.0" encoding="utf-8"?>
<a:theme xmlns:a="http://schemas.openxmlformats.org/drawingml/2006/main" name="Badge">
  <a:themeElements>
    <a:clrScheme name="Badge">
      <a:dk1>
        <a:sysClr val="windowText" lastClr="000000"/>
      </a:dk1>
      <a:lt1>
        <a:sysClr val="window" lastClr="FFFFFF"/>
      </a:lt1>
      <a:dk2>
        <a:srgbClr val="2A1A00"/>
      </a:dk2>
      <a:lt2>
        <a:srgbClr val="F3F3F2"/>
      </a:lt2>
      <a:accent1>
        <a:srgbClr val="F8B323"/>
      </a:accent1>
      <a:accent2>
        <a:srgbClr val="656A59"/>
      </a:accent2>
      <a:accent3>
        <a:srgbClr val="46B2B5"/>
      </a:accent3>
      <a:accent4>
        <a:srgbClr val="8CAA7E"/>
      </a:accent4>
      <a:accent5>
        <a:srgbClr val="D36F68"/>
      </a:accent5>
      <a:accent6>
        <a:srgbClr val="826276"/>
      </a:accent6>
      <a:hlink>
        <a:srgbClr val="46B2B5"/>
      </a:hlink>
      <a:folHlink>
        <a:srgbClr val="A46694"/>
      </a:folHlink>
    </a:clrScheme>
    <a:fontScheme name="Badge">
      <a:majorFont>
        <a:latin typeface="Impact" panose="020B080603090205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メイリオ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Badg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5080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5400" dir="5400000" algn="ctr" rotWithShape="0">
              <a:srgbClr val="000000">
                <a:alpha val="2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dge" id="{71A07785-5930-41D4-9A83-E23602B48E98}" vid="{771EA782-DFA6-45B1-AEA3-661F1715B31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{0E485437-9C64-634D-9FB8-65EB535908DD}tf10001071</Template>
  <TotalTime>425</TotalTime>
  <Words>1529</Words>
  <Application>Microsoft Macintosh PowerPoint</Application>
  <PresentationFormat>Widescreen</PresentationFormat>
  <Paragraphs>102</Paragraphs>
  <Slides>26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2" baseType="lpstr">
      <vt:lpstr>Arial</vt:lpstr>
      <vt:lpstr>Cambria Math</vt:lpstr>
      <vt:lpstr>Gill Sans MT</vt:lpstr>
      <vt:lpstr>Impact</vt:lpstr>
      <vt:lpstr>Wingdings</vt:lpstr>
      <vt:lpstr>Badge</vt:lpstr>
      <vt:lpstr>Introduction to Causal Inference</vt:lpstr>
      <vt:lpstr>Why causality?</vt:lpstr>
      <vt:lpstr>PowerPoint Presentation</vt:lpstr>
      <vt:lpstr>PowerPoint Presentation</vt:lpstr>
      <vt:lpstr>What is causal inference?</vt:lpstr>
      <vt:lpstr>What is causal inference?</vt:lpstr>
      <vt:lpstr>What is causal inference?</vt:lpstr>
      <vt:lpstr>What is causal inference?</vt:lpstr>
      <vt:lpstr>Examples of Causality</vt:lpstr>
      <vt:lpstr>Examples of correlations</vt:lpstr>
      <vt:lpstr>Important Note:</vt:lpstr>
      <vt:lpstr>The path to causality is a difficult one</vt:lpstr>
      <vt:lpstr>PowerPoint Presentation</vt:lpstr>
      <vt:lpstr>PowerPoint Presentation</vt:lpstr>
      <vt:lpstr>Estimating causal Effects</vt:lpstr>
      <vt:lpstr>Randomized trails</vt:lpstr>
      <vt:lpstr>Randomized trails</vt:lpstr>
      <vt:lpstr>Randomized trails</vt:lpstr>
      <vt:lpstr>Observational data</vt:lpstr>
      <vt:lpstr>Observational data</vt:lpstr>
      <vt:lpstr>PowerPoint Presentation</vt:lpstr>
      <vt:lpstr>Observational data</vt:lpstr>
      <vt:lpstr>Observational data</vt:lpstr>
      <vt:lpstr>The Structure of the Data</vt:lpstr>
      <vt:lpstr>PowerPoint Presentation</vt:lpstr>
      <vt:lpstr>Lab Exercises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Causal Inference</dc:title>
  <dc:creator>Sebastian Vallejo Vera</dc:creator>
  <cp:lastModifiedBy>Sebastian Vallejo Vera</cp:lastModifiedBy>
  <cp:revision>2</cp:revision>
  <dcterms:created xsi:type="dcterms:W3CDTF">2024-01-10T14:14:11Z</dcterms:created>
  <dcterms:modified xsi:type="dcterms:W3CDTF">2026-01-13T03:59:57Z</dcterms:modified>
</cp:coreProperties>
</file>