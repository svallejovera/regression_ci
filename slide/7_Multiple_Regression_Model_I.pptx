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18"/>
    <p:restoredTop sz="96165"/>
  </p:normalViewPr>
  <p:slideViewPr>
    <p:cSldViewPr snapToGrid="0">
      <p:cViewPr varScale="1">
        <p:scale>
          <a:sx n="113" d="100"/>
          <a:sy n="113" d="100"/>
        </p:scale>
        <p:origin x="5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Vallejo Vera" userId="661f42ee-5565-49c4-8b1d-325f2d699b91" providerId="ADAL" clId="{A248EEF8-C29E-592E-8CA9-13334A969EB7}"/>
    <pc:docChg chg="delSld">
      <pc:chgData name="Sebastian Vallejo Vera" userId="661f42ee-5565-49c4-8b1d-325f2d699b91" providerId="ADAL" clId="{A248EEF8-C29E-592E-8CA9-13334A969EB7}" dt="2026-02-03T01:36:46.273" v="0" actId="2696"/>
      <pc:docMkLst>
        <pc:docMk/>
      </pc:docMkLst>
      <pc:sldChg chg="del">
        <pc:chgData name="Sebastian Vallejo Vera" userId="661f42ee-5565-49c4-8b1d-325f2d699b91" providerId="ADAL" clId="{A248EEF8-C29E-592E-8CA9-13334A969EB7}" dt="2026-02-03T01:36:46.273" v="0" actId="2696"/>
        <pc:sldMkLst>
          <pc:docMk/>
          <pc:sldMk cId="1838658543"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E26900-7493-9448-A3BF-F5ABBAAD5ADF}" type="datetimeFigureOut">
              <a:rPr lang="en-US" smtClean="0"/>
              <a:t>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9E1B44-35BC-F540-A045-33B9504297FA}" type="slidenum">
              <a:rPr lang="en-US" smtClean="0"/>
              <a:t>‹#›</a:t>
            </a:fld>
            <a:endParaRPr lang="en-US"/>
          </a:p>
        </p:txBody>
      </p:sp>
    </p:spTree>
    <p:extLst>
      <p:ext uri="{BB962C8B-B14F-4D97-AF65-F5344CB8AC3E}">
        <p14:creationId xmlns:p14="http://schemas.microsoft.com/office/powerpoint/2010/main" val="2732117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9E1B44-35BC-F540-A045-33B9504297FA}" type="slidenum">
              <a:rPr lang="en-US" smtClean="0"/>
              <a:t>1</a:t>
            </a:fld>
            <a:endParaRPr lang="en-US"/>
          </a:p>
        </p:txBody>
      </p:sp>
    </p:spTree>
    <p:extLst>
      <p:ext uri="{BB962C8B-B14F-4D97-AF65-F5344CB8AC3E}">
        <p14:creationId xmlns:p14="http://schemas.microsoft.com/office/powerpoint/2010/main" val="2426108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81FC1AB-544C-104E-8A1C-5A8C9E1A53F0}" type="datetimeFigureOut">
              <a:rPr lang="en-US" smtClean="0"/>
              <a:t>2/2/26</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A54461D7-2C92-B944-AF36-9A6FE66ADCC6}"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122695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1FC1AB-544C-104E-8A1C-5A8C9E1A53F0}"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4461D7-2C92-B944-AF36-9A6FE66ADCC6}" type="slidenum">
              <a:rPr lang="en-US" smtClean="0"/>
              <a:t>‹#›</a:t>
            </a:fld>
            <a:endParaRPr lang="en-US"/>
          </a:p>
        </p:txBody>
      </p:sp>
    </p:spTree>
    <p:extLst>
      <p:ext uri="{BB962C8B-B14F-4D97-AF65-F5344CB8AC3E}">
        <p14:creationId xmlns:p14="http://schemas.microsoft.com/office/powerpoint/2010/main" val="17781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81FC1AB-544C-104E-8A1C-5A8C9E1A53F0}" type="datetimeFigureOut">
              <a:rPr lang="en-US" smtClean="0"/>
              <a:t>2/2/26</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A54461D7-2C92-B944-AF36-9A6FE66ADCC6}"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11390635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1FC1AB-544C-104E-8A1C-5A8C9E1A53F0}" type="datetimeFigureOut">
              <a:rPr lang="en-US" smtClean="0"/>
              <a:t>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4461D7-2C92-B944-AF36-9A6FE66ADCC6}" type="slidenum">
              <a:rPr lang="en-US" smtClean="0"/>
              <a:t>‹#›</a:t>
            </a:fld>
            <a:endParaRPr lang="en-US"/>
          </a:p>
        </p:txBody>
      </p:sp>
    </p:spTree>
    <p:extLst>
      <p:ext uri="{BB962C8B-B14F-4D97-AF65-F5344CB8AC3E}">
        <p14:creationId xmlns:p14="http://schemas.microsoft.com/office/powerpoint/2010/main" val="305070096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1FC1AB-544C-104E-8A1C-5A8C9E1A53F0}" type="datetimeFigureOut">
              <a:rPr lang="en-US" smtClean="0"/>
              <a:t>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4461D7-2C92-B944-AF36-9A6FE66ADCC6}" type="slidenum">
              <a:rPr lang="en-US" smtClean="0"/>
              <a:t>‹#›</a:t>
            </a:fld>
            <a:endParaRPr lang="en-US"/>
          </a:p>
        </p:txBody>
      </p:sp>
    </p:spTree>
    <p:extLst>
      <p:ext uri="{BB962C8B-B14F-4D97-AF65-F5344CB8AC3E}">
        <p14:creationId xmlns:p14="http://schemas.microsoft.com/office/powerpoint/2010/main" val="280789229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1FC1AB-544C-104E-8A1C-5A8C9E1A53F0}" type="datetimeFigureOut">
              <a:rPr lang="en-US" smtClean="0"/>
              <a:t>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4461D7-2C92-B944-AF36-9A6FE66ADCC6}" type="slidenum">
              <a:rPr lang="en-US" smtClean="0"/>
              <a:t>‹#›</a:t>
            </a:fld>
            <a:endParaRPr lang="en-US"/>
          </a:p>
        </p:txBody>
      </p:sp>
    </p:spTree>
    <p:extLst>
      <p:ext uri="{BB962C8B-B14F-4D97-AF65-F5344CB8AC3E}">
        <p14:creationId xmlns:p14="http://schemas.microsoft.com/office/powerpoint/2010/main" val="1954354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1FC1AB-544C-104E-8A1C-5A8C9E1A53F0}" type="datetimeFigureOut">
              <a:rPr lang="en-US" smtClean="0"/>
              <a:t>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4461D7-2C92-B944-AF36-9A6FE66ADCC6}" type="slidenum">
              <a:rPr lang="en-US" smtClean="0"/>
              <a:t>‹#›</a:t>
            </a:fld>
            <a:endParaRPr lang="en-US"/>
          </a:p>
        </p:txBody>
      </p:sp>
    </p:spTree>
    <p:extLst>
      <p:ext uri="{BB962C8B-B14F-4D97-AF65-F5344CB8AC3E}">
        <p14:creationId xmlns:p14="http://schemas.microsoft.com/office/powerpoint/2010/main" val="1089326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81FC1AB-544C-104E-8A1C-5A8C9E1A53F0}" type="datetimeFigureOut">
              <a:rPr lang="en-US" smtClean="0"/>
              <a:t>2/2/26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A54461D7-2C92-B944-AF36-9A6FE66ADCC6}"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21782563"/>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81FC1AB-544C-104E-8A1C-5A8C9E1A53F0}" type="datetimeFigureOut">
              <a:rPr lang="en-US" smtClean="0"/>
              <a:t>2/2/26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A54461D7-2C92-B944-AF36-9A6FE66ADCC6}" type="slidenum">
              <a:rPr lang="en-US" smtClean="0"/>
              <a:t>‹#›</a:t>
            </a:fld>
            <a:endParaRPr lang="en-US"/>
          </a:p>
        </p:txBody>
      </p:sp>
    </p:spTree>
    <p:extLst>
      <p:ext uri="{BB962C8B-B14F-4D97-AF65-F5344CB8AC3E}">
        <p14:creationId xmlns:p14="http://schemas.microsoft.com/office/powerpoint/2010/main" val="1301965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1FC1AB-544C-104E-8A1C-5A8C9E1A53F0}"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4461D7-2C92-B944-AF36-9A6FE66ADCC6}" type="slidenum">
              <a:rPr lang="en-US" smtClean="0"/>
              <a:t>‹#›</a:t>
            </a:fld>
            <a:endParaRPr lang="en-US"/>
          </a:p>
        </p:txBody>
      </p:sp>
    </p:spTree>
    <p:extLst>
      <p:ext uri="{BB962C8B-B14F-4D97-AF65-F5344CB8AC3E}">
        <p14:creationId xmlns:p14="http://schemas.microsoft.com/office/powerpoint/2010/main" val="2134766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1FC1AB-544C-104E-8A1C-5A8C9E1A53F0}" type="datetimeFigureOut">
              <a:rPr lang="en-US" smtClean="0"/>
              <a:t>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4461D7-2C92-B944-AF36-9A6FE66ADCC6}" type="slidenum">
              <a:rPr lang="en-US" smtClean="0"/>
              <a:t>‹#›</a:t>
            </a:fld>
            <a:endParaRPr lang="en-US"/>
          </a:p>
        </p:txBody>
      </p:sp>
    </p:spTree>
    <p:extLst>
      <p:ext uri="{BB962C8B-B14F-4D97-AF65-F5344CB8AC3E}">
        <p14:creationId xmlns:p14="http://schemas.microsoft.com/office/powerpoint/2010/main" val="1347861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81FC1AB-544C-104E-8A1C-5A8C9E1A53F0}" type="datetimeFigureOut">
              <a:rPr lang="en-US" smtClean="0"/>
              <a:t>2/2/26</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A54461D7-2C92-B944-AF36-9A6FE66ADCC6}"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039589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4A61-9517-4352-67A5-BC4FA651EC12}"/>
              </a:ext>
            </a:extLst>
          </p:cNvPr>
          <p:cNvSpPr>
            <a:spLocks noGrp="1"/>
          </p:cNvSpPr>
          <p:nvPr>
            <p:ph type="ctrTitle"/>
          </p:nvPr>
        </p:nvSpPr>
        <p:spPr/>
        <p:txBody>
          <a:bodyPr/>
          <a:lstStyle/>
          <a:p>
            <a:r>
              <a:rPr lang="en-US" dirty="0"/>
              <a:t>The multiple regression model I</a:t>
            </a:r>
          </a:p>
        </p:txBody>
      </p:sp>
      <p:sp>
        <p:nvSpPr>
          <p:cNvPr id="3" name="Subtitle 2">
            <a:extLst>
              <a:ext uri="{FF2B5EF4-FFF2-40B4-BE49-F238E27FC236}">
                <a16:creationId xmlns:a16="http://schemas.microsoft.com/office/drawing/2014/main" id="{790D30BD-937B-962E-D2ED-CD5D6DE19050}"/>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3380771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8A7E5-1BB7-BAB5-67A5-4C9497607B8B}"/>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E5B027-2071-A349-61AE-996F65AB41C1}"/>
                  </a:ext>
                </a:extLst>
              </p:cNvPr>
              <p:cNvSpPr>
                <a:spLocks noGrp="1"/>
              </p:cNvSpPr>
              <p:nvPr>
                <p:ph idx="1"/>
              </p:nvPr>
            </p:nvSpPr>
            <p:spPr/>
            <p:txBody>
              <a:bodyPr/>
              <a:lstStyle/>
              <a:p>
                <a:r>
                  <a:rPr lang="en-US" dirty="0"/>
                  <a:t>The primary drawback in using simple regression analysis for empirical work is that it is very difficult to draw </a:t>
                </a:r>
                <a:r>
                  <a:rPr lang="en-US" i="1" dirty="0"/>
                  <a:t>ceteris paribus </a:t>
                </a:r>
                <a:r>
                  <a:rPr lang="en-US" dirty="0"/>
                  <a:t>conclusions about how </a:t>
                </a:r>
                <a14:m>
                  <m:oMath xmlns:m="http://schemas.openxmlformats.org/officeDocument/2006/math">
                    <m:r>
                      <a:rPr lang="en-US" i="1" dirty="0" smtClean="0">
                        <a:latin typeface="Cambria Math" panose="02040503050406030204" pitchFamily="18" charset="0"/>
                      </a:rPr>
                      <m:t>𝑥</m:t>
                    </m:r>
                  </m:oMath>
                </a14:m>
                <a:r>
                  <a:rPr lang="en-US" dirty="0"/>
                  <a:t> affects </a:t>
                </a:r>
                <a14:m>
                  <m:oMath xmlns:m="http://schemas.openxmlformats.org/officeDocument/2006/math">
                    <m:r>
                      <a:rPr lang="en-US" i="1" dirty="0" smtClean="0">
                        <a:latin typeface="Cambria Math" panose="02040503050406030204" pitchFamily="18" charset="0"/>
                      </a:rPr>
                      <m:t>𝑦</m:t>
                    </m:r>
                  </m:oMath>
                </a14:m>
                <a:r>
                  <a:rPr lang="en-US" dirty="0"/>
                  <a:t>: the key assumption SLR.4—that all other factors affecting </a:t>
                </a:r>
                <a14:m>
                  <m:oMath xmlns:m="http://schemas.openxmlformats.org/officeDocument/2006/math">
                    <m:r>
                      <a:rPr lang="en-US" i="1" dirty="0" smtClean="0">
                        <a:latin typeface="Cambria Math" panose="02040503050406030204" pitchFamily="18" charset="0"/>
                      </a:rPr>
                      <m:t>𝑦</m:t>
                    </m:r>
                  </m:oMath>
                </a14:m>
                <a:r>
                  <a:rPr lang="en-US" dirty="0"/>
                  <a:t> are uncorrelated with </a:t>
                </a:r>
                <a14:m>
                  <m:oMath xmlns:m="http://schemas.openxmlformats.org/officeDocument/2006/math">
                    <m:r>
                      <a:rPr lang="en-US" i="1" dirty="0" smtClean="0">
                        <a:latin typeface="Cambria Math" panose="02040503050406030204" pitchFamily="18" charset="0"/>
                      </a:rPr>
                      <m:t>𝑥</m:t>
                    </m:r>
                  </m:oMath>
                </a14:m>
                <a:r>
                  <a:rPr lang="en-US" dirty="0"/>
                  <a:t>, </a:t>
                </a:r>
                <a14:m>
                  <m:oMath xmlns:m="http://schemas.openxmlformats.org/officeDocument/2006/math">
                    <m:r>
                      <a:rPr lang="en-US" i="1" dirty="0" smtClean="0">
                        <a:latin typeface="Cambria Math" panose="02040503050406030204" pitchFamily="18" charset="0"/>
                      </a:rPr>
                      <m:t>𝐸</m:t>
                    </m:r>
                    <m:r>
                      <a:rPr lang="en-US" i="1" dirty="0" smtClean="0">
                        <a:latin typeface="Cambria Math" panose="02040503050406030204" pitchFamily="18" charset="0"/>
                      </a:rPr>
                      <m:t>(</m:t>
                    </m:r>
                    <m:r>
                      <a:rPr lang="en-CA" i="1">
                        <a:latin typeface="Cambria Math" panose="02040503050406030204" pitchFamily="18" charset="0"/>
                        <a:ea typeface="Cambria Math" panose="02040503050406030204" pitchFamily="18" charset="0"/>
                      </a:rPr>
                      <m:t>𝜇</m:t>
                    </m:r>
                    <m:r>
                      <a:rPr lang="en-US" i="1" dirty="0" err="1" smtClean="0">
                        <a:latin typeface="Cambria Math" panose="02040503050406030204" pitchFamily="18" charset="0"/>
                      </a:rPr>
                      <m:t>|</m:t>
                    </m:r>
                    <m:r>
                      <a:rPr lang="en-US" i="1" dirty="0" err="1" smtClean="0">
                        <a:latin typeface="Cambria Math" panose="02040503050406030204" pitchFamily="18" charset="0"/>
                      </a:rPr>
                      <m:t>𝑥</m:t>
                    </m:r>
                    <m:r>
                      <a:rPr lang="en-US" i="1" dirty="0" smtClean="0">
                        <a:latin typeface="Cambria Math" panose="02040503050406030204" pitchFamily="18" charset="0"/>
                      </a:rPr>
                      <m:t>)=0</m:t>
                    </m:r>
                  </m:oMath>
                </a14:m>
                <a:r>
                  <a:rPr lang="en-US" dirty="0"/>
                  <a:t>—is often unrealistic.</a:t>
                </a:r>
              </a:p>
            </p:txBody>
          </p:sp>
        </mc:Choice>
        <mc:Fallback xmlns="">
          <p:sp>
            <p:nvSpPr>
              <p:cNvPr id="3" name="Content Placeholder 2">
                <a:extLst>
                  <a:ext uri="{FF2B5EF4-FFF2-40B4-BE49-F238E27FC236}">
                    <a16:creationId xmlns:a16="http://schemas.microsoft.com/office/drawing/2014/main" id="{32E5B027-2071-A349-61AE-996F65AB41C1}"/>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648389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D2E8-5A0B-9B38-0039-D789164EB42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1285874-D65C-B9BA-C757-EB6D4085EA11}"/>
              </a:ext>
            </a:extLst>
          </p:cNvPr>
          <p:cNvSpPr>
            <a:spLocks noGrp="1"/>
          </p:cNvSpPr>
          <p:nvPr>
            <p:ph idx="1"/>
          </p:nvPr>
        </p:nvSpPr>
        <p:spPr/>
        <p:txBody>
          <a:bodyPr/>
          <a:lstStyle/>
          <a:p>
            <a:endParaRPr lang="en-US" dirty="0"/>
          </a:p>
          <a:p>
            <a:endParaRPr lang="en-US" dirty="0"/>
          </a:p>
          <a:p>
            <a:r>
              <a:rPr lang="en-US" dirty="0"/>
              <a:t>Go to code for 7 Multiple Regression Model I.R / Vignette 6.1</a:t>
            </a:r>
          </a:p>
          <a:p>
            <a:endParaRPr lang="en-US" dirty="0"/>
          </a:p>
        </p:txBody>
      </p:sp>
    </p:spTree>
    <p:extLst>
      <p:ext uri="{BB962C8B-B14F-4D97-AF65-F5344CB8AC3E}">
        <p14:creationId xmlns:p14="http://schemas.microsoft.com/office/powerpoint/2010/main" val="3615570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5B32C-6493-2D0A-8AB5-6C152CEEBB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F534C9-89DD-8E84-4474-A1576356ADC9}"/>
              </a:ext>
            </a:extLst>
          </p:cNvPr>
          <p:cNvSpPr>
            <a:spLocks noGrp="1"/>
          </p:cNvSpPr>
          <p:nvPr>
            <p:ph idx="1"/>
          </p:nvPr>
        </p:nvSpPr>
        <p:spPr/>
        <p:txBody>
          <a:bodyPr/>
          <a:lstStyle/>
          <a:p>
            <a:r>
              <a:rPr lang="en-US" dirty="0"/>
              <a:t>In this case, we have the following DAG:</a:t>
            </a:r>
          </a:p>
          <a:p>
            <a:pPr marL="0" indent="0">
              <a:buNone/>
            </a:pPr>
            <a:endParaRPr lang="en-US" dirty="0"/>
          </a:p>
        </p:txBody>
      </p:sp>
      <p:grpSp>
        <p:nvGrpSpPr>
          <p:cNvPr id="4" name="Group 3">
            <a:extLst>
              <a:ext uri="{FF2B5EF4-FFF2-40B4-BE49-F238E27FC236}">
                <a16:creationId xmlns:a16="http://schemas.microsoft.com/office/drawing/2014/main" id="{E3E71851-0291-7590-52A9-C50C1B8F8C4B}"/>
              </a:ext>
            </a:extLst>
          </p:cNvPr>
          <p:cNvGrpSpPr/>
          <p:nvPr/>
        </p:nvGrpSpPr>
        <p:grpSpPr>
          <a:xfrm>
            <a:off x="4280210" y="3069935"/>
            <a:ext cx="3631580" cy="2025722"/>
            <a:chOff x="4280210" y="4448227"/>
            <a:chExt cx="3631580" cy="2025722"/>
          </a:xfrm>
        </p:grpSpPr>
        <p:sp>
          <p:nvSpPr>
            <p:cNvPr id="5" name="Oval 4">
              <a:extLst>
                <a:ext uri="{FF2B5EF4-FFF2-40B4-BE49-F238E27FC236}">
                  <a16:creationId xmlns:a16="http://schemas.microsoft.com/office/drawing/2014/main" id="{FC83D59F-C488-74AE-FACE-B0E326195943}"/>
                </a:ext>
              </a:extLst>
            </p:cNvPr>
            <p:cNvSpPr/>
            <p:nvPr/>
          </p:nvSpPr>
          <p:spPr>
            <a:xfrm>
              <a:off x="4280210" y="4448227"/>
              <a:ext cx="524107" cy="534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solidFill>
                    <a:sysClr val="windowText" lastClr="000000"/>
                  </a:solidFill>
                  <a:latin typeface="Garamond" panose="02020404030301010803" pitchFamily="18" charset="0"/>
                </a:rPr>
                <a:t>W</a:t>
              </a:r>
              <a:endParaRPr lang="es-ES_tradnl" sz="1100" dirty="0">
                <a:solidFill>
                  <a:sysClr val="windowText" lastClr="000000"/>
                </a:solidFill>
                <a:latin typeface="Garamond" panose="02020404030301010803" pitchFamily="18" charset="0"/>
              </a:endParaRPr>
            </a:p>
          </p:txBody>
        </p:sp>
        <p:sp>
          <p:nvSpPr>
            <p:cNvPr id="6" name="Oval 5">
              <a:extLst>
                <a:ext uri="{FF2B5EF4-FFF2-40B4-BE49-F238E27FC236}">
                  <a16:creationId xmlns:a16="http://schemas.microsoft.com/office/drawing/2014/main" id="{4A200294-2FF4-6269-2414-0B63DF9F1E36}"/>
                </a:ext>
              </a:extLst>
            </p:cNvPr>
            <p:cNvSpPr/>
            <p:nvPr/>
          </p:nvSpPr>
          <p:spPr>
            <a:xfrm>
              <a:off x="7387683" y="4448227"/>
              <a:ext cx="524107" cy="534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solidFill>
                    <a:sysClr val="windowText" lastClr="000000"/>
                  </a:solidFill>
                  <a:latin typeface="Garamond" panose="02020404030301010803" pitchFamily="18" charset="0"/>
                </a:rPr>
                <a:t>I</a:t>
              </a:r>
            </a:p>
          </p:txBody>
        </p:sp>
        <p:sp>
          <p:nvSpPr>
            <p:cNvPr id="7" name="Oval 6">
              <a:extLst>
                <a:ext uri="{FF2B5EF4-FFF2-40B4-BE49-F238E27FC236}">
                  <a16:creationId xmlns:a16="http://schemas.microsoft.com/office/drawing/2014/main" id="{D271BDF8-AB4F-EB4C-F1E9-BD13E9562FC0}"/>
                </a:ext>
              </a:extLst>
            </p:cNvPr>
            <p:cNvSpPr/>
            <p:nvPr/>
          </p:nvSpPr>
          <p:spPr>
            <a:xfrm>
              <a:off x="5781907" y="5939802"/>
              <a:ext cx="524107" cy="534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900" dirty="0" err="1">
                  <a:solidFill>
                    <a:sysClr val="windowText" lastClr="000000"/>
                  </a:solidFill>
                  <a:latin typeface="Garamond" panose="02020404030301010803" pitchFamily="18" charset="0"/>
                </a:rPr>
                <a:t>Urb</a:t>
              </a:r>
              <a:endParaRPr lang="es-ES_tradnl" sz="900" dirty="0">
                <a:solidFill>
                  <a:sysClr val="windowText" lastClr="000000"/>
                </a:solidFill>
                <a:latin typeface="Garamond" panose="02020404030301010803" pitchFamily="18" charset="0"/>
              </a:endParaRPr>
            </a:p>
          </p:txBody>
        </p:sp>
        <p:cxnSp>
          <p:nvCxnSpPr>
            <p:cNvPr id="8" name="Straight Arrow Connector 7">
              <a:extLst>
                <a:ext uri="{FF2B5EF4-FFF2-40B4-BE49-F238E27FC236}">
                  <a16:creationId xmlns:a16="http://schemas.microsoft.com/office/drawing/2014/main" id="{C14F9A3B-36F6-9589-D733-296F12F27922}"/>
                </a:ext>
              </a:extLst>
            </p:cNvPr>
            <p:cNvCxnSpPr>
              <a:cxnSpLocks/>
            </p:cNvCxnSpPr>
            <p:nvPr/>
          </p:nvCxnSpPr>
          <p:spPr>
            <a:xfrm>
              <a:off x="4947920" y="4715301"/>
              <a:ext cx="2306320" cy="0"/>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D951389-FB2A-554D-C1DE-4F500A2FE257}"/>
                </a:ext>
              </a:extLst>
            </p:cNvPr>
            <p:cNvCxnSpPr>
              <a:cxnSpLocks/>
            </p:cNvCxnSpPr>
            <p:nvPr/>
          </p:nvCxnSpPr>
          <p:spPr>
            <a:xfrm flipH="1" flipV="1">
              <a:off x="4804317" y="4982374"/>
              <a:ext cx="977590" cy="1051008"/>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C7F4479-06EB-7A1D-7149-5CC5E800FA64}"/>
                </a:ext>
              </a:extLst>
            </p:cNvPr>
            <p:cNvCxnSpPr>
              <a:cxnSpLocks/>
            </p:cNvCxnSpPr>
            <p:nvPr/>
          </p:nvCxnSpPr>
          <p:spPr>
            <a:xfrm flipV="1">
              <a:off x="6340839" y="4982374"/>
              <a:ext cx="1046844" cy="1051008"/>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65163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677D9-1D79-7D95-C70E-D7F4007938D5}"/>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10463A-1AD2-DA54-AFFE-EE0E92799FC0}"/>
                  </a:ext>
                </a:extLst>
              </p:cNvPr>
              <p:cNvSpPr>
                <a:spLocks noGrp="1"/>
              </p:cNvSpPr>
              <p:nvPr>
                <p:ph idx="1"/>
              </p:nvPr>
            </p:nvSpPr>
            <p:spPr/>
            <p:txBody>
              <a:bodyPr>
                <a:normAutofit fontScale="92500" lnSpcReduction="20000"/>
              </a:bodyPr>
              <a:lstStyle/>
              <a:p>
                <a:pPr marL="0" indent="0">
                  <a:buNone/>
                </a:pPr>
                <a:r>
                  <a:rPr lang="en-US" dirty="0"/>
                  <a:t>Or, we have the following population regression functions:</a:t>
                </a:r>
              </a:p>
              <a:p>
                <a:pPr marL="0" indent="0">
                  <a:buNone/>
                </a:pPr>
                <a:endParaRPr lang="en-CA" b="0" i="1" dirty="0">
                  <a:latin typeface="Cambria Math" panose="02040503050406030204" pitchFamily="18" charset="0"/>
                </a:endParaRPr>
              </a:p>
              <a:p>
                <a:pPr marL="0" indent="0">
                  <a:buNone/>
                </a:pPr>
                <a14:m>
                  <m:oMathPara xmlns:m="http://schemas.openxmlformats.org/officeDocument/2006/math">
                    <m:oMathParaPr>
                      <m:jc m:val="center"/>
                    </m:oMathParaPr>
                    <m:oMath xmlns:m="http://schemas.openxmlformats.org/officeDocument/2006/math">
                      <m:r>
                        <a:rPr lang="en-CA" b="0" i="1" smtClean="0">
                          <a:latin typeface="Cambria Math" panose="02040503050406030204" pitchFamily="18" charset="0"/>
                        </a:rPr>
                        <m:t>𝑖𝑛𝑐𝑜𝑚𝑒</m:t>
                      </m:r>
                      <m:r>
                        <a:rPr lang="en-CA" b="0" i="1" smtClean="0">
                          <a:latin typeface="Cambria Math" panose="02040503050406030204" pitchFamily="18" charset="0"/>
                        </a:rPr>
                        <m:t>=1+2∗</m:t>
                      </m:r>
                      <m:r>
                        <a:rPr lang="en-CA" b="0" i="1" smtClean="0">
                          <a:latin typeface="Cambria Math" panose="02040503050406030204" pitchFamily="18" charset="0"/>
                        </a:rPr>
                        <m:t>𝑢𝑟𝑏𝑎𝑛</m:t>
                      </m:r>
                      <m:r>
                        <a:rPr lang="en-CA" b="0" i="1" smtClean="0">
                          <a:latin typeface="Cambria Math" panose="02040503050406030204" pitchFamily="18" charset="0"/>
                        </a:rPr>
                        <m:t>−0.3∗</m:t>
                      </m:r>
                      <m:r>
                        <a:rPr lang="en-CA" b="0" i="1" smtClean="0">
                          <a:latin typeface="Cambria Math" panose="02040503050406030204" pitchFamily="18" charset="0"/>
                        </a:rPr>
                        <m:t>𝑤𝑎𝑔𝑒𝑠</m:t>
                      </m:r>
                      <m:r>
                        <a:rPr lang="en-CA" b="0" i="1" smtClean="0">
                          <a:latin typeface="Cambria Math" panose="02040503050406030204" pitchFamily="18" charset="0"/>
                        </a:rPr>
                        <m:t>+</m:t>
                      </m:r>
                      <m:r>
                        <a:rPr lang="en-CA" i="1">
                          <a:latin typeface="Cambria Math" panose="02040503050406030204" pitchFamily="18" charset="0"/>
                          <a:ea typeface="Cambria Math" panose="02040503050406030204" pitchFamily="18" charset="0"/>
                        </a:rPr>
                        <m:t>𝜇</m:t>
                      </m:r>
                    </m:oMath>
                  </m:oMathPara>
                </a14:m>
                <a:endParaRPr lang="en-US" dirty="0"/>
              </a:p>
              <a:p>
                <a:pPr marL="0" indent="0">
                  <a:buNone/>
                </a:pPr>
                <a14:m>
                  <m:oMathPara xmlns:m="http://schemas.openxmlformats.org/officeDocument/2006/math">
                    <m:oMathParaPr>
                      <m:jc m:val="center"/>
                    </m:oMathParaPr>
                    <m:oMath xmlns:m="http://schemas.openxmlformats.org/officeDocument/2006/math">
                      <m:r>
                        <a:rPr lang="en-CA" b="0" i="1" smtClean="0">
                          <a:latin typeface="Cambria Math" panose="02040503050406030204" pitchFamily="18" charset="0"/>
                        </a:rPr>
                        <m:t>𝑤𝑎𝑔𝑒𝑠</m:t>
                      </m:r>
                      <m:r>
                        <a:rPr lang="en-CA" b="0" i="1" smtClean="0">
                          <a:latin typeface="Cambria Math" panose="02040503050406030204" pitchFamily="18" charset="0"/>
                        </a:rPr>
                        <m:t>=3∗</m:t>
                      </m:r>
                      <m:r>
                        <a:rPr lang="en-CA" b="0" i="1" smtClean="0">
                          <a:latin typeface="Cambria Math" panose="02040503050406030204" pitchFamily="18" charset="0"/>
                        </a:rPr>
                        <m:t>𝑢𝑟𝑏𝑎𝑛</m:t>
                      </m:r>
                      <m:r>
                        <a:rPr lang="en-CA" b="0" i="1" smtClean="0">
                          <a:latin typeface="Cambria Math" panose="02040503050406030204" pitchFamily="18" charset="0"/>
                        </a:rPr>
                        <m:t>+</m:t>
                      </m:r>
                      <m:r>
                        <a:rPr lang="en-CA" i="1" smtClean="0">
                          <a:latin typeface="Cambria Math" panose="02040503050406030204" pitchFamily="18" charset="0"/>
                          <a:ea typeface="Cambria Math" panose="02040503050406030204" pitchFamily="18" charset="0"/>
                        </a:rPr>
                        <m:t>𝜐</m:t>
                      </m:r>
                    </m:oMath>
                  </m:oMathPara>
                </a14:m>
                <a:endParaRPr lang="en-US" dirty="0"/>
              </a:p>
              <a:p>
                <a:pPr marL="0" indent="0">
                  <a:buNone/>
                </a:pPr>
                <a:endParaRPr lang="en-US" dirty="0"/>
              </a:p>
              <a:p>
                <a:pPr marL="0" indent="0">
                  <a:buNone/>
                </a:pPr>
                <a:r>
                  <a:rPr lang="en-US" dirty="0"/>
                  <a:t>Yet we are estimating the following OLS regression:</a:t>
                </a:r>
              </a:p>
              <a:p>
                <a:pPr marL="0" indent="0">
                  <a:buNone/>
                </a:pPr>
                <a:endParaRPr lang="en-US" dirty="0"/>
              </a:p>
              <a:p>
                <a:pPr marL="0" indent="0">
                  <a:buNone/>
                </a:pPr>
                <a14:m>
                  <m:oMathPara xmlns:m="http://schemas.openxmlformats.org/officeDocument/2006/math">
                    <m:oMathParaPr>
                      <m:jc m:val="center"/>
                    </m:oMathParaPr>
                    <m:oMath xmlns:m="http://schemas.openxmlformats.org/officeDocument/2006/math">
                      <m:acc>
                        <m:accPr>
                          <m:chr m:val="̂"/>
                          <m:ctrlPr>
                            <a:rPr lang="en-CA" i="1" dirty="0">
                              <a:latin typeface="Cambria Math" panose="02040503050406030204" pitchFamily="18" charset="0"/>
                            </a:rPr>
                          </m:ctrlPr>
                        </m:accPr>
                        <m:e>
                          <m:sSub>
                            <m:sSubPr>
                              <m:ctrlPr>
                                <a:rPr lang="en-US" i="1">
                                  <a:latin typeface="Cambria Math" panose="02040503050406030204" pitchFamily="18" charset="0"/>
                                </a:rPr>
                              </m:ctrlPr>
                            </m:sSubPr>
                            <m:e>
                              <m:r>
                                <a:rPr lang="en-CA" b="0" i="1" smtClean="0">
                                  <a:latin typeface="Cambria Math" panose="02040503050406030204" pitchFamily="18" charset="0"/>
                                </a:rPr>
                                <m:t>𝑖𝑛𝑐𝑜𝑚𝑒</m:t>
                              </m:r>
                            </m:e>
                            <m:sub>
                              <m:r>
                                <a:rPr lang="en-CA" i="1">
                                  <a:latin typeface="Cambria Math" panose="02040503050406030204" pitchFamily="18" charset="0"/>
                                </a:rPr>
                                <m:t>𝑖</m:t>
                              </m:r>
                            </m:sub>
                          </m:sSub>
                        </m:e>
                      </m:acc>
                      <m:r>
                        <a:rPr lang="en-CA" b="0" i="1" smtClean="0">
                          <a:latin typeface="Cambria Math" panose="02040503050406030204" pitchFamily="18" charset="0"/>
                        </a:rPr>
                        <m:t>=</m:t>
                      </m:r>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s-ES" i="1">
                              <a:latin typeface="Cambria Math" panose="02040503050406030204" pitchFamily="18" charset="0"/>
                            </a:rPr>
                            <m:t> </m:t>
                          </m:r>
                        </m:e>
                      </m:acc>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1</m:t>
                              </m:r>
                            </m:sub>
                          </m:sSub>
                        </m:e>
                      </m:acc>
                      <m:sSub>
                        <m:sSubPr>
                          <m:ctrlPr>
                            <a:rPr lang="en-US" i="1">
                              <a:latin typeface="Cambria Math" panose="02040503050406030204" pitchFamily="18" charset="0"/>
                            </a:rPr>
                          </m:ctrlPr>
                        </m:sSubPr>
                        <m:e>
                          <m:r>
                            <a:rPr lang="en-CA" b="0" i="1" smtClean="0">
                              <a:latin typeface="Cambria Math" panose="02040503050406030204" pitchFamily="18" charset="0"/>
                            </a:rPr>
                            <m:t>𝑤𝑎𝑔𝑒𝑠</m:t>
                          </m:r>
                        </m:e>
                        <m:sub>
                          <m:r>
                            <a:rPr lang="en-CA" i="1">
                              <a:latin typeface="Cambria Math" panose="02040503050406030204" pitchFamily="18" charset="0"/>
                            </a:rPr>
                            <m:t>𝑖</m:t>
                          </m:r>
                        </m:sub>
                      </m:sSub>
                      <m:r>
                        <a:rPr lang="en-CA" b="0" i="1" smtClean="0">
                          <a:latin typeface="Cambria Math" panose="02040503050406030204" pitchFamily="18" charset="0"/>
                        </a:rPr>
                        <m:t>+</m:t>
                      </m:r>
                      <m:acc>
                        <m:accPr>
                          <m:chr m:val="̂"/>
                          <m:ctrlPr>
                            <a:rPr lang="en-CA" i="1" dirty="0">
                              <a:latin typeface="Cambria Math" panose="02040503050406030204" pitchFamily="18" charset="0"/>
                            </a:rPr>
                          </m:ctrlPr>
                        </m:accPr>
                        <m:e>
                          <m:sSub>
                            <m:sSubPr>
                              <m:ctrlPr>
                                <a:rPr lang="en-CA" i="1" dirty="0">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dirty="0">
                                  <a:latin typeface="Cambria Math" panose="02040503050406030204" pitchFamily="18" charset="0"/>
                                </a:rPr>
                                <m:t>𝑖</m:t>
                              </m:r>
                            </m:sub>
                          </m:sSub>
                        </m:e>
                      </m:acc>
                    </m:oMath>
                  </m:oMathPara>
                </a14:m>
                <a:endParaRPr lang="en-US" dirty="0"/>
              </a:p>
              <a:p>
                <a:pPr marL="0" indent="0">
                  <a:buNone/>
                </a:pPr>
                <a:endParaRPr lang="en-US" dirty="0"/>
              </a:p>
              <a:p>
                <a:pPr marL="0" indent="0">
                  <a:buNone/>
                </a:pPr>
                <a:r>
                  <a:rPr lang="en-US" dirty="0"/>
                  <a:t>Where did </a:t>
                </a:r>
                <a14:m>
                  <m:oMath xmlns:m="http://schemas.openxmlformats.org/officeDocument/2006/math">
                    <m:r>
                      <a:rPr lang="en-CA" b="0" i="1" smtClean="0">
                        <a:latin typeface="Cambria Math" panose="02040503050406030204" pitchFamily="18" charset="0"/>
                      </a:rPr>
                      <m:t>𝑢𝑟𝑏𝑎𝑛</m:t>
                    </m:r>
                  </m:oMath>
                </a14:m>
                <a:r>
                  <a:rPr lang="en-US" dirty="0"/>
                  <a:t> go?</a:t>
                </a:r>
              </a:p>
            </p:txBody>
          </p:sp>
        </mc:Choice>
        <mc:Fallback xmlns="">
          <p:sp>
            <p:nvSpPr>
              <p:cNvPr id="3" name="Content Placeholder 2">
                <a:extLst>
                  <a:ext uri="{FF2B5EF4-FFF2-40B4-BE49-F238E27FC236}">
                    <a16:creationId xmlns:a16="http://schemas.microsoft.com/office/drawing/2014/main" id="{B110463A-1AD2-DA54-AFFE-EE0E92799FC0}"/>
                  </a:ext>
                </a:extLst>
              </p:cNvPr>
              <p:cNvSpPr>
                <a:spLocks noGrp="1" noRot="1" noChangeAspect="1" noMove="1" noResize="1" noEditPoints="1" noAdjustHandles="1" noChangeArrowheads="1" noChangeShapeType="1" noTextEdit="1"/>
              </p:cNvSpPr>
              <p:nvPr>
                <p:ph idx="1"/>
              </p:nvPr>
            </p:nvSpPr>
            <p:spPr>
              <a:blipFill>
                <a:blip r:embed="rId2"/>
                <a:stretch>
                  <a:fillRect l="-498" t="-1761"/>
                </a:stretch>
              </a:blipFill>
            </p:spPr>
            <p:txBody>
              <a:bodyPr/>
              <a:lstStyle/>
              <a:p>
                <a:r>
                  <a:rPr lang="en-US">
                    <a:noFill/>
                  </a:rPr>
                  <a:t> </a:t>
                </a:r>
              </a:p>
            </p:txBody>
          </p:sp>
        </mc:Fallback>
      </mc:AlternateContent>
    </p:spTree>
    <p:extLst>
      <p:ext uri="{BB962C8B-B14F-4D97-AF65-F5344CB8AC3E}">
        <p14:creationId xmlns:p14="http://schemas.microsoft.com/office/powerpoint/2010/main" val="731650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E0770-D6D7-8A66-AC67-6351E4D56A97}"/>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7B920F-F4A3-9838-0D52-FF327171477E}"/>
                  </a:ext>
                </a:extLst>
              </p:cNvPr>
              <p:cNvSpPr>
                <a:spLocks noGrp="1"/>
              </p:cNvSpPr>
              <p:nvPr>
                <p:ph idx="1"/>
              </p:nvPr>
            </p:nvSpPr>
            <p:spPr/>
            <p:txBody>
              <a:bodyPr/>
              <a:lstStyle/>
              <a:p>
                <a:r>
                  <a:rPr lang="en-US" dirty="0"/>
                  <a:t>That’s right, to the error term, </a:t>
                </a:r>
                <a14:m>
                  <m:oMath xmlns:m="http://schemas.openxmlformats.org/officeDocument/2006/math">
                    <m:acc>
                      <m:accPr>
                        <m:chr m:val="̂"/>
                        <m:ctrlPr>
                          <a:rPr lang="en-CA" i="1" dirty="0" smtClean="0">
                            <a:latin typeface="Cambria Math" panose="02040503050406030204" pitchFamily="18" charset="0"/>
                          </a:rPr>
                        </m:ctrlPr>
                      </m:accPr>
                      <m:e>
                        <m:r>
                          <a:rPr lang="en-CA" i="1">
                            <a:latin typeface="Cambria Math" panose="02040503050406030204" pitchFamily="18" charset="0"/>
                            <a:ea typeface="Cambria Math" panose="02040503050406030204" pitchFamily="18" charset="0"/>
                          </a:rPr>
                          <m:t>𝜇</m:t>
                        </m:r>
                      </m:e>
                    </m:acc>
                  </m:oMath>
                </a14:m>
                <a:r>
                  <a:rPr lang="en-US" dirty="0"/>
                  <a:t>. </a:t>
                </a:r>
              </a:p>
              <a:p>
                <a:r>
                  <a:rPr lang="en-US" dirty="0"/>
                  <a:t>BUT… if </a:t>
                </a:r>
                <a14:m>
                  <m:oMath xmlns:m="http://schemas.openxmlformats.org/officeDocument/2006/math">
                    <m:r>
                      <a:rPr lang="en-CA" b="0" i="1" smtClean="0">
                        <a:latin typeface="Cambria Math" panose="02040503050406030204" pitchFamily="18" charset="0"/>
                      </a:rPr>
                      <m:t>𝑢𝑟𝑏𝑎𝑛</m:t>
                    </m:r>
                  </m:oMath>
                </a14:m>
                <a:r>
                  <a:rPr lang="en-US" dirty="0"/>
                  <a:t> is going to the error term, </a:t>
                </a:r>
                <a14:m>
                  <m:oMath xmlns:m="http://schemas.openxmlformats.org/officeDocument/2006/math">
                    <m:acc>
                      <m:accPr>
                        <m:chr m:val="̂"/>
                        <m:ctrlPr>
                          <a:rPr lang="en-CA" i="1" dirty="0">
                            <a:latin typeface="Cambria Math" panose="02040503050406030204" pitchFamily="18" charset="0"/>
                          </a:rPr>
                        </m:ctrlPr>
                      </m:accPr>
                      <m:e>
                        <m:r>
                          <a:rPr lang="en-CA" i="1">
                            <a:latin typeface="Cambria Math" panose="02040503050406030204" pitchFamily="18" charset="0"/>
                            <a:ea typeface="Cambria Math" panose="02040503050406030204" pitchFamily="18" charset="0"/>
                          </a:rPr>
                          <m:t>𝜇</m:t>
                        </m:r>
                      </m:e>
                    </m:acc>
                  </m:oMath>
                </a14:m>
                <a:r>
                  <a:rPr lang="en-US" dirty="0"/>
                  <a:t>, and we also know that </a:t>
                </a:r>
              </a:p>
              <a:p>
                <a:pPr marL="0" indent="0" algn="ctr">
                  <a:buNone/>
                </a:pPr>
                <a:endParaRPr lang="en-CA"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𝑤𝑎𝑔𝑒𝑠</m:t>
                      </m:r>
                      <m:r>
                        <a:rPr lang="en-CA" b="0" i="1" smtClean="0">
                          <a:latin typeface="Cambria Math" panose="02040503050406030204" pitchFamily="18" charset="0"/>
                        </a:rPr>
                        <m:t>=3∗</m:t>
                      </m:r>
                      <m:r>
                        <a:rPr lang="en-CA" b="0" i="1" smtClean="0">
                          <a:latin typeface="Cambria Math" panose="02040503050406030204" pitchFamily="18" charset="0"/>
                        </a:rPr>
                        <m:t>𝑢𝑟𝑏𝑎𝑛</m:t>
                      </m:r>
                      <m:r>
                        <a:rPr lang="en-CA" b="0" i="1" smtClean="0">
                          <a:latin typeface="Cambria Math" panose="02040503050406030204" pitchFamily="18" charset="0"/>
                        </a:rPr>
                        <m:t>+</m:t>
                      </m:r>
                      <m:r>
                        <a:rPr lang="en-CA" i="1" smtClean="0">
                          <a:latin typeface="Cambria Math" panose="02040503050406030204" pitchFamily="18" charset="0"/>
                          <a:ea typeface="Cambria Math" panose="02040503050406030204" pitchFamily="18" charset="0"/>
                        </a:rPr>
                        <m:t>𝜐</m:t>
                      </m:r>
                    </m:oMath>
                  </m:oMathPara>
                </a14:m>
                <a:endParaRPr lang="en-US" dirty="0"/>
              </a:p>
              <a:p>
                <a:endParaRPr lang="en-US" dirty="0"/>
              </a:p>
              <a:p>
                <a:r>
                  <a:rPr lang="en-US" dirty="0"/>
                  <a:t>Then </a:t>
                </a:r>
                <a14:m>
                  <m:oMath xmlns:m="http://schemas.openxmlformats.org/officeDocument/2006/math">
                    <m:r>
                      <a:rPr lang="en-US" i="1" dirty="0">
                        <a:latin typeface="Cambria Math" panose="02040503050406030204" pitchFamily="18" charset="0"/>
                      </a:rPr>
                      <m:t>𝐸</m:t>
                    </m:r>
                    <m:r>
                      <a:rPr lang="en-US" i="1" dirty="0">
                        <a:latin typeface="Cambria Math" panose="02040503050406030204" pitchFamily="18" charset="0"/>
                      </a:rPr>
                      <m:t>(</m:t>
                    </m:r>
                    <m:r>
                      <a:rPr lang="en-CA" i="1">
                        <a:latin typeface="Cambria Math" panose="02040503050406030204" pitchFamily="18" charset="0"/>
                        <a:ea typeface="Cambria Math" panose="02040503050406030204" pitchFamily="18" charset="0"/>
                      </a:rPr>
                      <m:t>𝜇</m:t>
                    </m:r>
                    <m:r>
                      <a:rPr lang="en-US" i="1" dirty="0" err="1">
                        <a:latin typeface="Cambria Math" panose="02040503050406030204" pitchFamily="18" charset="0"/>
                      </a:rPr>
                      <m:t>|</m:t>
                    </m:r>
                    <m:r>
                      <a:rPr lang="en-CA" b="0" i="1" dirty="0" smtClean="0">
                        <a:latin typeface="Cambria Math" panose="02040503050406030204" pitchFamily="18" charset="0"/>
                      </a:rPr>
                      <m:t>𝑤𝑎𝑔𝑒𝑠</m:t>
                    </m:r>
                    <m:r>
                      <a:rPr lang="en-US" i="1" dirty="0">
                        <a:latin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m:t>
                    </m:r>
                    <m:r>
                      <a:rPr lang="en-CA" b="0" i="1" dirty="0" smtClean="0">
                        <a:latin typeface="Cambria Math" panose="02040503050406030204" pitchFamily="18" charset="0"/>
                        <a:ea typeface="Cambria Math" panose="02040503050406030204" pitchFamily="18" charset="0"/>
                      </a:rPr>
                      <m:t>0</m:t>
                    </m:r>
                  </m:oMath>
                </a14:m>
                <a:r>
                  <a:rPr lang="en-US" dirty="0"/>
                  <a:t> !! We are violating the very important SLR.4, thus rendering our OLS estimates </a:t>
                </a:r>
                <a:r>
                  <a:rPr lang="en-US" dirty="0">
                    <a:solidFill>
                      <a:schemeClr val="accent1"/>
                    </a:solidFill>
                  </a:rPr>
                  <a:t>biased</a:t>
                </a:r>
                <a:r>
                  <a:rPr lang="en-US" dirty="0"/>
                  <a:t>… </a:t>
                </a:r>
              </a:p>
            </p:txBody>
          </p:sp>
        </mc:Choice>
        <mc:Fallback xmlns="">
          <p:sp>
            <p:nvSpPr>
              <p:cNvPr id="3" name="Content Placeholder 2">
                <a:extLst>
                  <a:ext uri="{FF2B5EF4-FFF2-40B4-BE49-F238E27FC236}">
                    <a16:creationId xmlns:a16="http://schemas.microsoft.com/office/drawing/2014/main" id="{557B920F-F4A3-9838-0D52-FF327171477E}"/>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1860419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9AC8C-2F42-2359-C9F3-1084F53CDF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57E2A8-9CAA-7ACB-C15D-E7A62788EB07}"/>
              </a:ext>
            </a:extLst>
          </p:cNvPr>
          <p:cNvSpPr>
            <a:spLocks noGrp="1"/>
          </p:cNvSpPr>
          <p:nvPr>
            <p:ph idx="1"/>
          </p:nvPr>
        </p:nvSpPr>
        <p:spPr/>
        <p:txBody>
          <a:bodyPr>
            <a:normAutofit fontScale="85000" lnSpcReduction="20000"/>
          </a:bodyPr>
          <a:lstStyle/>
          <a:p>
            <a:r>
              <a:rPr lang="en-US" dirty="0"/>
              <a:t>What to do?</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We can remove everything from wages that is explained by urban, and remove everything income that is explained by urban, and we would have left…</a:t>
            </a:r>
          </a:p>
        </p:txBody>
      </p:sp>
      <p:grpSp>
        <p:nvGrpSpPr>
          <p:cNvPr id="4" name="Group 3">
            <a:extLst>
              <a:ext uri="{FF2B5EF4-FFF2-40B4-BE49-F238E27FC236}">
                <a16:creationId xmlns:a16="http://schemas.microsoft.com/office/drawing/2014/main" id="{1C3A9806-F30F-06E5-1C88-A59661C2E233}"/>
              </a:ext>
            </a:extLst>
          </p:cNvPr>
          <p:cNvGrpSpPr/>
          <p:nvPr/>
        </p:nvGrpSpPr>
        <p:grpSpPr>
          <a:xfrm>
            <a:off x="4280210" y="3069935"/>
            <a:ext cx="3631580" cy="2025722"/>
            <a:chOff x="4280210" y="4448227"/>
            <a:chExt cx="3631580" cy="2025722"/>
          </a:xfrm>
        </p:grpSpPr>
        <p:sp>
          <p:nvSpPr>
            <p:cNvPr id="5" name="Oval 4">
              <a:extLst>
                <a:ext uri="{FF2B5EF4-FFF2-40B4-BE49-F238E27FC236}">
                  <a16:creationId xmlns:a16="http://schemas.microsoft.com/office/drawing/2014/main" id="{158056BA-A30B-852C-5BC0-8AAC13B31B35}"/>
                </a:ext>
              </a:extLst>
            </p:cNvPr>
            <p:cNvSpPr/>
            <p:nvPr/>
          </p:nvSpPr>
          <p:spPr>
            <a:xfrm>
              <a:off x="4280210" y="4448227"/>
              <a:ext cx="524107" cy="534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solidFill>
                    <a:sysClr val="windowText" lastClr="000000"/>
                  </a:solidFill>
                  <a:latin typeface="Garamond" panose="02020404030301010803" pitchFamily="18" charset="0"/>
                </a:rPr>
                <a:t>W</a:t>
              </a:r>
              <a:endParaRPr lang="es-ES_tradnl" sz="1100" dirty="0">
                <a:solidFill>
                  <a:sysClr val="windowText" lastClr="000000"/>
                </a:solidFill>
                <a:latin typeface="Garamond" panose="02020404030301010803" pitchFamily="18" charset="0"/>
              </a:endParaRPr>
            </a:p>
          </p:txBody>
        </p:sp>
        <p:sp>
          <p:nvSpPr>
            <p:cNvPr id="6" name="Oval 5">
              <a:extLst>
                <a:ext uri="{FF2B5EF4-FFF2-40B4-BE49-F238E27FC236}">
                  <a16:creationId xmlns:a16="http://schemas.microsoft.com/office/drawing/2014/main" id="{533AC6D1-E93B-C55E-E715-AD9EF38ACAD1}"/>
                </a:ext>
              </a:extLst>
            </p:cNvPr>
            <p:cNvSpPr/>
            <p:nvPr/>
          </p:nvSpPr>
          <p:spPr>
            <a:xfrm>
              <a:off x="7387683" y="4448227"/>
              <a:ext cx="524107" cy="534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solidFill>
                    <a:sysClr val="windowText" lastClr="000000"/>
                  </a:solidFill>
                  <a:latin typeface="Garamond" panose="02020404030301010803" pitchFamily="18" charset="0"/>
                </a:rPr>
                <a:t>I</a:t>
              </a:r>
            </a:p>
          </p:txBody>
        </p:sp>
        <p:sp>
          <p:nvSpPr>
            <p:cNvPr id="7" name="Oval 6">
              <a:extLst>
                <a:ext uri="{FF2B5EF4-FFF2-40B4-BE49-F238E27FC236}">
                  <a16:creationId xmlns:a16="http://schemas.microsoft.com/office/drawing/2014/main" id="{3AE2FC46-FA10-4AE2-8351-E5AD0095F73B}"/>
                </a:ext>
              </a:extLst>
            </p:cNvPr>
            <p:cNvSpPr/>
            <p:nvPr/>
          </p:nvSpPr>
          <p:spPr>
            <a:xfrm>
              <a:off x="5781907" y="5939802"/>
              <a:ext cx="524107" cy="534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900" dirty="0" err="1">
                  <a:solidFill>
                    <a:sysClr val="windowText" lastClr="000000"/>
                  </a:solidFill>
                  <a:latin typeface="Garamond" panose="02020404030301010803" pitchFamily="18" charset="0"/>
                </a:rPr>
                <a:t>Urb</a:t>
              </a:r>
              <a:endParaRPr lang="es-ES_tradnl" sz="900" dirty="0">
                <a:solidFill>
                  <a:sysClr val="windowText" lastClr="000000"/>
                </a:solidFill>
                <a:latin typeface="Garamond" panose="02020404030301010803" pitchFamily="18" charset="0"/>
              </a:endParaRPr>
            </a:p>
          </p:txBody>
        </p:sp>
        <p:cxnSp>
          <p:nvCxnSpPr>
            <p:cNvPr id="8" name="Straight Arrow Connector 7">
              <a:extLst>
                <a:ext uri="{FF2B5EF4-FFF2-40B4-BE49-F238E27FC236}">
                  <a16:creationId xmlns:a16="http://schemas.microsoft.com/office/drawing/2014/main" id="{53802D50-83C2-FDAD-F046-F6B759AF7782}"/>
                </a:ext>
              </a:extLst>
            </p:cNvPr>
            <p:cNvCxnSpPr>
              <a:cxnSpLocks/>
            </p:cNvCxnSpPr>
            <p:nvPr/>
          </p:nvCxnSpPr>
          <p:spPr>
            <a:xfrm>
              <a:off x="4947920" y="4715301"/>
              <a:ext cx="2306320" cy="0"/>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A861D57-AFCE-F45E-629B-5C7AB95BB3D1}"/>
                </a:ext>
              </a:extLst>
            </p:cNvPr>
            <p:cNvCxnSpPr>
              <a:cxnSpLocks/>
            </p:cNvCxnSpPr>
            <p:nvPr/>
          </p:nvCxnSpPr>
          <p:spPr>
            <a:xfrm flipH="1" flipV="1">
              <a:off x="4804317" y="4982374"/>
              <a:ext cx="977590" cy="1051008"/>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23EFEBB-B743-CDEA-3CF6-B1E1656BDDF1}"/>
                </a:ext>
              </a:extLst>
            </p:cNvPr>
            <p:cNvCxnSpPr>
              <a:cxnSpLocks/>
            </p:cNvCxnSpPr>
            <p:nvPr/>
          </p:nvCxnSpPr>
          <p:spPr>
            <a:xfrm flipV="1">
              <a:off x="6340839" y="4982374"/>
              <a:ext cx="1046844" cy="1051008"/>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95103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5E335-63F9-58C2-D528-CA3B63A80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65B6E-8EBD-4ABA-DD5B-3B5324C8A1C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43F5FE9-061D-9F8E-6188-2335B5E4F148}"/>
              </a:ext>
            </a:extLst>
          </p:cNvPr>
          <p:cNvSpPr>
            <a:spLocks noGrp="1"/>
          </p:cNvSpPr>
          <p:nvPr>
            <p:ph idx="1"/>
          </p:nvPr>
        </p:nvSpPr>
        <p:spPr/>
        <p:txBody>
          <a:bodyPr/>
          <a:lstStyle/>
          <a:p>
            <a:endParaRPr lang="en-US" dirty="0"/>
          </a:p>
          <a:p>
            <a:endParaRPr lang="en-US" dirty="0"/>
          </a:p>
          <a:p>
            <a:r>
              <a:rPr lang="en-US" dirty="0"/>
              <a:t>Go to code for 7 Multiple Regression Model I.R / Vignette 6.2</a:t>
            </a:r>
          </a:p>
          <a:p>
            <a:endParaRPr lang="en-US" dirty="0"/>
          </a:p>
        </p:txBody>
      </p:sp>
    </p:spTree>
    <p:extLst>
      <p:ext uri="{BB962C8B-B14F-4D97-AF65-F5344CB8AC3E}">
        <p14:creationId xmlns:p14="http://schemas.microsoft.com/office/powerpoint/2010/main" val="2317331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E8240-5A09-B41F-C5D9-75A86D36C4D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9C4B8F-6383-6473-5125-56AD72FA8B56}"/>
              </a:ext>
            </a:extLst>
          </p:cNvPr>
          <p:cNvSpPr>
            <a:spLocks noGrp="1"/>
          </p:cNvSpPr>
          <p:nvPr>
            <p:ph idx="1"/>
          </p:nvPr>
        </p:nvSpPr>
        <p:spPr/>
        <p:txBody>
          <a:bodyPr/>
          <a:lstStyle/>
          <a:p>
            <a:endParaRPr lang="en-US" dirty="0"/>
          </a:p>
          <a:p>
            <a:endParaRPr lang="en-US" dirty="0"/>
          </a:p>
          <a:p>
            <a:r>
              <a:rPr lang="en-US" dirty="0"/>
              <a:t>Here is a graphical representation of what just happened:</a:t>
            </a:r>
          </a:p>
        </p:txBody>
      </p:sp>
    </p:spTree>
    <p:extLst>
      <p:ext uri="{BB962C8B-B14F-4D97-AF65-F5344CB8AC3E}">
        <p14:creationId xmlns:p14="http://schemas.microsoft.com/office/powerpoint/2010/main" val="2229266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2CC5C99-F802-4769-A1D1-6DE58064F270}"/>
              </a:ext>
            </a:extLst>
          </p:cNvPr>
          <p:cNvPicPr>
            <a:picLocks noChangeAspect="1"/>
          </p:cNvPicPr>
          <p:nvPr/>
        </p:nvPicPr>
        <p:blipFill>
          <a:blip r:embed="rId2"/>
          <a:stretch>
            <a:fillRect/>
          </a:stretch>
        </p:blipFill>
        <p:spPr>
          <a:xfrm>
            <a:off x="1815255" y="796343"/>
            <a:ext cx="8561490" cy="5265315"/>
          </a:xfrm>
          <a:prstGeom prst="rect">
            <a:avLst/>
          </a:prstGeom>
        </p:spPr>
      </p:pic>
    </p:spTree>
    <p:extLst>
      <p:ext uri="{BB962C8B-B14F-4D97-AF65-F5344CB8AC3E}">
        <p14:creationId xmlns:p14="http://schemas.microsoft.com/office/powerpoint/2010/main" val="1148289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CB1B5-2C72-8D64-989C-637AD123D0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C7A3F6-CB23-0A13-1452-93E07559DF27}"/>
              </a:ext>
            </a:extLst>
          </p:cNvPr>
          <p:cNvSpPr>
            <a:spLocks noGrp="1"/>
          </p:cNvSpPr>
          <p:nvPr>
            <p:ph idx="1"/>
          </p:nvPr>
        </p:nvSpPr>
        <p:spPr/>
        <p:txBody>
          <a:bodyPr/>
          <a:lstStyle/>
          <a:p>
            <a:endParaRPr lang="en-US" dirty="0"/>
          </a:p>
          <a:p>
            <a:r>
              <a:rPr lang="en-US" dirty="0"/>
              <a:t>We call this, to…</a:t>
            </a:r>
          </a:p>
        </p:txBody>
      </p:sp>
    </p:spTree>
    <p:extLst>
      <p:ext uri="{BB962C8B-B14F-4D97-AF65-F5344CB8AC3E}">
        <p14:creationId xmlns:p14="http://schemas.microsoft.com/office/powerpoint/2010/main" val="846200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31" name="Freeform 6">
            <a:extLst>
              <a:ext uri="{FF2B5EF4-FFF2-40B4-BE49-F238E27FC236}">
                <a16:creationId xmlns:a16="http://schemas.microsoft.com/office/drawing/2014/main" id="{BB8C1D0E-0B06-46C9-A8BD-A8E13FF99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1033" name="Rectangle 1032">
            <a:extLst>
              <a:ext uri="{FF2B5EF4-FFF2-40B4-BE49-F238E27FC236}">
                <a16:creationId xmlns:a16="http://schemas.microsoft.com/office/drawing/2014/main" id="{7D1ADC4A-8537-4084-99C7-F8D378A640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5" name="Rectangle 1034">
            <a:extLst>
              <a:ext uri="{FF2B5EF4-FFF2-40B4-BE49-F238E27FC236}">
                <a16:creationId xmlns:a16="http://schemas.microsoft.com/office/drawing/2014/main" id="{415DEDD7-7B31-4EF1-B7C7-5AEE3208C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CB714E5-6911-654F-BFB0-5E681201CC16}"/>
              </a:ext>
            </a:extLst>
          </p:cNvPr>
          <p:cNvSpPr>
            <a:spLocks noGrp="1"/>
          </p:cNvSpPr>
          <p:nvPr>
            <p:ph type="title"/>
          </p:nvPr>
        </p:nvSpPr>
        <p:spPr>
          <a:xfrm>
            <a:off x="644849" y="954923"/>
            <a:ext cx="5875694" cy="4504620"/>
          </a:xfrm>
        </p:spPr>
        <p:txBody>
          <a:bodyPr vert="horz" lIns="91440" tIns="45720" rIns="91440" bIns="45720" rtlCol="0" anchor="ctr">
            <a:normAutofit/>
          </a:bodyPr>
          <a:lstStyle/>
          <a:p>
            <a:pPr algn="ctr"/>
            <a:r>
              <a:rPr lang="en-US" sz="7400" dirty="0"/>
              <a:t>Control</a:t>
            </a:r>
          </a:p>
        </p:txBody>
      </p:sp>
      <p:sp>
        <p:nvSpPr>
          <p:cNvPr id="5" name="Text Placeholder 4">
            <a:extLst>
              <a:ext uri="{FF2B5EF4-FFF2-40B4-BE49-F238E27FC236}">
                <a16:creationId xmlns:a16="http://schemas.microsoft.com/office/drawing/2014/main" id="{DC7D2A61-B3CB-5040-B39D-94E11737AD56}"/>
              </a:ext>
            </a:extLst>
          </p:cNvPr>
          <p:cNvSpPr>
            <a:spLocks noGrp="1"/>
          </p:cNvSpPr>
          <p:nvPr>
            <p:ph type="body" idx="1"/>
          </p:nvPr>
        </p:nvSpPr>
        <p:spPr>
          <a:xfrm>
            <a:off x="643157" y="5572664"/>
            <a:ext cx="5877385" cy="841803"/>
          </a:xfrm>
        </p:spPr>
        <p:txBody>
          <a:bodyPr vert="horz" lIns="91440" tIns="45720" rIns="91440" bIns="45720" rtlCol="0" anchor="t">
            <a:normAutofit/>
          </a:bodyPr>
          <a:lstStyle/>
          <a:p>
            <a:pPr algn="ctr"/>
            <a:r>
              <a:rPr lang="en-US" dirty="0">
                <a:solidFill>
                  <a:schemeClr val="bg2"/>
                </a:solidFill>
              </a:rPr>
              <a:t>(a variable)</a:t>
            </a:r>
          </a:p>
        </p:txBody>
      </p:sp>
      <p:sp>
        <p:nvSpPr>
          <p:cNvPr id="1037" name="Freeform: Shape 1036">
            <a:extLst>
              <a:ext uri="{FF2B5EF4-FFF2-40B4-BE49-F238E27FC236}">
                <a16:creationId xmlns:a16="http://schemas.microsoft.com/office/drawing/2014/main" id="{3242CC7A-3D6E-47A4-B9D1-860978459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6174" y="0"/>
            <a:ext cx="5282519" cy="6858000"/>
          </a:xfrm>
          <a:custGeom>
            <a:avLst/>
            <a:gdLst>
              <a:gd name="connsiteX0" fmla="*/ 189795 w 5282519"/>
              <a:gd name="connsiteY0" fmla="*/ 0 h 6858000"/>
              <a:gd name="connsiteX1" fmla="*/ 5282519 w 5282519"/>
              <a:gd name="connsiteY1" fmla="*/ 0 h 6858000"/>
              <a:gd name="connsiteX2" fmla="*/ 5282519 w 5282519"/>
              <a:gd name="connsiteY2" fmla="*/ 6858000 h 6858000"/>
              <a:gd name="connsiteX3" fmla="*/ 189795 w 5282519"/>
              <a:gd name="connsiteY3" fmla="*/ 6858000 h 6858000"/>
              <a:gd name="connsiteX4" fmla="*/ 184756 w 5282519"/>
              <a:gd name="connsiteY4" fmla="*/ 6791325 h 6858000"/>
              <a:gd name="connsiteX5" fmla="*/ 176358 w 5282519"/>
              <a:gd name="connsiteY5" fmla="*/ 6735762 h 6858000"/>
              <a:gd name="connsiteX6" fmla="*/ 166281 w 5282519"/>
              <a:gd name="connsiteY6" fmla="*/ 6683375 h 6858000"/>
              <a:gd name="connsiteX7" fmla="*/ 149485 w 5282519"/>
              <a:gd name="connsiteY7" fmla="*/ 6640512 h 6858000"/>
              <a:gd name="connsiteX8" fmla="*/ 132689 w 5282519"/>
              <a:gd name="connsiteY8" fmla="*/ 6597650 h 6858000"/>
              <a:gd name="connsiteX9" fmla="*/ 112534 w 5282519"/>
              <a:gd name="connsiteY9" fmla="*/ 6561137 h 6858000"/>
              <a:gd name="connsiteX10" fmla="*/ 92379 w 5282519"/>
              <a:gd name="connsiteY10" fmla="*/ 6523037 h 6858000"/>
              <a:gd name="connsiteX11" fmla="*/ 73903 w 5282519"/>
              <a:gd name="connsiteY11" fmla="*/ 6488112 h 6858000"/>
              <a:gd name="connsiteX12" fmla="*/ 55427 w 5282519"/>
              <a:gd name="connsiteY12" fmla="*/ 6448425 h 6858000"/>
              <a:gd name="connsiteX13" fmla="*/ 38632 w 5282519"/>
              <a:gd name="connsiteY13" fmla="*/ 6407150 h 6858000"/>
              <a:gd name="connsiteX14" fmla="*/ 23515 w 5282519"/>
              <a:gd name="connsiteY14" fmla="*/ 6361112 h 6858000"/>
              <a:gd name="connsiteX15" fmla="*/ 11758 w 5282519"/>
              <a:gd name="connsiteY15" fmla="*/ 6311900 h 6858000"/>
              <a:gd name="connsiteX16" fmla="*/ 3359 w 5282519"/>
              <a:gd name="connsiteY16" fmla="*/ 6251575 h 6858000"/>
              <a:gd name="connsiteX17" fmla="*/ 0 w 5282519"/>
              <a:gd name="connsiteY17" fmla="*/ 6183312 h 6858000"/>
              <a:gd name="connsiteX18" fmla="*/ 3359 w 5282519"/>
              <a:gd name="connsiteY18" fmla="*/ 6113462 h 6858000"/>
              <a:gd name="connsiteX19" fmla="*/ 11758 w 5282519"/>
              <a:gd name="connsiteY19" fmla="*/ 6056312 h 6858000"/>
              <a:gd name="connsiteX20" fmla="*/ 23515 w 5282519"/>
              <a:gd name="connsiteY20" fmla="*/ 6003925 h 6858000"/>
              <a:gd name="connsiteX21" fmla="*/ 38632 w 5282519"/>
              <a:gd name="connsiteY21" fmla="*/ 5956300 h 6858000"/>
              <a:gd name="connsiteX22" fmla="*/ 55427 w 5282519"/>
              <a:gd name="connsiteY22" fmla="*/ 5915025 h 6858000"/>
              <a:gd name="connsiteX23" fmla="*/ 75583 w 5282519"/>
              <a:gd name="connsiteY23" fmla="*/ 5876925 h 6858000"/>
              <a:gd name="connsiteX24" fmla="*/ 95738 w 5282519"/>
              <a:gd name="connsiteY24" fmla="*/ 5840412 h 6858000"/>
              <a:gd name="connsiteX25" fmla="*/ 115893 w 5282519"/>
              <a:gd name="connsiteY25" fmla="*/ 5802312 h 6858000"/>
              <a:gd name="connsiteX26" fmla="*/ 134368 w 5282519"/>
              <a:gd name="connsiteY26" fmla="*/ 5762625 h 6858000"/>
              <a:gd name="connsiteX27" fmla="*/ 152844 w 5282519"/>
              <a:gd name="connsiteY27" fmla="*/ 5721350 h 6858000"/>
              <a:gd name="connsiteX28" fmla="*/ 167960 w 5282519"/>
              <a:gd name="connsiteY28" fmla="*/ 5675312 h 6858000"/>
              <a:gd name="connsiteX29" fmla="*/ 178038 w 5282519"/>
              <a:gd name="connsiteY29" fmla="*/ 5622925 h 6858000"/>
              <a:gd name="connsiteX30" fmla="*/ 188115 w 5282519"/>
              <a:gd name="connsiteY30" fmla="*/ 5562600 h 6858000"/>
              <a:gd name="connsiteX31" fmla="*/ 189795 w 5282519"/>
              <a:gd name="connsiteY31" fmla="*/ 5494337 h 6858000"/>
              <a:gd name="connsiteX32" fmla="*/ 188115 w 5282519"/>
              <a:gd name="connsiteY32" fmla="*/ 5426075 h 6858000"/>
              <a:gd name="connsiteX33" fmla="*/ 178038 w 5282519"/>
              <a:gd name="connsiteY33" fmla="*/ 5365750 h 6858000"/>
              <a:gd name="connsiteX34" fmla="*/ 167960 w 5282519"/>
              <a:gd name="connsiteY34" fmla="*/ 5313362 h 6858000"/>
              <a:gd name="connsiteX35" fmla="*/ 152844 w 5282519"/>
              <a:gd name="connsiteY35" fmla="*/ 5268912 h 6858000"/>
              <a:gd name="connsiteX36" fmla="*/ 134368 w 5282519"/>
              <a:gd name="connsiteY36" fmla="*/ 5226050 h 6858000"/>
              <a:gd name="connsiteX37" fmla="*/ 115893 w 5282519"/>
              <a:gd name="connsiteY37" fmla="*/ 5186362 h 6858000"/>
              <a:gd name="connsiteX38" fmla="*/ 95738 w 5282519"/>
              <a:gd name="connsiteY38" fmla="*/ 5149850 h 6858000"/>
              <a:gd name="connsiteX39" fmla="*/ 75583 w 5282519"/>
              <a:gd name="connsiteY39" fmla="*/ 5114925 h 6858000"/>
              <a:gd name="connsiteX40" fmla="*/ 55427 w 5282519"/>
              <a:gd name="connsiteY40" fmla="*/ 5075237 h 6858000"/>
              <a:gd name="connsiteX41" fmla="*/ 38632 w 5282519"/>
              <a:gd name="connsiteY41" fmla="*/ 5033962 h 6858000"/>
              <a:gd name="connsiteX42" fmla="*/ 23515 w 5282519"/>
              <a:gd name="connsiteY42" fmla="*/ 4987925 h 6858000"/>
              <a:gd name="connsiteX43" fmla="*/ 11758 w 5282519"/>
              <a:gd name="connsiteY43" fmla="*/ 4935537 h 6858000"/>
              <a:gd name="connsiteX44" fmla="*/ 3359 w 5282519"/>
              <a:gd name="connsiteY44" fmla="*/ 4875212 h 6858000"/>
              <a:gd name="connsiteX45" fmla="*/ 0 w 5282519"/>
              <a:gd name="connsiteY45" fmla="*/ 4806950 h 6858000"/>
              <a:gd name="connsiteX46" fmla="*/ 3359 w 5282519"/>
              <a:gd name="connsiteY46" fmla="*/ 4738687 h 6858000"/>
              <a:gd name="connsiteX47" fmla="*/ 11758 w 5282519"/>
              <a:gd name="connsiteY47" fmla="*/ 4678362 h 6858000"/>
              <a:gd name="connsiteX48" fmla="*/ 23515 w 5282519"/>
              <a:gd name="connsiteY48" fmla="*/ 4625975 h 6858000"/>
              <a:gd name="connsiteX49" fmla="*/ 38632 w 5282519"/>
              <a:gd name="connsiteY49" fmla="*/ 4579937 h 6858000"/>
              <a:gd name="connsiteX50" fmla="*/ 55427 w 5282519"/>
              <a:gd name="connsiteY50" fmla="*/ 4537075 h 6858000"/>
              <a:gd name="connsiteX51" fmla="*/ 75583 w 5282519"/>
              <a:gd name="connsiteY51" fmla="*/ 4498975 h 6858000"/>
              <a:gd name="connsiteX52" fmla="*/ 115893 w 5282519"/>
              <a:gd name="connsiteY52" fmla="*/ 4424362 h 6858000"/>
              <a:gd name="connsiteX53" fmla="*/ 134368 w 5282519"/>
              <a:gd name="connsiteY53" fmla="*/ 4386262 h 6858000"/>
              <a:gd name="connsiteX54" fmla="*/ 152844 w 5282519"/>
              <a:gd name="connsiteY54" fmla="*/ 4343400 h 6858000"/>
              <a:gd name="connsiteX55" fmla="*/ 167960 w 5282519"/>
              <a:gd name="connsiteY55" fmla="*/ 4297362 h 6858000"/>
              <a:gd name="connsiteX56" fmla="*/ 178038 w 5282519"/>
              <a:gd name="connsiteY56" fmla="*/ 4244975 h 6858000"/>
              <a:gd name="connsiteX57" fmla="*/ 188115 w 5282519"/>
              <a:gd name="connsiteY57" fmla="*/ 4186237 h 6858000"/>
              <a:gd name="connsiteX58" fmla="*/ 189795 w 5282519"/>
              <a:gd name="connsiteY58" fmla="*/ 4116387 h 6858000"/>
              <a:gd name="connsiteX59" fmla="*/ 188115 w 5282519"/>
              <a:gd name="connsiteY59" fmla="*/ 4048125 h 6858000"/>
              <a:gd name="connsiteX60" fmla="*/ 178038 w 5282519"/>
              <a:gd name="connsiteY60" fmla="*/ 3987800 h 6858000"/>
              <a:gd name="connsiteX61" fmla="*/ 167960 w 5282519"/>
              <a:gd name="connsiteY61" fmla="*/ 3935412 h 6858000"/>
              <a:gd name="connsiteX62" fmla="*/ 152844 w 5282519"/>
              <a:gd name="connsiteY62" fmla="*/ 3890962 h 6858000"/>
              <a:gd name="connsiteX63" fmla="*/ 134368 w 5282519"/>
              <a:gd name="connsiteY63" fmla="*/ 3848100 h 6858000"/>
              <a:gd name="connsiteX64" fmla="*/ 115893 w 5282519"/>
              <a:gd name="connsiteY64" fmla="*/ 3811587 h 6858000"/>
              <a:gd name="connsiteX65" fmla="*/ 75583 w 5282519"/>
              <a:gd name="connsiteY65" fmla="*/ 3736975 h 6858000"/>
              <a:gd name="connsiteX66" fmla="*/ 55427 w 5282519"/>
              <a:gd name="connsiteY66" fmla="*/ 3697287 h 6858000"/>
              <a:gd name="connsiteX67" fmla="*/ 38632 w 5282519"/>
              <a:gd name="connsiteY67" fmla="*/ 3656012 h 6858000"/>
              <a:gd name="connsiteX68" fmla="*/ 23515 w 5282519"/>
              <a:gd name="connsiteY68" fmla="*/ 3609975 h 6858000"/>
              <a:gd name="connsiteX69" fmla="*/ 11758 w 5282519"/>
              <a:gd name="connsiteY69" fmla="*/ 3557587 h 6858000"/>
              <a:gd name="connsiteX70" fmla="*/ 3359 w 5282519"/>
              <a:gd name="connsiteY70" fmla="*/ 3497262 h 6858000"/>
              <a:gd name="connsiteX71" fmla="*/ 0 w 5282519"/>
              <a:gd name="connsiteY71" fmla="*/ 3427412 h 6858000"/>
              <a:gd name="connsiteX72" fmla="*/ 3359 w 5282519"/>
              <a:gd name="connsiteY72" fmla="*/ 3360737 h 6858000"/>
              <a:gd name="connsiteX73" fmla="*/ 11758 w 5282519"/>
              <a:gd name="connsiteY73" fmla="*/ 3300412 h 6858000"/>
              <a:gd name="connsiteX74" fmla="*/ 23515 w 5282519"/>
              <a:gd name="connsiteY74" fmla="*/ 3248025 h 6858000"/>
              <a:gd name="connsiteX75" fmla="*/ 38632 w 5282519"/>
              <a:gd name="connsiteY75" fmla="*/ 3201987 h 6858000"/>
              <a:gd name="connsiteX76" fmla="*/ 55427 w 5282519"/>
              <a:gd name="connsiteY76" fmla="*/ 3160712 h 6858000"/>
              <a:gd name="connsiteX77" fmla="*/ 75583 w 5282519"/>
              <a:gd name="connsiteY77" fmla="*/ 3121025 h 6858000"/>
              <a:gd name="connsiteX78" fmla="*/ 95738 w 5282519"/>
              <a:gd name="connsiteY78" fmla="*/ 3084512 h 6858000"/>
              <a:gd name="connsiteX79" fmla="*/ 115893 w 5282519"/>
              <a:gd name="connsiteY79" fmla="*/ 3046412 h 6858000"/>
              <a:gd name="connsiteX80" fmla="*/ 134368 w 5282519"/>
              <a:gd name="connsiteY80" fmla="*/ 3009900 h 6858000"/>
              <a:gd name="connsiteX81" fmla="*/ 152844 w 5282519"/>
              <a:gd name="connsiteY81" fmla="*/ 2967037 h 6858000"/>
              <a:gd name="connsiteX82" fmla="*/ 167960 w 5282519"/>
              <a:gd name="connsiteY82" fmla="*/ 2922587 h 6858000"/>
              <a:gd name="connsiteX83" fmla="*/ 178038 w 5282519"/>
              <a:gd name="connsiteY83" fmla="*/ 2868612 h 6858000"/>
              <a:gd name="connsiteX84" fmla="*/ 188115 w 5282519"/>
              <a:gd name="connsiteY84" fmla="*/ 2809875 h 6858000"/>
              <a:gd name="connsiteX85" fmla="*/ 189795 w 5282519"/>
              <a:gd name="connsiteY85" fmla="*/ 2741612 h 6858000"/>
              <a:gd name="connsiteX86" fmla="*/ 188115 w 5282519"/>
              <a:gd name="connsiteY86" fmla="*/ 2671762 h 6858000"/>
              <a:gd name="connsiteX87" fmla="*/ 178038 w 5282519"/>
              <a:gd name="connsiteY87" fmla="*/ 2613025 h 6858000"/>
              <a:gd name="connsiteX88" fmla="*/ 167960 w 5282519"/>
              <a:gd name="connsiteY88" fmla="*/ 2560637 h 6858000"/>
              <a:gd name="connsiteX89" fmla="*/ 152844 w 5282519"/>
              <a:gd name="connsiteY89" fmla="*/ 2513012 h 6858000"/>
              <a:gd name="connsiteX90" fmla="*/ 134368 w 5282519"/>
              <a:gd name="connsiteY90" fmla="*/ 2471737 h 6858000"/>
              <a:gd name="connsiteX91" fmla="*/ 115893 w 5282519"/>
              <a:gd name="connsiteY91" fmla="*/ 2433637 h 6858000"/>
              <a:gd name="connsiteX92" fmla="*/ 95738 w 5282519"/>
              <a:gd name="connsiteY92" fmla="*/ 2395537 h 6858000"/>
              <a:gd name="connsiteX93" fmla="*/ 75583 w 5282519"/>
              <a:gd name="connsiteY93" fmla="*/ 2359025 h 6858000"/>
              <a:gd name="connsiteX94" fmla="*/ 55427 w 5282519"/>
              <a:gd name="connsiteY94" fmla="*/ 2319337 h 6858000"/>
              <a:gd name="connsiteX95" fmla="*/ 38632 w 5282519"/>
              <a:gd name="connsiteY95" fmla="*/ 2278062 h 6858000"/>
              <a:gd name="connsiteX96" fmla="*/ 23515 w 5282519"/>
              <a:gd name="connsiteY96" fmla="*/ 2232025 h 6858000"/>
              <a:gd name="connsiteX97" fmla="*/ 11758 w 5282519"/>
              <a:gd name="connsiteY97" fmla="*/ 2179637 h 6858000"/>
              <a:gd name="connsiteX98" fmla="*/ 3359 w 5282519"/>
              <a:gd name="connsiteY98" fmla="*/ 2119312 h 6858000"/>
              <a:gd name="connsiteX99" fmla="*/ 0 w 5282519"/>
              <a:gd name="connsiteY99" fmla="*/ 2051050 h 6858000"/>
              <a:gd name="connsiteX100" fmla="*/ 3359 w 5282519"/>
              <a:gd name="connsiteY100" fmla="*/ 1982787 h 6858000"/>
              <a:gd name="connsiteX101" fmla="*/ 11758 w 5282519"/>
              <a:gd name="connsiteY101" fmla="*/ 1922462 h 6858000"/>
              <a:gd name="connsiteX102" fmla="*/ 23515 w 5282519"/>
              <a:gd name="connsiteY102" fmla="*/ 1870075 h 6858000"/>
              <a:gd name="connsiteX103" fmla="*/ 38632 w 5282519"/>
              <a:gd name="connsiteY103" fmla="*/ 1824037 h 6858000"/>
              <a:gd name="connsiteX104" fmla="*/ 55427 w 5282519"/>
              <a:gd name="connsiteY104" fmla="*/ 1782762 h 6858000"/>
              <a:gd name="connsiteX105" fmla="*/ 75583 w 5282519"/>
              <a:gd name="connsiteY105" fmla="*/ 1743075 h 6858000"/>
              <a:gd name="connsiteX106" fmla="*/ 95738 w 5282519"/>
              <a:gd name="connsiteY106" fmla="*/ 1708150 h 6858000"/>
              <a:gd name="connsiteX107" fmla="*/ 115893 w 5282519"/>
              <a:gd name="connsiteY107" fmla="*/ 1671637 h 6858000"/>
              <a:gd name="connsiteX108" fmla="*/ 134368 w 5282519"/>
              <a:gd name="connsiteY108" fmla="*/ 1631950 h 6858000"/>
              <a:gd name="connsiteX109" fmla="*/ 152844 w 5282519"/>
              <a:gd name="connsiteY109" fmla="*/ 1589087 h 6858000"/>
              <a:gd name="connsiteX110" fmla="*/ 167960 w 5282519"/>
              <a:gd name="connsiteY110" fmla="*/ 1544637 h 6858000"/>
              <a:gd name="connsiteX111" fmla="*/ 178038 w 5282519"/>
              <a:gd name="connsiteY111" fmla="*/ 1492250 h 6858000"/>
              <a:gd name="connsiteX112" fmla="*/ 188115 w 5282519"/>
              <a:gd name="connsiteY112" fmla="*/ 1431925 h 6858000"/>
              <a:gd name="connsiteX113" fmla="*/ 189795 w 5282519"/>
              <a:gd name="connsiteY113" fmla="*/ 1363662 h 6858000"/>
              <a:gd name="connsiteX114" fmla="*/ 188115 w 5282519"/>
              <a:gd name="connsiteY114" fmla="*/ 1295400 h 6858000"/>
              <a:gd name="connsiteX115" fmla="*/ 178038 w 5282519"/>
              <a:gd name="connsiteY115" fmla="*/ 1235075 h 6858000"/>
              <a:gd name="connsiteX116" fmla="*/ 167960 w 5282519"/>
              <a:gd name="connsiteY116" fmla="*/ 1182687 h 6858000"/>
              <a:gd name="connsiteX117" fmla="*/ 152844 w 5282519"/>
              <a:gd name="connsiteY117" fmla="*/ 1136650 h 6858000"/>
              <a:gd name="connsiteX118" fmla="*/ 134368 w 5282519"/>
              <a:gd name="connsiteY118" fmla="*/ 1095375 h 6858000"/>
              <a:gd name="connsiteX119" fmla="*/ 115893 w 5282519"/>
              <a:gd name="connsiteY119" fmla="*/ 1055687 h 6858000"/>
              <a:gd name="connsiteX120" fmla="*/ 95738 w 5282519"/>
              <a:gd name="connsiteY120" fmla="*/ 1017587 h 6858000"/>
              <a:gd name="connsiteX121" fmla="*/ 75583 w 5282519"/>
              <a:gd name="connsiteY121" fmla="*/ 981075 h 6858000"/>
              <a:gd name="connsiteX122" fmla="*/ 55427 w 5282519"/>
              <a:gd name="connsiteY122" fmla="*/ 942975 h 6858000"/>
              <a:gd name="connsiteX123" fmla="*/ 38632 w 5282519"/>
              <a:gd name="connsiteY123" fmla="*/ 901700 h 6858000"/>
              <a:gd name="connsiteX124" fmla="*/ 23515 w 5282519"/>
              <a:gd name="connsiteY124" fmla="*/ 854075 h 6858000"/>
              <a:gd name="connsiteX125" fmla="*/ 11758 w 5282519"/>
              <a:gd name="connsiteY125" fmla="*/ 801687 h 6858000"/>
              <a:gd name="connsiteX126" fmla="*/ 3359 w 5282519"/>
              <a:gd name="connsiteY126" fmla="*/ 744537 h 6858000"/>
              <a:gd name="connsiteX127" fmla="*/ 0 w 5282519"/>
              <a:gd name="connsiteY127" fmla="*/ 673100 h 6858000"/>
              <a:gd name="connsiteX128" fmla="*/ 3359 w 5282519"/>
              <a:gd name="connsiteY128" fmla="*/ 606425 h 6858000"/>
              <a:gd name="connsiteX129" fmla="*/ 11758 w 5282519"/>
              <a:gd name="connsiteY129" fmla="*/ 546100 h 6858000"/>
              <a:gd name="connsiteX130" fmla="*/ 23515 w 5282519"/>
              <a:gd name="connsiteY130" fmla="*/ 496887 h 6858000"/>
              <a:gd name="connsiteX131" fmla="*/ 38632 w 5282519"/>
              <a:gd name="connsiteY131" fmla="*/ 450850 h 6858000"/>
              <a:gd name="connsiteX132" fmla="*/ 55427 w 5282519"/>
              <a:gd name="connsiteY132" fmla="*/ 409575 h 6858000"/>
              <a:gd name="connsiteX133" fmla="*/ 73903 w 5282519"/>
              <a:gd name="connsiteY133" fmla="*/ 369887 h 6858000"/>
              <a:gd name="connsiteX134" fmla="*/ 92379 w 5282519"/>
              <a:gd name="connsiteY134" fmla="*/ 334962 h 6858000"/>
              <a:gd name="connsiteX135" fmla="*/ 112534 w 5282519"/>
              <a:gd name="connsiteY135" fmla="*/ 296862 h 6858000"/>
              <a:gd name="connsiteX136" fmla="*/ 132689 w 5282519"/>
              <a:gd name="connsiteY136" fmla="*/ 260350 h 6858000"/>
              <a:gd name="connsiteX137" fmla="*/ 149485 w 5282519"/>
              <a:gd name="connsiteY137" fmla="*/ 217487 h 6858000"/>
              <a:gd name="connsiteX138" fmla="*/ 166281 w 5282519"/>
              <a:gd name="connsiteY138" fmla="*/ 174625 h 6858000"/>
              <a:gd name="connsiteX139" fmla="*/ 176358 w 5282519"/>
              <a:gd name="connsiteY139" fmla="*/ 122237 h 6858000"/>
              <a:gd name="connsiteX140" fmla="*/ 184756 w 5282519"/>
              <a:gd name="connsiteY140" fmla="*/ 666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5282519" h="6858000">
                <a:moveTo>
                  <a:pt x="189795" y="0"/>
                </a:moveTo>
                <a:lnTo>
                  <a:pt x="5282519" y="0"/>
                </a:lnTo>
                <a:lnTo>
                  <a:pt x="5282519" y="6858000"/>
                </a:lnTo>
                <a:lnTo>
                  <a:pt x="189795" y="6858000"/>
                </a:lnTo>
                <a:lnTo>
                  <a:pt x="184756" y="6791325"/>
                </a:lnTo>
                <a:lnTo>
                  <a:pt x="176358" y="6735762"/>
                </a:lnTo>
                <a:lnTo>
                  <a:pt x="166281" y="6683375"/>
                </a:lnTo>
                <a:lnTo>
                  <a:pt x="149485" y="6640512"/>
                </a:lnTo>
                <a:lnTo>
                  <a:pt x="132689" y="6597650"/>
                </a:lnTo>
                <a:lnTo>
                  <a:pt x="112534" y="6561137"/>
                </a:lnTo>
                <a:lnTo>
                  <a:pt x="92379" y="6523037"/>
                </a:lnTo>
                <a:lnTo>
                  <a:pt x="73903" y="6488112"/>
                </a:lnTo>
                <a:lnTo>
                  <a:pt x="55427" y="6448425"/>
                </a:lnTo>
                <a:lnTo>
                  <a:pt x="38632" y="6407150"/>
                </a:lnTo>
                <a:lnTo>
                  <a:pt x="23515" y="6361112"/>
                </a:lnTo>
                <a:lnTo>
                  <a:pt x="11758" y="6311900"/>
                </a:lnTo>
                <a:lnTo>
                  <a:pt x="3359" y="6251575"/>
                </a:lnTo>
                <a:lnTo>
                  <a:pt x="0" y="6183312"/>
                </a:lnTo>
                <a:lnTo>
                  <a:pt x="3359" y="6113462"/>
                </a:lnTo>
                <a:lnTo>
                  <a:pt x="11758" y="6056312"/>
                </a:lnTo>
                <a:lnTo>
                  <a:pt x="23515" y="6003925"/>
                </a:lnTo>
                <a:lnTo>
                  <a:pt x="38632" y="5956300"/>
                </a:lnTo>
                <a:lnTo>
                  <a:pt x="55427" y="5915025"/>
                </a:lnTo>
                <a:lnTo>
                  <a:pt x="75583" y="5876925"/>
                </a:lnTo>
                <a:lnTo>
                  <a:pt x="95738" y="5840412"/>
                </a:lnTo>
                <a:lnTo>
                  <a:pt x="115893" y="5802312"/>
                </a:lnTo>
                <a:lnTo>
                  <a:pt x="134368" y="5762625"/>
                </a:lnTo>
                <a:lnTo>
                  <a:pt x="152844" y="5721350"/>
                </a:lnTo>
                <a:lnTo>
                  <a:pt x="167960" y="5675312"/>
                </a:lnTo>
                <a:lnTo>
                  <a:pt x="178038" y="5622925"/>
                </a:lnTo>
                <a:lnTo>
                  <a:pt x="188115" y="5562600"/>
                </a:lnTo>
                <a:lnTo>
                  <a:pt x="189795" y="5494337"/>
                </a:lnTo>
                <a:lnTo>
                  <a:pt x="188115" y="5426075"/>
                </a:lnTo>
                <a:lnTo>
                  <a:pt x="178038" y="5365750"/>
                </a:lnTo>
                <a:lnTo>
                  <a:pt x="167960" y="5313362"/>
                </a:lnTo>
                <a:lnTo>
                  <a:pt x="152844" y="5268912"/>
                </a:lnTo>
                <a:lnTo>
                  <a:pt x="134368" y="5226050"/>
                </a:lnTo>
                <a:lnTo>
                  <a:pt x="115893" y="5186362"/>
                </a:lnTo>
                <a:lnTo>
                  <a:pt x="95738" y="5149850"/>
                </a:lnTo>
                <a:lnTo>
                  <a:pt x="75583" y="5114925"/>
                </a:lnTo>
                <a:lnTo>
                  <a:pt x="55427" y="5075237"/>
                </a:lnTo>
                <a:lnTo>
                  <a:pt x="38632" y="5033962"/>
                </a:lnTo>
                <a:lnTo>
                  <a:pt x="23515" y="4987925"/>
                </a:lnTo>
                <a:lnTo>
                  <a:pt x="11758" y="4935537"/>
                </a:lnTo>
                <a:lnTo>
                  <a:pt x="3359" y="4875212"/>
                </a:lnTo>
                <a:lnTo>
                  <a:pt x="0" y="4806950"/>
                </a:lnTo>
                <a:lnTo>
                  <a:pt x="3359" y="4738687"/>
                </a:lnTo>
                <a:lnTo>
                  <a:pt x="11758" y="4678362"/>
                </a:lnTo>
                <a:lnTo>
                  <a:pt x="23515" y="4625975"/>
                </a:lnTo>
                <a:lnTo>
                  <a:pt x="38632" y="4579937"/>
                </a:lnTo>
                <a:lnTo>
                  <a:pt x="55427" y="4537075"/>
                </a:lnTo>
                <a:lnTo>
                  <a:pt x="75583" y="4498975"/>
                </a:lnTo>
                <a:lnTo>
                  <a:pt x="115893" y="4424362"/>
                </a:lnTo>
                <a:lnTo>
                  <a:pt x="134368" y="4386262"/>
                </a:lnTo>
                <a:lnTo>
                  <a:pt x="152844" y="4343400"/>
                </a:lnTo>
                <a:lnTo>
                  <a:pt x="167960" y="4297362"/>
                </a:lnTo>
                <a:lnTo>
                  <a:pt x="178038" y="4244975"/>
                </a:lnTo>
                <a:lnTo>
                  <a:pt x="188115" y="4186237"/>
                </a:lnTo>
                <a:lnTo>
                  <a:pt x="189795" y="4116387"/>
                </a:lnTo>
                <a:lnTo>
                  <a:pt x="188115" y="4048125"/>
                </a:lnTo>
                <a:lnTo>
                  <a:pt x="178038" y="3987800"/>
                </a:lnTo>
                <a:lnTo>
                  <a:pt x="167960" y="3935412"/>
                </a:lnTo>
                <a:lnTo>
                  <a:pt x="152844" y="3890962"/>
                </a:lnTo>
                <a:lnTo>
                  <a:pt x="134368" y="3848100"/>
                </a:lnTo>
                <a:lnTo>
                  <a:pt x="115893" y="3811587"/>
                </a:lnTo>
                <a:lnTo>
                  <a:pt x="75583" y="3736975"/>
                </a:lnTo>
                <a:lnTo>
                  <a:pt x="55427" y="3697287"/>
                </a:lnTo>
                <a:lnTo>
                  <a:pt x="38632" y="3656012"/>
                </a:lnTo>
                <a:lnTo>
                  <a:pt x="23515" y="3609975"/>
                </a:lnTo>
                <a:lnTo>
                  <a:pt x="11758" y="3557587"/>
                </a:lnTo>
                <a:lnTo>
                  <a:pt x="3359" y="3497262"/>
                </a:lnTo>
                <a:lnTo>
                  <a:pt x="0" y="3427412"/>
                </a:lnTo>
                <a:lnTo>
                  <a:pt x="3359" y="3360737"/>
                </a:lnTo>
                <a:lnTo>
                  <a:pt x="11758" y="3300412"/>
                </a:lnTo>
                <a:lnTo>
                  <a:pt x="23515" y="3248025"/>
                </a:lnTo>
                <a:lnTo>
                  <a:pt x="38632" y="3201987"/>
                </a:lnTo>
                <a:lnTo>
                  <a:pt x="55427" y="3160712"/>
                </a:lnTo>
                <a:lnTo>
                  <a:pt x="75583" y="3121025"/>
                </a:lnTo>
                <a:lnTo>
                  <a:pt x="95738" y="3084512"/>
                </a:lnTo>
                <a:lnTo>
                  <a:pt x="115893" y="3046412"/>
                </a:lnTo>
                <a:lnTo>
                  <a:pt x="134368" y="3009900"/>
                </a:lnTo>
                <a:lnTo>
                  <a:pt x="152844" y="2967037"/>
                </a:lnTo>
                <a:lnTo>
                  <a:pt x="167960" y="2922587"/>
                </a:lnTo>
                <a:lnTo>
                  <a:pt x="178038" y="2868612"/>
                </a:lnTo>
                <a:lnTo>
                  <a:pt x="188115" y="2809875"/>
                </a:lnTo>
                <a:lnTo>
                  <a:pt x="189795" y="2741612"/>
                </a:lnTo>
                <a:lnTo>
                  <a:pt x="188115" y="2671762"/>
                </a:lnTo>
                <a:lnTo>
                  <a:pt x="178038" y="2613025"/>
                </a:lnTo>
                <a:lnTo>
                  <a:pt x="167960" y="2560637"/>
                </a:lnTo>
                <a:lnTo>
                  <a:pt x="152844" y="2513012"/>
                </a:lnTo>
                <a:lnTo>
                  <a:pt x="134368" y="2471737"/>
                </a:lnTo>
                <a:lnTo>
                  <a:pt x="115893" y="2433637"/>
                </a:lnTo>
                <a:lnTo>
                  <a:pt x="95738" y="2395537"/>
                </a:lnTo>
                <a:lnTo>
                  <a:pt x="75583" y="2359025"/>
                </a:lnTo>
                <a:lnTo>
                  <a:pt x="55427" y="2319337"/>
                </a:lnTo>
                <a:lnTo>
                  <a:pt x="38632" y="2278062"/>
                </a:lnTo>
                <a:lnTo>
                  <a:pt x="23515" y="2232025"/>
                </a:lnTo>
                <a:lnTo>
                  <a:pt x="11758" y="2179637"/>
                </a:lnTo>
                <a:lnTo>
                  <a:pt x="3359" y="2119312"/>
                </a:lnTo>
                <a:lnTo>
                  <a:pt x="0" y="2051050"/>
                </a:lnTo>
                <a:lnTo>
                  <a:pt x="3359" y="1982787"/>
                </a:lnTo>
                <a:lnTo>
                  <a:pt x="11758" y="1922462"/>
                </a:lnTo>
                <a:lnTo>
                  <a:pt x="23515" y="1870075"/>
                </a:lnTo>
                <a:lnTo>
                  <a:pt x="38632" y="1824037"/>
                </a:lnTo>
                <a:lnTo>
                  <a:pt x="55427" y="1782762"/>
                </a:lnTo>
                <a:lnTo>
                  <a:pt x="75583" y="1743075"/>
                </a:lnTo>
                <a:lnTo>
                  <a:pt x="95738" y="1708150"/>
                </a:lnTo>
                <a:lnTo>
                  <a:pt x="115893" y="1671637"/>
                </a:lnTo>
                <a:lnTo>
                  <a:pt x="134368" y="1631950"/>
                </a:lnTo>
                <a:lnTo>
                  <a:pt x="152844" y="1589087"/>
                </a:lnTo>
                <a:lnTo>
                  <a:pt x="167960" y="1544637"/>
                </a:lnTo>
                <a:lnTo>
                  <a:pt x="178038" y="1492250"/>
                </a:lnTo>
                <a:lnTo>
                  <a:pt x="188115" y="1431925"/>
                </a:lnTo>
                <a:lnTo>
                  <a:pt x="189795" y="1363662"/>
                </a:lnTo>
                <a:lnTo>
                  <a:pt x="188115" y="1295400"/>
                </a:lnTo>
                <a:lnTo>
                  <a:pt x="178038" y="1235075"/>
                </a:lnTo>
                <a:lnTo>
                  <a:pt x="167960" y="1182687"/>
                </a:lnTo>
                <a:lnTo>
                  <a:pt x="152844" y="1136650"/>
                </a:lnTo>
                <a:lnTo>
                  <a:pt x="134368" y="1095375"/>
                </a:lnTo>
                <a:lnTo>
                  <a:pt x="115893" y="1055687"/>
                </a:lnTo>
                <a:lnTo>
                  <a:pt x="95738" y="1017587"/>
                </a:lnTo>
                <a:lnTo>
                  <a:pt x="75583" y="981075"/>
                </a:lnTo>
                <a:lnTo>
                  <a:pt x="55427" y="942975"/>
                </a:lnTo>
                <a:lnTo>
                  <a:pt x="38632" y="901700"/>
                </a:lnTo>
                <a:lnTo>
                  <a:pt x="23515" y="854075"/>
                </a:lnTo>
                <a:lnTo>
                  <a:pt x="11758" y="801687"/>
                </a:lnTo>
                <a:lnTo>
                  <a:pt x="3359" y="744537"/>
                </a:lnTo>
                <a:lnTo>
                  <a:pt x="0" y="673100"/>
                </a:lnTo>
                <a:lnTo>
                  <a:pt x="3359" y="606425"/>
                </a:lnTo>
                <a:lnTo>
                  <a:pt x="11758" y="546100"/>
                </a:lnTo>
                <a:lnTo>
                  <a:pt x="23515" y="496887"/>
                </a:lnTo>
                <a:lnTo>
                  <a:pt x="38632" y="450850"/>
                </a:lnTo>
                <a:lnTo>
                  <a:pt x="55427" y="409575"/>
                </a:lnTo>
                <a:lnTo>
                  <a:pt x="73903" y="369887"/>
                </a:lnTo>
                <a:lnTo>
                  <a:pt x="92379" y="334962"/>
                </a:lnTo>
                <a:lnTo>
                  <a:pt x="112534" y="296862"/>
                </a:lnTo>
                <a:lnTo>
                  <a:pt x="132689" y="260350"/>
                </a:lnTo>
                <a:lnTo>
                  <a:pt x="149485" y="217487"/>
                </a:lnTo>
                <a:lnTo>
                  <a:pt x="166281" y="174625"/>
                </a:lnTo>
                <a:lnTo>
                  <a:pt x="176358" y="122237"/>
                </a:lnTo>
                <a:lnTo>
                  <a:pt x="184756" y="66675"/>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La historia y mejores canciones de Control Machete">
            <a:extLst>
              <a:ext uri="{FF2B5EF4-FFF2-40B4-BE49-F238E27FC236}">
                <a16:creationId xmlns:a16="http://schemas.microsoft.com/office/drawing/2014/main" id="{F430655B-5609-0249-9A49-687D198FAA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546" r="27231"/>
          <a:stretch/>
        </p:blipFill>
        <p:spPr bwMode="auto">
          <a:xfrm>
            <a:off x="6909481" y="10"/>
            <a:ext cx="5282519" cy="6857990"/>
          </a:xfrm>
          <a:custGeom>
            <a:avLst/>
            <a:gdLst/>
            <a:ahLst/>
            <a:cxnLst/>
            <a:rect l="l" t="t" r="r" b="b"/>
            <a:pathLst>
              <a:path w="5282519" h="6858000">
                <a:moveTo>
                  <a:pt x="189795" y="0"/>
                </a:moveTo>
                <a:lnTo>
                  <a:pt x="5282519" y="0"/>
                </a:lnTo>
                <a:lnTo>
                  <a:pt x="5282519" y="6858000"/>
                </a:lnTo>
                <a:lnTo>
                  <a:pt x="189795" y="6858000"/>
                </a:lnTo>
                <a:lnTo>
                  <a:pt x="184756" y="6791325"/>
                </a:lnTo>
                <a:lnTo>
                  <a:pt x="176358" y="6735762"/>
                </a:lnTo>
                <a:lnTo>
                  <a:pt x="166281" y="6683375"/>
                </a:lnTo>
                <a:lnTo>
                  <a:pt x="149485" y="6640512"/>
                </a:lnTo>
                <a:lnTo>
                  <a:pt x="132689" y="6597650"/>
                </a:lnTo>
                <a:lnTo>
                  <a:pt x="112534" y="6561137"/>
                </a:lnTo>
                <a:lnTo>
                  <a:pt x="92379" y="6523037"/>
                </a:lnTo>
                <a:lnTo>
                  <a:pt x="73903" y="6488112"/>
                </a:lnTo>
                <a:lnTo>
                  <a:pt x="55427" y="6448425"/>
                </a:lnTo>
                <a:lnTo>
                  <a:pt x="38632" y="6407150"/>
                </a:lnTo>
                <a:lnTo>
                  <a:pt x="23515" y="6361112"/>
                </a:lnTo>
                <a:lnTo>
                  <a:pt x="11758" y="6311900"/>
                </a:lnTo>
                <a:lnTo>
                  <a:pt x="3359" y="6251575"/>
                </a:lnTo>
                <a:lnTo>
                  <a:pt x="0" y="6183312"/>
                </a:lnTo>
                <a:lnTo>
                  <a:pt x="3359" y="6113462"/>
                </a:lnTo>
                <a:lnTo>
                  <a:pt x="11758" y="6056312"/>
                </a:lnTo>
                <a:lnTo>
                  <a:pt x="23515" y="6003925"/>
                </a:lnTo>
                <a:lnTo>
                  <a:pt x="38632" y="5956300"/>
                </a:lnTo>
                <a:lnTo>
                  <a:pt x="55427" y="5915025"/>
                </a:lnTo>
                <a:lnTo>
                  <a:pt x="75583" y="5876925"/>
                </a:lnTo>
                <a:lnTo>
                  <a:pt x="95738" y="5840412"/>
                </a:lnTo>
                <a:lnTo>
                  <a:pt x="115893" y="5802312"/>
                </a:lnTo>
                <a:lnTo>
                  <a:pt x="134368" y="5762625"/>
                </a:lnTo>
                <a:lnTo>
                  <a:pt x="152844" y="5721350"/>
                </a:lnTo>
                <a:lnTo>
                  <a:pt x="167960" y="5675312"/>
                </a:lnTo>
                <a:lnTo>
                  <a:pt x="178038" y="5622925"/>
                </a:lnTo>
                <a:lnTo>
                  <a:pt x="188115" y="5562600"/>
                </a:lnTo>
                <a:lnTo>
                  <a:pt x="189795" y="5494337"/>
                </a:lnTo>
                <a:lnTo>
                  <a:pt x="188115" y="5426075"/>
                </a:lnTo>
                <a:lnTo>
                  <a:pt x="178038" y="5365750"/>
                </a:lnTo>
                <a:lnTo>
                  <a:pt x="167960" y="5313362"/>
                </a:lnTo>
                <a:lnTo>
                  <a:pt x="152844" y="5268912"/>
                </a:lnTo>
                <a:lnTo>
                  <a:pt x="134368" y="5226050"/>
                </a:lnTo>
                <a:lnTo>
                  <a:pt x="115893" y="5186362"/>
                </a:lnTo>
                <a:lnTo>
                  <a:pt x="95738" y="5149850"/>
                </a:lnTo>
                <a:lnTo>
                  <a:pt x="75583" y="5114925"/>
                </a:lnTo>
                <a:lnTo>
                  <a:pt x="55427" y="5075237"/>
                </a:lnTo>
                <a:lnTo>
                  <a:pt x="38632" y="5033962"/>
                </a:lnTo>
                <a:lnTo>
                  <a:pt x="23515" y="4987925"/>
                </a:lnTo>
                <a:lnTo>
                  <a:pt x="11758" y="4935537"/>
                </a:lnTo>
                <a:lnTo>
                  <a:pt x="3359" y="4875212"/>
                </a:lnTo>
                <a:lnTo>
                  <a:pt x="0" y="4806950"/>
                </a:lnTo>
                <a:lnTo>
                  <a:pt x="3359" y="4738687"/>
                </a:lnTo>
                <a:lnTo>
                  <a:pt x="11758" y="4678362"/>
                </a:lnTo>
                <a:lnTo>
                  <a:pt x="23515" y="4625975"/>
                </a:lnTo>
                <a:lnTo>
                  <a:pt x="38632" y="4579937"/>
                </a:lnTo>
                <a:lnTo>
                  <a:pt x="55427" y="4537075"/>
                </a:lnTo>
                <a:lnTo>
                  <a:pt x="75583" y="4498975"/>
                </a:lnTo>
                <a:lnTo>
                  <a:pt x="115893" y="4424362"/>
                </a:lnTo>
                <a:lnTo>
                  <a:pt x="134368" y="4386262"/>
                </a:lnTo>
                <a:lnTo>
                  <a:pt x="152844" y="4343400"/>
                </a:lnTo>
                <a:lnTo>
                  <a:pt x="167960" y="4297362"/>
                </a:lnTo>
                <a:lnTo>
                  <a:pt x="178038" y="4244975"/>
                </a:lnTo>
                <a:lnTo>
                  <a:pt x="188115" y="4186237"/>
                </a:lnTo>
                <a:lnTo>
                  <a:pt x="189795" y="4116387"/>
                </a:lnTo>
                <a:lnTo>
                  <a:pt x="188115" y="4048125"/>
                </a:lnTo>
                <a:lnTo>
                  <a:pt x="178038" y="3987800"/>
                </a:lnTo>
                <a:lnTo>
                  <a:pt x="167960" y="3935412"/>
                </a:lnTo>
                <a:lnTo>
                  <a:pt x="152844" y="3890962"/>
                </a:lnTo>
                <a:lnTo>
                  <a:pt x="134368" y="3848100"/>
                </a:lnTo>
                <a:lnTo>
                  <a:pt x="115893" y="3811587"/>
                </a:lnTo>
                <a:lnTo>
                  <a:pt x="75583" y="3736975"/>
                </a:lnTo>
                <a:lnTo>
                  <a:pt x="55427" y="3697287"/>
                </a:lnTo>
                <a:lnTo>
                  <a:pt x="38632" y="3656012"/>
                </a:lnTo>
                <a:lnTo>
                  <a:pt x="23515" y="3609975"/>
                </a:lnTo>
                <a:lnTo>
                  <a:pt x="11758" y="3557587"/>
                </a:lnTo>
                <a:lnTo>
                  <a:pt x="3359" y="3497262"/>
                </a:lnTo>
                <a:lnTo>
                  <a:pt x="0" y="3427412"/>
                </a:lnTo>
                <a:lnTo>
                  <a:pt x="3359" y="3360737"/>
                </a:lnTo>
                <a:lnTo>
                  <a:pt x="11758" y="3300412"/>
                </a:lnTo>
                <a:lnTo>
                  <a:pt x="23515" y="3248025"/>
                </a:lnTo>
                <a:lnTo>
                  <a:pt x="38632" y="3201987"/>
                </a:lnTo>
                <a:lnTo>
                  <a:pt x="55427" y="3160712"/>
                </a:lnTo>
                <a:lnTo>
                  <a:pt x="75583" y="3121025"/>
                </a:lnTo>
                <a:lnTo>
                  <a:pt x="95738" y="3084512"/>
                </a:lnTo>
                <a:lnTo>
                  <a:pt x="115893" y="3046412"/>
                </a:lnTo>
                <a:lnTo>
                  <a:pt x="134368" y="3009900"/>
                </a:lnTo>
                <a:lnTo>
                  <a:pt x="152844" y="2967037"/>
                </a:lnTo>
                <a:lnTo>
                  <a:pt x="167960" y="2922587"/>
                </a:lnTo>
                <a:lnTo>
                  <a:pt x="178038" y="2868612"/>
                </a:lnTo>
                <a:lnTo>
                  <a:pt x="188115" y="2809875"/>
                </a:lnTo>
                <a:lnTo>
                  <a:pt x="189795" y="2741612"/>
                </a:lnTo>
                <a:lnTo>
                  <a:pt x="188115" y="2671762"/>
                </a:lnTo>
                <a:lnTo>
                  <a:pt x="178038" y="2613025"/>
                </a:lnTo>
                <a:lnTo>
                  <a:pt x="167960" y="2560637"/>
                </a:lnTo>
                <a:lnTo>
                  <a:pt x="152844" y="2513012"/>
                </a:lnTo>
                <a:lnTo>
                  <a:pt x="134368" y="2471737"/>
                </a:lnTo>
                <a:lnTo>
                  <a:pt x="115893" y="2433637"/>
                </a:lnTo>
                <a:lnTo>
                  <a:pt x="95738" y="2395537"/>
                </a:lnTo>
                <a:lnTo>
                  <a:pt x="75583" y="2359025"/>
                </a:lnTo>
                <a:lnTo>
                  <a:pt x="55427" y="2319337"/>
                </a:lnTo>
                <a:lnTo>
                  <a:pt x="38632" y="2278062"/>
                </a:lnTo>
                <a:lnTo>
                  <a:pt x="23515" y="2232025"/>
                </a:lnTo>
                <a:lnTo>
                  <a:pt x="11758" y="2179637"/>
                </a:lnTo>
                <a:lnTo>
                  <a:pt x="3359" y="2119312"/>
                </a:lnTo>
                <a:lnTo>
                  <a:pt x="0" y="2051050"/>
                </a:lnTo>
                <a:lnTo>
                  <a:pt x="3359" y="1982787"/>
                </a:lnTo>
                <a:lnTo>
                  <a:pt x="11758" y="1922462"/>
                </a:lnTo>
                <a:lnTo>
                  <a:pt x="23515" y="1870075"/>
                </a:lnTo>
                <a:lnTo>
                  <a:pt x="38632" y="1824037"/>
                </a:lnTo>
                <a:lnTo>
                  <a:pt x="55427" y="1782762"/>
                </a:lnTo>
                <a:lnTo>
                  <a:pt x="75583" y="1743075"/>
                </a:lnTo>
                <a:lnTo>
                  <a:pt x="95738" y="1708150"/>
                </a:lnTo>
                <a:lnTo>
                  <a:pt x="115893" y="1671637"/>
                </a:lnTo>
                <a:lnTo>
                  <a:pt x="134368" y="1631950"/>
                </a:lnTo>
                <a:lnTo>
                  <a:pt x="152844" y="1589087"/>
                </a:lnTo>
                <a:lnTo>
                  <a:pt x="167960" y="1544637"/>
                </a:lnTo>
                <a:lnTo>
                  <a:pt x="178038" y="1492250"/>
                </a:lnTo>
                <a:lnTo>
                  <a:pt x="188115" y="1431925"/>
                </a:lnTo>
                <a:lnTo>
                  <a:pt x="189795" y="1363662"/>
                </a:lnTo>
                <a:lnTo>
                  <a:pt x="188115" y="1295400"/>
                </a:lnTo>
                <a:lnTo>
                  <a:pt x="178038" y="1235075"/>
                </a:lnTo>
                <a:lnTo>
                  <a:pt x="167960" y="1182687"/>
                </a:lnTo>
                <a:lnTo>
                  <a:pt x="152844" y="1136650"/>
                </a:lnTo>
                <a:lnTo>
                  <a:pt x="134368" y="1095375"/>
                </a:lnTo>
                <a:lnTo>
                  <a:pt x="115893" y="1055687"/>
                </a:lnTo>
                <a:lnTo>
                  <a:pt x="95738" y="1017587"/>
                </a:lnTo>
                <a:lnTo>
                  <a:pt x="75583" y="981075"/>
                </a:lnTo>
                <a:lnTo>
                  <a:pt x="55427" y="942975"/>
                </a:lnTo>
                <a:lnTo>
                  <a:pt x="38632" y="901700"/>
                </a:lnTo>
                <a:lnTo>
                  <a:pt x="23515" y="854075"/>
                </a:lnTo>
                <a:lnTo>
                  <a:pt x="11758" y="801687"/>
                </a:lnTo>
                <a:lnTo>
                  <a:pt x="3359" y="744537"/>
                </a:lnTo>
                <a:lnTo>
                  <a:pt x="0" y="673100"/>
                </a:lnTo>
                <a:lnTo>
                  <a:pt x="3359" y="606425"/>
                </a:lnTo>
                <a:lnTo>
                  <a:pt x="11758" y="546100"/>
                </a:lnTo>
                <a:lnTo>
                  <a:pt x="23515" y="496887"/>
                </a:lnTo>
                <a:lnTo>
                  <a:pt x="38632" y="450850"/>
                </a:lnTo>
                <a:lnTo>
                  <a:pt x="55427" y="409575"/>
                </a:lnTo>
                <a:lnTo>
                  <a:pt x="73903" y="369887"/>
                </a:lnTo>
                <a:lnTo>
                  <a:pt x="92379" y="334962"/>
                </a:lnTo>
                <a:lnTo>
                  <a:pt x="112534" y="296862"/>
                </a:lnTo>
                <a:lnTo>
                  <a:pt x="132689" y="260350"/>
                </a:lnTo>
                <a:lnTo>
                  <a:pt x="149485" y="217487"/>
                </a:lnTo>
                <a:lnTo>
                  <a:pt x="166281" y="174625"/>
                </a:lnTo>
                <a:lnTo>
                  <a:pt x="176358" y="122237"/>
                </a:lnTo>
                <a:lnTo>
                  <a:pt x="184756" y="66675"/>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2283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A8A792-6C24-8F99-D739-B21E1CC8271F}"/>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953435F-C1BB-726E-BB0A-8DE2864AF23C}"/>
                  </a:ext>
                </a:extLst>
              </p:cNvPr>
              <p:cNvSpPr>
                <a:spLocks noGrp="1"/>
              </p:cNvSpPr>
              <p:nvPr>
                <p:ph idx="1"/>
              </p:nvPr>
            </p:nvSpPr>
            <p:spPr/>
            <p:txBody>
              <a:bodyPr/>
              <a:lstStyle/>
              <a:p>
                <a:r>
                  <a:rPr lang="en-US" dirty="0"/>
                  <a:t>Multiple regression analysis is more amenable to </a:t>
                </a:r>
                <a:r>
                  <a:rPr lang="en-US" i="1" dirty="0"/>
                  <a:t>ceteris paribus</a:t>
                </a:r>
                <a:r>
                  <a:rPr lang="en-US" dirty="0"/>
                  <a:t> analysis because it allows us to explicitly </a:t>
                </a:r>
                <a:r>
                  <a:rPr lang="en-US" dirty="0">
                    <a:solidFill>
                      <a:schemeClr val="accent1"/>
                    </a:solidFill>
                  </a:rPr>
                  <a:t>control</a:t>
                </a:r>
                <a:r>
                  <a:rPr lang="en-US" dirty="0"/>
                  <a:t> for many other factors that simultaneously affect the dependent variable (i.e., by removing factors in </a:t>
                </a:r>
                <a14:m>
                  <m:oMath xmlns:m="http://schemas.openxmlformats.org/officeDocument/2006/math">
                    <m:r>
                      <a:rPr lang="en-CA" i="1" smtClean="0">
                        <a:latin typeface="Cambria Math" panose="02040503050406030204" pitchFamily="18" charset="0"/>
                        <a:ea typeface="Cambria Math" panose="02040503050406030204" pitchFamily="18" charset="0"/>
                      </a:rPr>
                      <m:t>𝜇</m:t>
                    </m:r>
                  </m:oMath>
                </a14:m>
                <a:r>
                  <a:rPr lang="en-US" dirty="0"/>
                  <a:t> and estimating their impact on </a:t>
                </a:r>
                <a14:m>
                  <m:oMath xmlns:m="http://schemas.openxmlformats.org/officeDocument/2006/math">
                    <m:r>
                      <a:rPr lang="en-US" i="1" dirty="0" smtClean="0">
                        <a:latin typeface="Cambria Math" panose="02040503050406030204" pitchFamily="18" charset="0"/>
                      </a:rPr>
                      <m:t>𝑦</m:t>
                    </m:r>
                  </m:oMath>
                </a14:m>
                <a:r>
                  <a:rPr lang="en-US" dirty="0"/>
                  <a:t>).</a:t>
                </a:r>
              </a:p>
            </p:txBody>
          </p:sp>
        </mc:Choice>
        <mc:Fallback xmlns="">
          <p:sp>
            <p:nvSpPr>
              <p:cNvPr id="5" name="Content Placeholder 4">
                <a:extLst>
                  <a:ext uri="{FF2B5EF4-FFF2-40B4-BE49-F238E27FC236}">
                    <a16:creationId xmlns:a16="http://schemas.microsoft.com/office/drawing/2014/main" id="{7953435F-C1BB-726E-BB0A-8DE2864AF23C}"/>
                  </a:ext>
                </a:extLst>
              </p:cNvPr>
              <p:cNvSpPr>
                <a:spLocks noGrp="1" noRot="1" noChangeAspect="1" noMove="1" noResize="1" noEditPoints="1" noAdjustHandles="1" noChangeArrowheads="1" noChangeShapeType="1" noTextEdit="1"/>
              </p:cNvSpPr>
              <p:nvPr>
                <p:ph idx="1"/>
              </p:nvPr>
            </p:nvSpPr>
            <p:spPr>
              <a:blipFill>
                <a:blip r:embed="rId2"/>
                <a:stretch>
                  <a:fillRect l="-498" t="-704" r="-374"/>
                </a:stretch>
              </a:blipFill>
            </p:spPr>
            <p:txBody>
              <a:bodyPr/>
              <a:lstStyle/>
              <a:p>
                <a:r>
                  <a:rPr lang="en-US">
                    <a:noFill/>
                  </a:rPr>
                  <a:t> </a:t>
                </a:r>
              </a:p>
            </p:txBody>
          </p:sp>
        </mc:Fallback>
      </mc:AlternateContent>
    </p:spTree>
    <p:extLst>
      <p:ext uri="{BB962C8B-B14F-4D97-AF65-F5344CB8AC3E}">
        <p14:creationId xmlns:p14="http://schemas.microsoft.com/office/powerpoint/2010/main" val="729653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B581D-E2C5-3649-E038-A5AD4B0A2428}"/>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3F942F-2A8D-68DF-FC17-91E4284A5395}"/>
                  </a:ext>
                </a:extLst>
              </p:cNvPr>
              <p:cNvSpPr>
                <a:spLocks noGrp="1"/>
              </p:cNvSpPr>
              <p:nvPr>
                <p:ph idx="1"/>
              </p:nvPr>
            </p:nvSpPr>
            <p:spPr/>
            <p:txBody>
              <a:bodyPr>
                <a:normAutofit fontScale="85000" lnSpcReduction="10000"/>
              </a:bodyPr>
              <a:lstStyle/>
              <a:p>
                <a:pPr marL="0" indent="0">
                  <a:buNone/>
                </a:pPr>
                <a:r>
                  <a:rPr lang="en-US" dirty="0"/>
                  <a:t>The general </a:t>
                </a:r>
                <a:r>
                  <a:rPr lang="en-US" dirty="0">
                    <a:solidFill>
                      <a:schemeClr val="accent1"/>
                    </a:solidFill>
                  </a:rPr>
                  <a:t>multiple linear regression model </a:t>
                </a:r>
                <a:r>
                  <a:rPr lang="en-US" dirty="0"/>
                  <a:t>(also called the </a:t>
                </a:r>
                <a:r>
                  <a:rPr lang="en-US" i="1" dirty="0"/>
                  <a:t>multiple regression model</a:t>
                </a:r>
                <a:r>
                  <a:rPr lang="en-US" dirty="0"/>
                  <a:t>) with </a:t>
                </a:r>
                <a14:m>
                  <m:oMath xmlns:m="http://schemas.openxmlformats.org/officeDocument/2006/math">
                    <m:r>
                      <a:rPr lang="en-US" i="1" dirty="0" smtClean="0">
                        <a:latin typeface="Cambria Math" panose="02040503050406030204" pitchFamily="18" charset="0"/>
                      </a:rPr>
                      <m:t>𝑘</m:t>
                    </m:r>
                  </m:oMath>
                </a14:m>
                <a:r>
                  <a:rPr lang="en-US" dirty="0"/>
                  <a:t> independent variables can be written in the population as:</a:t>
                </a:r>
              </a:p>
              <a:p>
                <a:pPr marL="0" indent="0" algn="ctr">
                  <a:buNone/>
                </a:pPr>
                <a:endParaRPr lang="en-CA" b="0" i="1" dirty="0">
                  <a:latin typeface="Cambria Math" panose="02040503050406030204" pitchFamily="18" charset="0"/>
                </a:endParaRPr>
              </a:p>
              <a:p>
                <a:pPr marL="0" indent="0" algn="ctr">
                  <a:buNone/>
                </a:pPr>
                <a14:m>
                  <m:oMath xmlns:m="http://schemas.openxmlformats.org/officeDocument/2006/math">
                    <m:r>
                      <a:rPr lang="en-CA" b="0" i="1" smtClean="0">
                        <a:latin typeface="Cambria Math" panose="02040503050406030204" pitchFamily="18" charset="0"/>
                      </a:rPr>
                      <m:t>𝑦</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0</m:t>
                        </m:r>
                      </m:sub>
                    </m:sSub>
                    <m:r>
                      <a:rPr lang="en-CA" b="0" i="1" smtClean="0">
                        <a:latin typeface="Cambria Math" panose="02040503050406030204" pitchFamily="18" charset="0"/>
                      </a:rPr>
                      <m:t>+ </m:t>
                    </m:r>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2</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3</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3</m:t>
                        </m:r>
                      </m:sub>
                    </m:sSub>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𝑘</m:t>
                        </m:r>
                      </m:sub>
                    </m:sSub>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r>
                      <a:rPr lang="en-CA" i="1">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oMath>
                </a14:m>
                <a:r>
                  <a:rPr lang="en-CA" dirty="0"/>
                  <a:t> </a:t>
                </a:r>
              </a:p>
              <a:p>
                <a:pPr marL="0" indent="0" algn="ctr">
                  <a:buNone/>
                </a:pPr>
                <a:endParaRPr lang="en-CA" dirty="0"/>
              </a:p>
              <a:p>
                <a:pPr marL="0" indent="0">
                  <a:buNone/>
                </a:pPr>
                <a:r>
                  <a:rPr lang="en-US" dirty="0"/>
                  <a:t>where:</a:t>
                </a:r>
              </a:p>
              <a:p>
                <a:pPr marL="0" indent="0">
                  <a:buNone/>
                </a:pPr>
                <a:r>
                  <a:rPr lang="en-US" dirty="0"/>
                  <a:t>•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0</m:t>
                        </m:r>
                      </m:sub>
                    </m:sSub>
                  </m:oMath>
                </a14:m>
                <a:r>
                  <a:rPr lang="el-GR" dirty="0"/>
                  <a:t> </a:t>
                </a:r>
                <a:r>
                  <a:rPr lang="en-US" dirty="0"/>
                  <a:t>is the intercept</a:t>
                </a:r>
              </a:p>
              <a:p>
                <a:pPr marL="0" indent="0">
                  <a:buNone/>
                </a:pPr>
                <a:r>
                  <a:rPr lang="en-US" dirty="0"/>
                  <a:t>•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rPr>
                          <m:t>1</m:t>
                        </m:r>
                      </m:sub>
                    </m:sSub>
                  </m:oMath>
                </a14:m>
                <a:r>
                  <a:rPr lang="el-GR" dirty="0"/>
                  <a:t> </a:t>
                </a:r>
                <a:r>
                  <a:rPr lang="en-US" dirty="0"/>
                  <a:t>is the slope parameter associated with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1</m:t>
                        </m:r>
                      </m:sub>
                    </m:sSub>
                  </m:oMath>
                </a14:m>
                <a:endParaRPr lang="en-US" dirty="0"/>
              </a:p>
              <a:p>
                <a:pPr marL="0" indent="0">
                  <a:buNone/>
                </a:pPr>
                <a:r>
                  <a:rPr lang="en-US" dirty="0"/>
                  <a:t>•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2</m:t>
                        </m:r>
                      </m:sub>
                    </m:sSub>
                  </m:oMath>
                </a14:m>
                <a:r>
                  <a:rPr lang="el-GR" dirty="0"/>
                  <a:t> </a:t>
                </a:r>
                <a:r>
                  <a:rPr lang="en-US" dirty="0"/>
                  <a:t>is the slope parameter associated with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2</m:t>
                        </m:r>
                      </m:sub>
                    </m:sSub>
                  </m:oMath>
                </a14:m>
                <a:r>
                  <a:rPr lang="en-US" dirty="0"/>
                  <a:t>, and so on</a:t>
                </a:r>
              </a:p>
              <a:p>
                <a:pPr marL="0" indent="0">
                  <a:buNone/>
                </a:pPr>
                <a:r>
                  <a:rPr lang="en-US" dirty="0"/>
                  <a:t>• </a:t>
                </a:r>
                <a14:m>
                  <m:oMath xmlns:m="http://schemas.openxmlformats.org/officeDocument/2006/math">
                    <m:r>
                      <a:rPr lang="en-CA" b="0" i="1" smtClean="0">
                        <a:latin typeface="Cambria Math" panose="02040503050406030204" pitchFamily="18" charset="0"/>
                        <a:ea typeface="Cambria Math" panose="02040503050406030204" pitchFamily="18" charset="0"/>
                      </a:rPr>
                      <m:t>𝜇</m:t>
                    </m:r>
                  </m:oMath>
                </a14:m>
                <a:r>
                  <a:rPr lang="en-US" dirty="0"/>
                  <a:t> is the error term or disturbance and contains all the other factors that affect y other than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1</m:t>
                        </m:r>
                      </m:sub>
                    </m:sSub>
                  </m:oMath>
                </a14:m>
                <a:r>
                  <a:rPr lang="en-US" dirty="0"/>
                  <a:t>,</a:t>
                </a:r>
                <a:r>
                  <a:rPr lang="en-CA" dirty="0"/>
                  <a:t>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oMath>
                </a14:m>
                <a:r>
                  <a:rPr lang="en-US" dirty="0"/>
                  <a:t>,</a:t>
                </a:r>
                <a:r>
                  <a:rPr lang="en-CA" dirty="0"/>
                  <a:t>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3</m:t>
                        </m:r>
                      </m:sub>
                    </m:sSub>
                  </m:oMath>
                </a14:m>
                <a:r>
                  <a:rPr lang="en-US" dirty="0"/>
                  <a:t>, ...,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oMath>
                </a14:m>
                <a:r>
                  <a:rPr lang="en-US"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E43F942F-2A8D-68DF-FC17-91E4284A5395}"/>
                  </a:ext>
                </a:extLst>
              </p:cNvPr>
              <p:cNvSpPr>
                <a:spLocks noGrp="1" noRot="1" noChangeAspect="1" noMove="1" noResize="1" noEditPoints="1" noAdjustHandles="1" noChangeArrowheads="1" noChangeShapeType="1" noTextEdit="1"/>
              </p:cNvSpPr>
              <p:nvPr>
                <p:ph idx="1"/>
              </p:nvPr>
            </p:nvSpPr>
            <p:spPr>
              <a:blipFill>
                <a:blip r:embed="rId2"/>
                <a:stretch>
                  <a:fillRect l="-374" t="-704"/>
                </a:stretch>
              </a:blipFill>
            </p:spPr>
            <p:txBody>
              <a:bodyPr/>
              <a:lstStyle/>
              <a:p>
                <a:r>
                  <a:rPr lang="en-US">
                    <a:noFill/>
                  </a:rPr>
                  <a:t> </a:t>
                </a:r>
              </a:p>
            </p:txBody>
          </p:sp>
        </mc:Fallback>
      </mc:AlternateContent>
    </p:spTree>
    <p:extLst>
      <p:ext uri="{BB962C8B-B14F-4D97-AF65-F5344CB8AC3E}">
        <p14:creationId xmlns:p14="http://schemas.microsoft.com/office/powerpoint/2010/main" val="123958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2068-5336-D503-5695-71B95A3D01F4}"/>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DBAA4C-A6BE-8938-360A-7A2CC70F237A}"/>
                  </a:ext>
                </a:extLst>
              </p:cNvPr>
              <p:cNvSpPr>
                <a:spLocks noGrp="1"/>
              </p:cNvSpPr>
              <p:nvPr>
                <p:ph idx="1"/>
              </p:nvPr>
            </p:nvSpPr>
            <p:spPr/>
            <p:txBody>
              <a:bodyPr/>
              <a:lstStyle/>
              <a:p>
                <a:pPr marL="0" indent="0">
                  <a:buNone/>
                </a:pPr>
                <a:r>
                  <a:rPr lang="en-US" dirty="0"/>
                  <a:t>In the general case with k independent variables, we seek estimates </a:t>
                </a:r>
                <a14:m>
                  <m:oMath xmlns:m="http://schemas.openxmlformats.org/officeDocument/2006/math">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 </m:t>
                        </m:r>
                      </m:e>
                    </m:acc>
                  </m:oMath>
                </a14:m>
                <a:r>
                  <a:rPr lang="el-GR" dirty="0"/>
                  <a:t>,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1</m:t>
                            </m:r>
                          </m:sub>
                        </m:sSub>
                        <m:r>
                          <a:rPr lang="es-ES" i="1">
                            <a:latin typeface="Cambria Math" panose="02040503050406030204" pitchFamily="18" charset="0"/>
                          </a:rPr>
                          <m:t> </m:t>
                        </m:r>
                      </m:e>
                    </m:acc>
                  </m:oMath>
                </a14:m>
                <a:r>
                  <a:rPr lang="el-GR" dirty="0"/>
                  <a:t>, ...,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𝑘</m:t>
                            </m:r>
                          </m:sub>
                        </m:sSub>
                        <m:r>
                          <a:rPr lang="es-ES" i="1">
                            <a:latin typeface="Cambria Math" panose="02040503050406030204" pitchFamily="18" charset="0"/>
                          </a:rPr>
                          <m:t> </m:t>
                        </m:r>
                      </m:e>
                    </m:acc>
                  </m:oMath>
                </a14:m>
                <a:r>
                  <a:rPr lang="en-US" dirty="0"/>
                  <a:t> in the equation:</a:t>
                </a:r>
              </a:p>
              <a:p>
                <a:pPr marL="0" indent="0">
                  <a:buNone/>
                </a:pPr>
                <a14:m>
                  <m:oMathPara xmlns:m="http://schemas.openxmlformats.org/officeDocument/2006/math">
                    <m:oMathParaPr>
                      <m:jc m:val="centerGroup"/>
                    </m:oMathParaPr>
                    <m:oMath xmlns:m="http://schemas.openxmlformats.org/officeDocument/2006/math">
                      <m:acc>
                        <m:accPr>
                          <m:chr m:val="̂"/>
                          <m:ctrlPr>
                            <a:rPr lang="es-ES" i="1" smtClean="0">
                              <a:latin typeface="Cambria Math" panose="02040503050406030204" pitchFamily="18" charset="0"/>
                            </a:rPr>
                          </m:ctrlPr>
                        </m:accPr>
                        <m:e>
                          <m:r>
                            <a:rPr lang="en-CA" i="1">
                              <a:latin typeface="Cambria Math" panose="02040503050406030204" pitchFamily="18" charset="0"/>
                            </a:rPr>
                            <m:t>𝑦</m:t>
                          </m:r>
                        </m:e>
                      </m:acc>
                      <m:r>
                        <a:rPr lang="es-ES" i="1">
                          <a:latin typeface="Cambria Math" panose="02040503050406030204" pitchFamily="18" charset="0"/>
                        </a:rPr>
                        <m:t>=</m:t>
                      </m:r>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 </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e>
                      </m:acc>
                      <m:sSub>
                        <m:sSubPr>
                          <m:ctrlPr>
                            <a:rPr lang="en-US"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2</m:t>
                              </m:r>
                            </m:sub>
                          </m:sSub>
                        </m:e>
                      </m:acc>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𝑘</m:t>
                              </m:r>
                            </m:sub>
                          </m:sSub>
                        </m:e>
                      </m:acc>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oMath>
                  </m:oMathPara>
                </a14:m>
                <a:endParaRPr lang="en-US" dirty="0"/>
              </a:p>
              <a:p>
                <a:pPr marL="0" indent="0">
                  <a:buNone/>
                </a:pPr>
                <a:endParaRPr lang="en-US" dirty="0"/>
              </a:p>
              <a:p>
                <a:pPr marL="0" indent="0">
                  <a:buNone/>
                </a:pPr>
                <a:r>
                  <a:rPr lang="en-US" dirty="0"/>
                  <a:t>The OLS estimates,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+1 </m:t>
                    </m:r>
                  </m:oMath>
                </a14:m>
                <a:r>
                  <a:rPr lang="en-US" dirty="0"/>
                  <a:t>of them, are chosen to minimize the sum of squared residuals in a sample of </a:t>
                </a:r>
                <a14:m>
                  <m:oMath xmlns:m="http://schemas.openxmlformats.org/officeDocument/2006/math">
                    <m:r>
                      <a:rPr lang="en-US" i="1" dirty="0" smtClean="0">
                        <a:latin typeface="Cambria Math" panose="02040503050406030204" pitchFamily="18" charset="0"/>
                      </a:rPr>
                      <m:t>𝑛</m:t>
                    </m:r>
                  </m:oMath>
                </a14:m>
                <a:r>
                  <a:rPr lang="en-US" dirty="0"/>
                  <a:t> observations:</a:t>
                </a:r>
              </a:p>
              <a:p>
                <a:pPr marL="0" indent="0" algn="ctr">
                  <a:buNone/>
                </a:pPr>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CA" b="0" i="1" smtClean="0">
                              <a:latin typeface="Cambria Math" panose="02040503050406030204" pitchFamily="18" charset="0"/>
                            </a:rPr>
                            <m:t>𝑖</m:t>
                          </m:r>
                          <m:r>
                            <a:rPr lang="en-CA" b="0" i="1" smtClean="0">
                              <a:latin typeface="Cambria Math" panose="02040503050406030204" pitchFamily="18" charset="0"/>
                            </a:rPr>
                            <m:t>=1</m:t>
                          </m:r>
                        </m:sub>
                        <m:sup>
                          <m:r>
                            <a:rPr lang="en-CA" b="0" i="1" smtClean="0">
                              <a:latin typeface="Cambria Math" panose="02040503050406030204" pitchFamily="18" charset="0"/>
                            </a:rPr>
                            <m:t>𝑛</m:t>
                          </m:r>
                        </m:sup>
                        <m:e>
                          <m:sSup>
                            <m:sSupPr>
                              <m:ctrlPr>
                                <a:rPr lang="en-CA" i="1">
                                  <a:latin typeface="Cambria Math" panose="02040503050406030204" pitchFamily="18" charset="0"/>
                                </a:rPr>
                              </m:ctrlPr>
                            </m:sSupPr>
                            <m:e>
                              <m:r>
                                <a:rPr lang="en-CA" i="1">
                                  <a:latin typeface="Cambria Math" panose="02040503050406030204" pitchFamily="18" charset="0"/>
                                </a:rPr>
                                <m:t>(</m:t>
                              </m:r>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r>
                                <a:rPr lang="en-CA" i="1">
                                  <a:latin typeface="Cambria Math" panose="02040503050406030204" pitchFamily="18" charset="0"/>
                                </a:rPr>
                                <m:t>−</m:t>
                              </m:r>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s-ES" i="1">
                                      <a:latin typeface="Cambria Math" panose="02040503050406030204" pitchFamily="18" charset="0"/>
                                    </a:rPr>
                                    <m:t> </m:t>
                                  </m:r>
                                </m:e>
                              </m:acc>
                              <m:r>
                                <a:rPr lang="en-CA"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e>
                              </m:acc>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𝑖</m:t>
                                  </m:r>
                                  <m:r>
                                    <a:rPr lang="en-CA" i="1">
                                      <a:latin typeface="Cambria Math" panose="02040503050406030204" pitchFamily="18" charset="0"/>
                                    </a:rPr>
                                    <m:t>1</m:t>
                                  </m:r>
                                </m:sub>
                              </m:sSub>
                              <m:r>
                                <a:rPr lang="en-CA"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2</m:t>
                                      </m:r>
                                    </m:sub>
                                  </m:sSub>
                                </m:e>
                              </m:acc>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𝑖</m:t>
                                  </m:r>
                                  <m:r>
                                    <a:rPr lang="en-CA" i="1">
                                      <a:latin typeface="Cambria Math" panose="02040503050406030204" pitchFamily="18" charset="0"/>
                                    </a:rPr>
                                    <m:t>2</m:t>
                                  </m:r>
                                </m:sub>
                              </m:sSub>
                              <m:r>
                                <a:rPr lang="en-CA"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𝑘</m:t>
                                      </m:r>
                                    </m:sub>
                                  </m:sSub>
                                </m:e>
                              </m:acc>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𝑖𝑘</m:t>
                                  </m:r>
                                </m:sub>
                              </m:sSub>
                              <m:r>
                                <a:rPr lang="en-CA" i="1">
                                  <a:latin typeface="Cambria Math" panose="02040503050406030204" pitchFamily="18" charset="0"/>
                                </a:rPr>
                                <m:t>)</m:t>
                              </m:r>
                            </m:e>
                            <m:sup>
                              <m:r>
                                <a:rPr lang="en-CA" i="1">
                                  <a:latin typeface="Cambria Math" panose="02040503050406030204" pitchFamily="18" charset="0"/>
                                </a:rPr>
                                <m:t>2</m:t>
                              </m:r>
                            </m:sup>
                          </m:sSup>
                        </m:e>
                      </m:nary>
                    </m:oMath>
                  </m:oMathPara>
                </a14:m>
                <a:endParaRPr lang="en-US" dirty="0"/>
              </a:p>
            </p:txBody>
          </p:sp>
        </mc:Choice>
        <mc:Fallback xmlns="">
          <p:sp>
            <p:nvSpPr>
              <p:cNvPr id="3" name="Content Placeholder 2">
                <a:extLst>
                  <a:ext uri="{FF2B5EF4-FFF2-40B4-BE49-F238E27FC236}">
                    <a16:creationId xmlns:a16="http://schemas.microsoft.com/office/drawing/2014/main" id="{97DBAA4C-A6BE-8938-360A-7A2CC70F237A}"/>
                  </a:ext>
                </a:extLst>
              </p:cNvPr>
              <p:cNvSpPr>
                <a:spLocks noGrp="1" noRot="1" noChangeAspect="1" noMove="1" noResize="1" noEditPoints="1" noAdjustHandles="1" noChangeArrowheads="1" noChangeShapeType="1" noTextEdit="1"/>
              </p:cNvSpPr>
              <p:nvPr>
                <p:ph idx="1"/>
              </p:nvPr>
            </p:nvSpPr>
            <p:spPr>
              <a:blipFill>
                <a:blip r:embed="rId2"/>
                <a:stretch>
                  <a:fillRect l="-623" t="-352" b="-30986"/>
                </a:stretch>
              </a:blipFill>
            </p:spPr>
            <p:txBody>
              <a:bodyPr/>
              <a:lstStyle/>
              <a:p>
                <a:r>
                  <a:rPr lang="en-US">
                    <a:noFill/>
                  </a:rPr>
                  <a:t> </a:t>
                </a:r>
              </a:p>
            </p:txBody>
          </p:sp>
        </mc:Fallback>
      </mc:AlternateContent>
    </p:spTree>
    <p:extLst>
      <p:ext uri="{BB962C8B-B14F-4D97-AF65-F5344CB8AC3E}">
        <p14:creationId xmlns:p14="http://schemas.microsoft.com/office/powerpoint/2010/main" val="2247752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4E0066-8E4F-1572-67E5-E2CDCF9AB6AD}"/>
                  </a:ext>
                </a:extLst>
              </p:cNvPr>
              <p:cNvSpPr>
                <a:spLocks noGrp="1"/>
              </p:cNvSpPr>
              <p:nvPr>
                <p:ph idx="1"/>
              </p:nvPr>
            </p:nvSpPr>
            <p:spPr>
              <a:xfrm>
                <a:off x="1251678" y="650240"/>
                <a:ext cx="10178322" cy="5618479"/>
              </a:xfrm>
            </p:spPr>
            <p:txBody>
              <a:bodyPr/>
              <a:lstStyle/>
              <a:p>
                <a:pPr marL="0" indent="0">
                  <a:buNone/>
                </a:pPr>
                <a:r>
                  <a:rPr lang="en-US" dirty="0"/>
                  <a:t>From the </a:t>
                </a:r>
                <a:r>
                  <a:rPr lang="en-US" b="1" dirty="0"/>
                  <a:t>OLS regression line </a:t>
                </a:r>
                <a:r>
                  <a:rPr lang="en-US" dirty="0"/>
                  <a:t>(also called the sample regression function, SRF):</a:t>
                </a:r>
              </a:p>
              <a:p>
                <a:pPr marL="0" indent="0" algn="ctr">
                  <a:buNone/>
                </a:pPr>
                <a:endParaRPr lang="es-ES"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acc>
                        <m:accPr>
                          <m:chr m:val="̂"/>
                          <m:ctrlPr>
                            <a:rPr lang="es-ES" i="1" smtClean="0">
                              <a:latin typeface="Cambria Math" panose="02040503050406030204" pitchFamily="18" charset="0"/>
                            </a:rPr>
                          </m:ctrlPr>
                        </m:accPr>
                        <m:e>
                          <m:r>
                            <a:rPr lang="en-CA" i="1">
                              <a:latin typeface="Cambria Math" panose="02040503050406030204" pitchFamily="18" charset="0"/>
                            </a:rPr>
                            <m:t>𝑦</m:t>
                          </m:r>
                        </m:e>
                      </m:acc>
                      <m:r>
                        <a:rPr lang="es-ES" i="1">
                          <a:latin typeface="Cambria Math" panose="02040503050406030204" pitchFamily="18" charset="0"/>
                        </a:rPr>
                        <m:t>=</m:t>
                      </m:r>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 </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e>
                      </m:acc>
                      <m:sSub>
                        <m:sSubPr>
                          <m:ctrlPr>
                            <a:rPr lang="en-US"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r>
                        <a:rPr lang="en-CA" b="0" i="1"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2</m:t>
                              </m:r>
                            </m:sub>
                          </m:sSub>
                        </m:e>
                      </m:acc>
                      <m:sSub>
                        <m:sSubPr>
                          <m:ctrlPr>
                            <a:rPr lang="en-US" i="1" smtClean="0">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r>
                        <a:rPr lang="en-CA" b="0" i="1"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𝑘</m:t>
                              </m:r>
                            </m:sub>
                          </m:sSub>
                        </m:e>
                      </m:acc>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r>
                        <a:rPr lang="en-CA" b="0" i="1" smtClean="0">
                          <a:latin typeface="Cambria Math" panose="02040503050406030204" pitchFamily="18" charset="0"/>
                        </a:rPr>
                        <m:t> </m:t>
                      </m:r>
                    </m:oMath>
                  </m:oMathPara>
                </a14:m>
                <a:endParaRPr lang="en-US" dirty="0"/>
              </a:p>
              <a:p>
                <a:pPr marL="0" indent="0">
                  <a:buNone/>
                </a:pPr>
                <a:endParaRPr lang="en-US" dirty="0"/>
              </a:p>
              <a:p>
                <a:pPr marL="0" indent="0">
                  <a:buNone/>
                </a:pPr>
                <a:r>
                  <a:rPr lang="en-US" dirty="0"/>
                  <a:t>the estimates </a:t>
                </a:r>
                <a14:m>
                  <m:oMath xmlns:m="http://schemas.openxmlformats.org/officeDocument/2006/math">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 </m:t>
                        </m:r>
                      </m:e>
                    </m:acc>
                  </m:oMath>
                </a14:m>
                <a:r>
                  <a:rPr lang="el-GR" dirty="0"/>
                  <a:t>,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1</m:t>
                            </m:r>
                          </m:sub>
                        </m:sSub>
                        <m:r>
                          <a:rPr lang="es-ES" i="1">
                            <a:latin typeface="Cambria Math" panose="02040503050406030204" pitchFamily="18" charset="0"/>
                          </a:rPr>
                          <m:t> </m:t>
                        </m:r>
                      </m:e>
                    </m:acc>
                  </m:oMath>
                </a14:m>
                <a:r>
                  <a:rPr lang="el-GR" dirty="0"/>
                  <a:t>, ...,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𝑘</m:t>
                            </m:r>
                          </m:sub>
                        </m:sSub>
                        <m:r>
                          <a:rPr lang="es-ES" i="1">
                            <a:latin typeface="Cambria Math" panose="02040503050406030204" pitchFamily="18" charset="0"/>
                          </a:rPr>
                          <m:t> </m:t>
                        </m:r>
                      </m:e>
                    </m:acc>
                    <m:r>
                      <a:rPr lang="es-ES" i="1">
                        <a:latin typeface="Cambria Math" panose="02040503050406030204" pitchFamily="18" charset="0"/>
                      </a:rPr>
                      <m:t> </m:t>
                    </m:r>
                  </m:oMath>
                </a14:m>
                <a:r>
                  <a:rPr lang="en-US" dirty="0"/>
                  <a:t>have partial effect, or </a:t>
                </a:r>
                <a:r>
                  <a:rPr lang="en-US" i="1" dirty="0"/>
                  <a:t>ceteris paribus</a:t>
                </a:r>
                <a:r>
                  <a:rPr lang="en-US" dirty="0"/>
                  <a:t>, interpretations.</a:t>
                </a:r>
              </a:p>
              <a:p>
                <a:pPr marL="0" indent="0">
                  <a:buNone/>
                </a:pPr>
                <a:endParaRPr lang="en-US" dirty="0"/>
              </a:p>
              <a:p>
                <a:pPr marL="0" indent="0">
                  <a:buNone/>
                </a:pPr>
                <a:r>
                  <a:rPr lang="en-US" dirty="0"/>
                  <a:t>For example, the coefficient on </a:t>
                </a:r>
                <a14:m>
                  <m:oMath xmlns:m="http://schemas.openxmlformats.org/officeDocument/2006/math">
                    <m:sSub>
                      <m:sSubPr>
                        <m:ctrlPr>
                          <a:rPr lang="en-US"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1</m:t>
                        </m:r>
                      </m:sub>
                    </m:sSub>
                  </m:oMath>
                </a14:m>
                <a:r>
                  <a:rPr lang="en-US" dirty="0"/>
                  <a:t> measures the change in </a:t>
                </a:r>
                <a14:m>
                  <m:oMath xmlns:m="http://schemas.openxmlformats.org/officeDocument/2006/math">
                    <m:acc>
                      <m:accPr>
                        <m:chr m:val="̂"/>
                        <m:ctrlPr>
                          <a:rPr lang="es-ES" i="1">
                            <a:latin typeface="Cambria Math" panose="02040503050406030204" pitchFamily="18" charset="0"/>
                          </a:rPr>
                        </m:ctrlPr>
                      </m:accPr>
                      <m:e>
                        <m:r>
                          <a:rPr lang="en-CA" i="1">
                            <a:latin typeface="Cambria Math" panose="02040503050406030204" pitchFamily="18" charset="0"/>
                          </a:rPr>
                          <m:t>𝑦</m:t>
                        </m:r>
                      </m:e>
                    </m:acc>
                  </m:oMath>
                </a14:m>
                <a:r>
                  <a:rPr lang="en-US" dirty="0"/>
                  <a:t> due to a one-unit increase in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1</m:t>
                        </m:r>
                      </m:sub>
                    </m:sSub>
                  </m:oMath>
                </a14:m>
                <a:r>
                  <a:rPr lang="en-US" dirty="0"/>
                  <a:t>, holding all other independent variables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2</m:t>
                        </m:r>
                      </m:sub>
                    </m:sSub>
                    <m:r>
                      <a:rPr lang="en-US" i="1" dirty="0" smtClean="0">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3</m:t>
                        </m:r>
                      </m:sub>
                    </m:sSub>
                    <m:r>
                      <a:rPr lang="en-US" i="1" dirty="0" smtClean="0">
                        <a:latin typeface="Cambria Math" panose="02040503050406030204" pitchFamily="18" charset="0"/>
                      </a:rPr>
                      <m:t>, …,</m:t>
                    </m:r>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𝑘</m:t>
                        </m:r>
                      </m:sub>
                    </m:sSub>
                  </m:oMath>
                </a14:m>
                <a:r>
                  <a:rPr lang="en-US" dirty="0"/>
                  <a:t>) fixed.</a:t>
                </a:r>
              </a:p>
              <a:p>
                <a:pPr marL="0" indent="0">
                  <a:buNone/>
                </a:pPr>
                <a:endParaRPr lang="en-US" dirty="0"/>
              </a:p>
              <a:p>
                <a:pPr marL="0" indent="0">
                  <a:buNone/>
                </a:pPr>
                <a:r>
                  <a:rPr lang="en-US" dirty="0"/>
                  <a:t>That is, </a:t>
                </a:r>
                <a14:m>
                  <m:oMath xmlns:m="http://schemas.openxmlformats.org/officeDocument/2006/math">
                    <m:r>
                      <a:rPr lang="en-US" i="1" dirty="0" smtClean="0">
                        <a:latin typeface="Cambria Math" panose="02040503050406030204" pitchFamily="18" charset="0"/>
                      </a:rPr>
                      <m:t>∆</m:t>
                    </m:r>
                    <m:acc>
                      <m:accPr>
                        <m:chr m:val="̂"/>
                        <m:ctrlPr>
                          <a:rPr lang="es-ES" i="1">
                            <a:latin typeface="Cambria Math" panose="02040503050406030204" pitchFamily="18" charset="0"/>
                          </a:rPr>
                        </m:ctrlPr>
                      </m:accPr>
                      <m:e>
                        <m:r>
                          <a:rPr lang="en-CA" i="1">
                            <a:latin typeface="Cambria Math" panose="02040503050406030204" pitchFamily="18" charset="0"/>
                          </a:rPr>
                          <m:t>𝑦</m:t>
                        </m:r>
                      </m:e>
                    </m:acc>
                    <m:r>
                      <a:rPr lang="en-US" i="1" dirty="0"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e>
                    </m:acc>
                    <m:r>
                      <a:rPr lang="el-GR" i="1" dirty="0" smtClean="0">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1</m:t>
                        </m:r>
                      </m:sub>
                    </m:sSub>
                  </m:oMath>
                </a14:m>
                <a:r>
                  <a:rPr lang="en-US" dirty="0"/>
                  <a:t>, holding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2</m:t>
                        </m:r>
                      </m:sub>
                    </m:sSub>
                    <m:r>
                      <a:rPr lang="en-US" i="1" dirty="0">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3</m:t>
                        </m:r>
                      </m:sub>
                    </m:sSub>
                    <m:r>
                      <a:rPr lang="en-US" i="1" dirty="0">
                        <a:latin typeface="Cambria Math" panose="02040503050406030204" pitchFamily="18" charset="0"/>
                      </a:rPr>
                      <m:t>, …,</m:t>
                    </m:r>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𝑘</m:t>
                        </m:r>
                      </m:sub>
                    </m:sSub>
                    <m:r>
                      <a:rPr lang="en-CA" i="1">
                        <a:latin typeface="Cambria Math" panose="02040503050406030204" pitchFamily="18" charset="0"/>
                      </a:rPr>
                      <m:t> </m:t>
                    </m:r>
                  </m:oMath>
                </a14:m>
                <a:r>
                  <a:rPr lang="en-US" dirty="0"/>
                  <a:t>fixed. Thus, we have controlled for the variables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2</m:t>
                        </m:r>
                      </m:sub>
                    </m:sSub>
                    <m:r>
                      <a:rPr lang="en-US" i="1" dirty="0">
                        <a:latin typeface="Cambria Math" panose="02040503050406030204" pitchFamily="18" charset="0"/>
                      </a:rPr>
                      <m:t>,</m:t>
                    </m:r>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3</m:t>
                        </m:r>
                      </m:sub>
                    </m:sSub>
                    <m:r>
                      <a:rPr lang="en-US" i="1" dirty="0">
                        <a:latin typeface="Cambria Math" panose="02040503050406030204" pitchFamily="18" charset="0"/>
                      </a:rPr>
                      <m:t>, …,</m:t>
                    </m:r>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𝑘</m:t>
                        </m:r>
                      </m:sub>
                    </m:sSub>
                    <m:r>
                      <a:rPr lang="en-CA" i="1">
                        <a:latin typeface="Cambria Math" panose="02040503050406030204" pitchFamily="18" charset="0"/>
                      </a:rPr>
                      <m:t> </m:t>
                    </m:r>
                  </m:oMath>
                </a14:m>
                <a:r>
                  <a:rPr lang="en-US" dirty="0"/>
                  <a:t>when estimating the effect of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1</m:t>
                        </m:r>
                      </m:sub>
                    </m:sSub>
                  </m:oMath>
                </a14:m>
                <a:r>
                  <a:rPr lang="en-US" dirty="0"/>
                  <a:t> on </a:t>
                </a:r>
                <a14:m>
                  <m:oMath xmlns:m="http://schemas.openxmlformats.org/officeDocument/2006/math">
                    <m:r>
                      <a:rPr lang="en-US" i="1" dirty="0" smtClean="0">
                        <a:latin typeface="Cambria Math" panose="02040503050406030204" pitchFamily="18" charset="0"/>
                      </a:rPr>
                      <m:t>𝑦</m:t>
                    </m:r>
                  </m:oMath>
                </a14:m>
                <a:r>
                  <a:rPr lang="en-US" dirty="0"/>
                  <a:t>.</a:t>
                </a:r>
              </a:p>
              <a:p>
                <a:pPr marL="0" indent="0">
                  <a:buNone/>
                </a:pPr>
                <a:endParaRPr lang="en-US" dirty="0"/>
              </a:p>
              <a:p>
                <a:pPr marL="0" indent="0">
                  <a:buNone/>
                </a:pPr>
                <a:r>
                  <a:rPr lang="en-US" dirty="0"/>
                  <a:t>The intercept </a:t>
                </a:r>
                <a14:m>
                  <m:oMath xmlns:m="http://schemas.openxmlformats.org/officeDocument/2006/math">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oMath>
                </a14:m>
                <a:r>
                  <a:rPr lang="el-GR" dirty="0"/>
                  <a:t> </a:t>
                </a:r>
                <a:r>
                  <a:rPr lang="en-US" dirty="0"/>
                  <a:t>is the predicted value of </a:t>
                </a:r>
                <a14:m>
                  <m:oMath xmlns:m="http://schemas.openxmlformats.org/officeDocument/2006/math">
                    <m:r>
                      <a:rPr lang="en-US" i="1" dirty="0" smtClean="0">
                        <a:latin typeface="Cambria Math" panose="02040503050406030204" pitchFamily="18" charset="0"/>
                      </a:rPr>
                      <m:t>𝑦</m:t>
                    </m:r>
                  </m:oMath>
                </a14:m>
                <a:r>
                  <a:rPr lang="en-US" dirty="0"/>
                  <a:t> when </a:t>
                </a:r>
                <a14:m>
                  <m:oMath xmlns:m="http://schemas.openxmlformats.org/officeDocument/2006/math">
                    <m:sSub>
                      <m:sSubPr>
                        <m:ctrlPr>
                          <a:rPr lang="en-US" i="1" smtClean="0">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1</m:t>
                        </m:r>
                      </m:sub>
                    </m:sSub>
                  </m:oMath>
                </a14:m>
                <a:r>
                  <a:rPr lang="en-US" dirty="0"/>
                  <a:t>= 0,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oMath>
                </a14:m>
                <a:r>
                  <a:rPr lang="en-US" dirty="0"/>
                  <a:t>= 0, ..., and </a:t>
                </a:r>
                <a14:m>
                  <m:oMath xmlns:m="http://schemas.openxmlformats.org/officeDocument/2006/math">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oMath>
                </a14:m>
                <a:r>
                  <a:rPr lang="en-US" dirty="0"/>
                  <a:t>= 0. (Generally nonsensical)</a:t>
                </a:r>
              </a:p>
            </p:txBody>
          </p:sp>
        </mc:Choice>
        <mc:Fallback xmlns="">
          <p:sp>
            <p:nvSpPr>
              <p:cNvPr id="3" name="Content Placeholder 2">
                <a:extLst>
                  <a:ext uri="{FF2B5EF4-FFF2-40B4-BE49-F238E27FC236}">
                    <a16:creationId xmlns:a16="http://schemas.microsoft.com/office/drawing/2014/main" id="{284E0066-8E4F-1572-67E5-E2CDCF9AB6AD}"/>
                  </a:ext>
                </a:extLst>
              </p:cNvPr>
              <p:cNvSpPr>
                <a:spLocks noGrp="1" noRot="1" noChangeAspect="1" noMove="1" noResize="1" noEditPoints="1" noAdjustHandles="1" noChangeArrowheads="1" noChangeShapeType="1" noTextEdit="1"/>
              </p:cNvSpPr>
              <p:nvPr>
                <p:ph idx="1"/>
              </p:nvPr>
            </p:nvSpPr>
            <p:spPr>
              <a:xfrm>
                <a:off x="1251678" y="650240"/>
                <a:ext cx="10178322" cy="5618479"/>
              </a:xfrm>
              <a:blipFill>
                <a:blip r:embed="rId2"/>
                <a:stretch>
                  <a:fillRect l="-623" t="-451" b="-2032"/>
                </a:stretch>
              </a:blipFill>
            </p:spPr>
            <p:txBody>
              <a:bodyPr/>
              <a:lstStyle/>
              <a:p>
                <a:r>
                  <a:rPr lang="en-US">
                    <a:noFill/>
                  </a:rPr>
                  <a:t> </a:t>
                </a:r>
              </a:p>
            </p:txBody>
          </p:sp>
        </mc:Fallback>
      </mc:AlternateContent>
    </p:spTree>
    <p:extLst>
      <p:ext uri="{BB962C8B-B14F-4D97-AF65-F5344CB8AC3E}">
        <p14:creationId xmlns:p14="http://schemas.microsoft.com/office/powerpoint/2010/main" val="1197417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D50C8B-1043-3D8D-F445-B10BC1D88FD0}"/>
                  </a:ext>
                </a:extLst>
              </p:cNvPr>
              <p:cNvSpPr>
                <a:spLocks noGrp="1"/>
              </p:cNvSpPr>
              <p:nvPr>
                <p:ph idx="1"/>
              </p:nvPr>
            </p:nvSpPr>
            <p:spPr>
              <a:xfrm>
                <a:off x="1363438" y="1336040"/>
                <a:ext cx="10178322" cy="4185919"/>
              </a:xfrm>
            </p:spPr>
            <p:txBody>
              <a:bodyPr/>
              <a:lstStyle/>
              <a:p>
                <a:pPr marL="0" indent="0">
                  <a:buNone/>
                </a:pPr>
                <a:r>
                  <a:rPr lang="en-US" dirty="0"/>
                  <a:t>From the </a:t>
                </a:r>
                <a:r>
                  <a:rPr lang="en-US" b="1" dirty="0"/>
                  <a:t>OLS regression line</a:t>
                </a:r>
                <a:r>
                  <a:rPr lang="en-US" dirty="0"/>
                  <a:t>, we can obtain a fitted or predicted value for each observation </a:t>
                </a:r>
                <a14:m>
                  <m:oMath xmlns:m="http://schemas.openxmlformats.org/officeDocument/2006/math">
                    <m:r>
                      <a:rPr lang="en-US" i="1" dirty="0" smtClean="0">
                        <a:latin typeface="Cambria Math" panose="02040503050406030204" pitchFamily="18" charset="0"/>
                      </a:rPr>
                      <m:t>𝑖</m:t>
                    </m:r>
                  </m:oMath>
                </a14:m>
                <a:r>
                  <a:rPr lang="en-US" dirty="0"/>
                  <a:t>:</a:t>
                </a:r>
              </a:p>
              <a:p>
                <a:pPr marL="0" indent="0">
                  <a:buNone/>
                </a:pPr>
                <a14:m>
                  <m:oMathPara xmlns:m="http://schemas.openxmlformats.org/officeDocument/2006/math">
                    <m:oMathParaPr>
                      <m:jc m:val="centerGroup"/>
                    </m:oMathParaPr>
                    <m:oMath xmlns:m="http://schemas.openxmlformats.org/officeDocument/2006/math">
                      <m:acc>
                        <m:accPr>
                          <m:chr m:val="̂"/>
                          <m:ctrlPr>
                            <a:rPr lang="es-ES" i="1" smtClean="0">
                              <a:latin typeface="Cambria Math" panose="02040503050406030204" pitchFamily="18" charset="0"/>
                            </a:rPr>
                          </m:ctrlPr>
                        </m:accPr>
                        <m:e>
                          <m:r>
                            <a:rPr lang="en-CA" i="1">
                              <a:latin typeface="Cambria Math" panose="02040503050406030204" pitchFamily="18" charset="0"/>
                            </a:rPr>
                            <m:t>𝑦</m:t>
                          </m:r>
                        </m:e>
                      </m:acc>
                      <m:r>
                        <a:rPr lang="es-ES" i="1">
                          <a:latin typeface="Cambria Math" panose="02040503050406030204" pitchFamily="18" charset="0"/>
                        </a:rPr>
                        <m:t>=</m:t>
                      </m:r>
                      <m:acc>
                        <m:accPr>
                          <m:chr m:val="̂"/>
                          <m:ctrlPr>
                            <a:rPr lang="es-ES" i="1" smtClean="0">
                              <a:latin typeface="Cambria Math" panose="02040503050406030204" pitchFamily="18" charset="0"/>
                            </a:rPr>
                          </m:ctrlPr>
                        </m:accPr>
                        <m:e>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𝛽</m:t>
                              </m:r>
                            </m:e>
                            <m:sub>
                              <m:r>
                                <a:rPr lang="es-ES" b="0" i="1" smtClean="0">
                                  <a:latin typeface="Cambria Math" panose="02040503050406030204" pitchFamily="18" charset="0"/>
                                </a:rPr>
                                <m:t>0</m:t>
                              </m:r>
                            </m:sub>
                          </m:sSub>
                          <m:r>
                            <a:rPr lang="es-ES" b="0" i="1" smtClean="0">
                              <a:latin typeface="Cambria Math" panose="02040503050406030204" pitchFamily="18" charset="0"/>
                            </a:rPr>
                            <m:t> </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e>
                      </m:acc>
                      <m:sSub>
                        <m:sSubPr>
                          <m:ctrlPr>
                            <a:rPr lang="en-US" b="0"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m:t>
                          </m:r>
                          <m:r>
                            <a:rPr lang="en-CA" b="0" i="1" smtClean="0">
                              <a:latin typeface="Cambria Math" panose="02040503050406030204" pitchFamily="18" charset="0"/>
                            </a:rPr>
                            <m:t>1</m:t>
                          </m:r>
                        </m:sub>
                      </m:sSub>
                      <m:r>
                        <a:rPr lang="en-CA" b="0" i="1"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2</m:t>
                              </m:r>
                            </m:sub>
                          </m:sSub>
                        </m:e>
                      </m:acc>
                      <m:sSub>
                        <m:sSubPr>
                          <m:ctrlPr>
                            <a:rPr lang="en-US" i="1" smtClean="0">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𝑖</m:t>
                          </m:r>
                          <m:r>
                            <a:rPr lang="en-CA" b="0" i="1" smtClean="0">
                              <a:latin typeface="Cambria Math" panose="02040503050406030204" pitchFamily="18" charset="0"/>
                            </a:rPr>
                            <m:t>2</m:t>
                          </m:r>
                        </m:sub>
                      </m:sSub>
                      <m:r>
                        <a:rPr lang="en-CA" b="0" i="1" smtClean="0">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b="0" i="1" smtClean="0">
                                  <a:latin typeface="Cambria Math" panose="02040503050406030204" pitchFamily="18" charset="0"/>
                                  <a:ea typeface="Cambria Math" panose="02040503050406030204" pitchFamily="18" charset="0"/>
                                </a:rPr>
                                <m:t>𝑘</m:t>
                              </m:r>
                            </m:sub>
                          </m:sSub>
                        </m:e>
                      </m:acc>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𝑖𝑘</m:t>
                          </m:r>
                        </m:sub>
                      </m:sSub>
                      <m:r>
                        <a:rPr lang="en-CA" b="0" i="1" smtClean="0">
                          <a:latin typeface="Cambria Math" panose="02040503050406030204" pitchFamily="18" charset="0"/>
                        </a:rPr>
                        <m:t> </m:t>
                      </m:r>
                    </m:oMath>
                  </m:oMathPara>
                </a14:m>
                <a:endParaRPr lang="en-US" dirty="0"/>
              </a:p>
              <a:p>
                <a:pPr marL="0" indent="0">
                  <a:buNone/>
                </a:pPr>
                <a:r>
                  <a:rPr lang="en-US" dirty="0"/>
                  <a:t>by plugging the values of the independent variables for observation </a:t>
                </a:r>
                <a14:m>
                  <m:oMath xmlns:m="http://schemas.openxmlformats.org/officeDocument/2006/math">
                    <m:r>
                      <a:rPr lang="en-US" i="1" dirty="0" smtClean="0">
                        <a:latin typeface="Cambria Math" panose="02040503050406030204" pitchFamily="18" charset="0"/>
                      </a:rPr>
                      <m:t>𝑖</m:t>
                    </m:r>
                  </m:oMath>
                </a14:m>
                <a:r>
                  <a:rPr lang="en-US" dirty="0"/>
                  <a:t> into the equation.</a:t>
                </a:r>
              </a:p>
              <a:p>
                <a:pPr marL="0" indent="0">
                  <a:buNone/>
                </a:pPr>
                <a:endParaRPr lang="en-US" dirty="0"/>
              </a:p>
              <a:p>
                <a:pPr marL="0" indent="0">
                  <a:buNone/>
                </a:pPr>
                <a:r>
                  <a:rPr lang="en-US" dirty="0"/>
                  <a:t>The residual for observation </a:t>
                </a:r>
                <a14:m>
                  <m:oMath xmlns:m="http://schemas.openxmlformats.org/officeDocument/2006/math">
                    <m:r>
                      <a:rPr lang="en-US" i="1" dirty="0" smtClean="0">
                        <a:latin typeface="Cambria Math" panose="02040503050406030204" pitchFamily="18" charset="0"/>
                      </a:rPr>
                      <m:t>𝑖</m:t>
                    </m:r>
                  </m:oMath>
                </a14:m>
                <a:r>
                  <a:rPr lang="en-US" dirty="0"/>
                  <a:t> is defined just as in the simple regression case:</a:t>
                </a:r>
              </a:p>
              <a:p>
                <a:pPr marL="0" indent="0">
                  <a:buNone/>
                </a:pPr>
                <a14:m>
                  <m:oMath xmlns:m="http://schemas.openxmlformats.org/officeDocument/2006/math">
                    <m:acc>
                      <m:accPr>
                        <m:chr m:val="̂"/>
                        <m:ctrlPr>
                          <a:rPr lang="es-ES" i="1" smtClean="0">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a:latin typeface="Cambria Math" panose="02040503050406030204" pitchFamily="18" charset="0"/>
                              </a:rPr>
                              <m:t>𝑖</m:t>
                            </m:r>
                          </m:sub>
                        </m:sSub>
                      </m:e>
                    </m:acc>
                    <m:r>
                      <a:rPr lang="en-CA" i="1">
                        <a:latin typeface="Cambria Math" panose="02040503050406030204" pitchFamily="18" charset="0"/>
                      </a:rPr>
                      <m:t>=</m:t>
                    </m:r>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r>
                      <a:rPr lang="en-CA">
                        <a:latin typeface="Cambria Math" panose="02040503050406030204" pitchFamily="18" charset="0"/>
                      </a:rPr>
                      <m:t>−</m:t>
                    </m:r>
                  </m:oMath>
                </a14:m>
                <a:r>
                  <a:rPr lang="es-ES" dirty="0"/>
                  <a:t>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e>
                    </m:acc>
                    <m:r>
                      <a:rPr lang="en-CA" i="1">
                        <a:latin typeface="Cambria Math" panose="02040503050406030204" pitchFamily="18" charset="0"/>
                      </a:rPr>
                      <m:t> </m:t>
                    </m:r>
                  </m:oMath>
                </a14:m>
                <a:endParaRPr lang="en-US" dirty="0"/>
              </a:p>
              <a:p>
                <a:pPr marL="0" indent="0">
                  <a:buNone/>
                </a:pPr>
                <a:endParaRPr lang="en-US" dirty="0"/>
              </a:p>
              <a:p>
                <a:pPr marL="0" indent="0">
                  <a:buNone/>
                </a:pPr>
                <a:r>
                  <a:rPr lang="en-US" dirty="0"/>
                  <a:t>There is a residual for each observation. If</a:t>
                </a:r>
                <a14:m>
                  <m:oMath xmlns:m="http://schemas.openxmlformats.org/officeDocument/2006/math">
                    <m:r>
                      <a:rPr lang="en-CA" b="0" i="0" smtClean="0">
                        <a:latin typeface="Cambria Math" panose="02040503050406030204" pitchFamily="18" charset="0"/>
                      </a:rPr>
                      <m:t> </m:t>
                    </m:r>
                    <m:acc>
                      <m:accPr>
                        <m:chr m:val="̂"/>
                        <m:ctrlPr>
                          <a:rPr lang="es-ES" i="1">
                            <a:latin typeface="Cambria Math" panose="02040503050406030204" pitchFamily="18" charset="0"/>
                          </a:rPr>
                        </m:ctrlPr>
                      </m:accPr>
                      <m:e>
                        <m:r>
                          <a:rPr lang="en-CA" i="1">
                            <a:latin typeface="Cambria Math" panose="02040503050406030204" pitchFamily="18" charset="0"/>
                            <a:ea typeface="Cambria Math" panose="02040503050406030204" pitchFamily="18" charset="0"/>
                          </a:rPr>
                          <m:t>𝜇</m:t>
                        </m:r>
                      </m:e>
                    </m:acc>
                    <m:r>
                      <a:rPr lang="en-US" i="1" dirty="0" smtClean="0">
                        <a:latin typeface="Cambria Math" panose="02040503050406030204" pitchFamily="18" charset="0"/>
                      </a:rPr>
                      <m:t>&gt;0</m:t>
                    </m:r>
                  </m:oMath>
                </a14:m>
                <a:r>
                  <a:rPr lang="en-US" dirty="0"/>
                  <a:t>, then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e>
                    </m:acc>
                    <m:r>
                      <a:rPr lang="en-CA" i="1">
                        <a:latin typeface="Cambria Math" panose="02040503050406030204" pitchFamily="18" charset="0"/>
                      </a:rPr>
                      <m:t> </m:t>
                    </m:r>
                  </m:oMath>
                </a14:m>
                <a:r>
                  <a:rPr lang="en-US" dirty="0"/>
                  <a:t>is below </a:t>
                </a:r>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𝑦</m:t>
                        </m:r>
                      </m:e>
                      <m:sub>
                        <m:r>
                          <a:rPr lang="en-CA" b="0" i="1" dirty="0" smtClean="0">
                            <a:latin typeface="Cambria Math" panose="02040503050406030204" pitchFamily="18" charset="0"/>
                          </a:rPr>
                          <m:t>𝑖</m:t>
                        </m:r>
                      </m:sub>
                    </m:sSub>
                  </m:oMath>
                </a14:m>
                <a:r>
                  <a:rPr lang="en-US" dirty="0"/>
                  <a:t>, which means that, for this observation,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CA" i="1" dirty="0">
                            <a:latin typeface="Cambria Math" panose="02040503050406030204" pitchFamily="18" charset="0"/>
                          </a:rPr>
                          <m:t>𝑖</m:t>
                        </m:r>
                      </m:sub>
                    </m:sSub>
                  </m:oMath>
                </a14:m>
                <a:r>
                  <a:rPr lang="en-US" dirty="0"/>
                  <a:t> is underpredicted. If </a:t>
                </a:r>
                <a14:m>
                  <m:oMath xmlns:m="http://schemas.openxmlformats.org/officeDocument/2006/math">
                    <m:acc>
                      <m:accPr>
                        <m:chr m:val="̂"/>
                        <m:ctrlPr>
                          <a:rPr lang="es-ES" i="1">
                            <a:latin typeface="Cambria Math" panose="02040503050406030204" pitchFamily="18" charset="0"/>
                          </a:rPr>
                        </m:ctrlPr>
                      </m:accPr>
                      <m:e>
                        <m:r>
                          <a:rPr lang="en-CA" i="1">
                            <a:latin typeface="Cambria Math" panose="02040503050406030204" pitchFamily="18" charset="0"/>
                            <a:ea typeface="Cambria Math" panose="02040503050406030204" pitchFamily="18" charset="0"/>
                          </a:rPr>
                          <m:t>𝜇</m:t>
                        </m:r>
                      </m:e>
                    </m:acc>
                    <m:r>
                      <a:rPr lang="en-CA" b="0" i="1" smtClean="0">
                        <a:latin typeface="Cambria Math" panose="02040503050406030204" pitchFamily="18" charset="0"/>
                        <a:ea typeface="Cambria Math" panose="02040503050406030204" pitchFamily="18" charset="0"/>
                      </a:rPr>
                      <m:t>&lt;</m:t>
                    </m:r>
                    <m:r>
                      <a:rPr lang="en-US" i="1" dirty="0">
                        <a:latin typeface="Cambria Math" panose="02040503050406030204" pitchFamily="18" charset="0"/>
                      </a:rPr>
                      <m:t>0</m:t>
                    </m:r>
                  </m:oMath>
                </a14:m>
                <a:r>
                  <a:rPr lang="en-US" dirty="0"/>
                  <a:t>, then </a:t>
                </a:r>
                <a14:m>
                  <m:oMath xmlns:m="http://schemas.openxmlformats.org/officeDocument/2006/math">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e>
                    </m:acc>
                    <m:r>
                      <a:rPr lang="en-CA" i="1">
                        <a:latin typeface="Cambria Math" panose="02040503050406030204" pitchFamily="18" charset="0"/>
                      </a:rPr>
                      <m:t> </m:t>
                    </m:r>
                  </m:oMath>
                </a14:m>
                <a:r>
                  <a:rPr lang="en-US" dirty="0"/>
                  <a:t>is greater than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CA" i="1" dirty="0">
                            <a:latin typeface="Cambria Math" panose="02040503050406030204" pitchFamily="18" charset="0"/>
                          </a:rPr>
                          <m:t>𝑖</m:t>
                        </m:r>
                      </m:sub>
                    </m:sSub>
                    <m:r>
                      <a:rPr lang="en-CA" i="1" dirty="0">
                        <a:latin typeface="Cambria Math" panose="02040503050406030204" pitchFamily="18" charset="0"/>
                      </a:rPr>
                      <m:t> </m:t>
                    </m:r>
                  </m:oMath>
                </a14:m>
                <a:r>
                  <a:rPr lang="en-US" dirty="0"/>
                  <a:t>and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CA" i="1" dirty="0">
                            <a:latin typeface="Cambria Math" panose="02040503050406030204" pitchFamily="18" charset="0"/>
                          </a:rPr>
                          <m:t>𝑖</m:t>
                        </m:r>
                      </m:sub>
                    </m:sSub>
                  </m:oMath>
                </a14:m>
                <a:r>
                  <a:rPr lang="en-US" dirty="0"/>
                  <a:t> is overpredicted. </a:t>
                </a:r>
              </a:p>
            </p:txBody>
          </p:sp>
        </mc:Choice>
        <mc:Fallback xmlns="">
          <p:sp>
            <p:nvSpPr>
              <p:cNvPr id="3" name="Content Placeholder 2">
                <a:extLst>
                  <a:ext uri="{FF2B5EF4-FFF2-40B4-BE49-F238E27FC236}">
                    <a16:creationId xmlns:a16="http://schemas.microsoft.com/office/drawing/2014/main" id="{51D50C8B-1043-3D8D-F445-B10BC1D88FD0}"/>
                  </a:ext>
                </a:extLst>
              </p:cNvPr>
              <p:cNvSpPr>
                <a:spLocks noGrp="1" noRot="1" noChangeAspect="1" noMove="1" noResize="1" noEditPoints="1" noAdjustHandles="1" noChangeArrowheads="1" noChangeShapeType="1" noTextEdit="1"/>
              </p:cNvSpPr>
              <p:nvPr>
                <p:ph idx="1"/>
              </p:nvPr>
            </p:nvSpPr>
            <p:spPr>
              <a:xfrm>
                <a:off x="1363438" y="1336040"/>
                <a:ext cx="10178322" cy="4185919"/>
              </a:xfrm>
              <a:blipFill>
                <a:blip r:embed="rId2"/>
                <a:stretch>
                  <a:fillRect l="-623" t="-606"/>
                </a:stretch>
              </a:blipFill>
            </p:spPr>
            <p:txBody>
              <a:bodyPr/>
              <a:lstStyle/>
              <a:p>
                <a:r>
                  <a:rPr lang="en-US">
                    <a:noFill/>
                  </a:rPr>
                  <a:t> </a:t>
                </a:r>
              </a:p>
            </p:txBody>
          </p:sp>
        </mc:Fallback>
      </mc:AlternateContent>
    </p:spTree>
    <p:extLst>
      <p:ext uri="{BB962C8B-B14F-4D97-AF65-F5344CB8AC3E}">
        <p14:creationId xmlns:p14="http://schemas.microsoft.com/office/powerpoint/2010/main" val="2710308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C90B3-2B2E-5225-2B43-A532DC2B724E}"/>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032D4A-91B7-2DDE-3884-0C0AC0808BAE}"/>
                  </a:ext>
                </a:extLst>
              </p:cNvPr>
              <p:cNvSpPr>
                <a:spLocks noGrp="1"/>
              </p:cNvSpPr>
              <p:nvPr>
                <p:ph idx="1"/>
              </p:nvPr>
            </p:nvSpPr>
            <p:spPr/>
            <p:txBody>
              <a:bodyPr>
                <a:normAutofit/>
              </a:bodyPr>
              <a:lstStyle/>
              <a:p>
                <a:pPr marL="0" indent="0">
                  <a:buNone/>
                </a:pPr>
                <a:r>
                  <a:rPr lang="en-US" dirty="0"/>
                  <a:t>The OLS fitted values and residuals have some important properties that are immediate extensions from the single variable case:</a:t>
                </a:r>
              </a:p>
              <a:p>
                <a:pPr marL="457200" indent="-457200">
                  <a:buFont typeface="+mj-lt"/>
                  <a:buAutoNum type="arabicPeriod"/>
                </a:pPr>
                <a:r>
                  <a:rPr lang="en-US" dirty="0"/>
                  <a:t>The sample average of the residuals is zero (</a:t>
                </a:r>
                <a14:m>
                  <m:oMath xmlns:m="http://schemas.openxmlformats.org/officeDocument/2006/math">
                    <m:nary>
                      <m:naryPr>
                        <m:chr m:val="∑"/>
                        <m:ctrlPr>
                          <a:rPr lang="en-US" i="1" smtClean="0">
                            <a:latin typeface="Cambria Math" panose="02040503050406030204" pitchFamily="18" charset="0"/>
                          </a:rPr>
                        </m:ctrlPr>
                      </m:naryPr>
                      <m:sub>
                        <m:r>
                          <a:rPr lang="en-US" i="1" smtClean="0">
                            <a:latin typeface="Cambria Math" panose="02040503050406030204" pitchFamily="18" charset="0"/>
                          </a:rPr>
                          <m:t>𝑖</m:t>
                        </m:r>
                        <m:r>
                          <a:rPr lang="en-US" i="1" smtClean="0">
                            <a:latin typeface="Cambria Math" panose="02040503050406030204" pitchFamily="18" charset="0"/>
                          </a:rPr>
                          <m:t>=1</m:t>
                        </m:r>
                      </m:sub>
                      <m:sup>
                        <m:r>
                          <a:rPr lang="en-US" i="1" smtClean="0">
                            <a:latin typeface="Cambria Math" panose="02040503050406030204" pitchFamily="18" charset="0"/>
                          </a:rPr>
                          <m:t>𝑛</m:t>
                        </m:r>
                      </m:sup>
                      <m:e>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a:latin typeface="Cambria Math" panose="02040503050406030204" pitchFamily="18" charset="0"/>
                                  </a:rPr>
                                  <m:t>𝑖</m:t>
                                </m:r>
                              </m:sub>
                            </m:sSub>
                          </m:e>
                        </m:acc>
                      </m:e>
                    </m:nary>
                    <m:r>
                      <a:rPr lang="en-CA" b="0" i="1" smtClean="0">
                        <a:latin typeface="Cambria Math" panose="02040503050406030204" pitchFamily="18" charset="0"/>
                      </a:rPr>
                      <m:t>=0</m:t>
                    </m:r>
                  </m:oMath>
                </a14:m>
                <a:r>
                  <a:rPr lang="en-US" dirty="0"/>
                  <a:t>) and so </a:t>
                </a:r>
                <a14:m>
                  <m:oMath xmlns:m="http://schemas.openxmlformats.org/officeDocument/2006/math">
                    <m:acc>
                      <m:accPr>
                        <m:chr m:val="̂"/>
                        <m:ctrlPr>
                          <a:rPr lang="en-CA" i="1">
                            <a:latin typeface="Cambria Math" panose="02040503050406030204" pitchFamily="18" charset="0"/>
                          </a:rPr>
                        </m:ctrlPr>
                      </m:accPr>
                      <m:e>
                        <m:acc>
                          <m:accPr>
                            <m:chr m:val="̅"/>
                            <m:ctrlPr>
                              <a:rPr lang="en-CA" i="1">
                                <a:latin typeface="Cambria Math" panose="02040503050406030204" pitchFamily="18" charset="0"/>
                              </a:rPr>
                            </m:ctrlPr>
                          </m:accPr>
                          <m:e>
                            <m:r>
                              <a:rPr lang="en-CA" i="1">
                                <a:latin typeface="Cambria Math" panose="02040503050406030204" pitchFamily="18" charset="0"/>
                              </a:rPr>
                              <m:t>𝑦</m:t>
                            </m:r>
                          </m:e>
                        </m:acc>
                      </m:e>
                    </m:acc>
                    <m:r>
                      <a:rPr lang="en-CA" i="1">
                        <a:latin typeface="Cambria Math" panose="02040503050406030204" pitchFamily="18" charset="0"/>
                      </a:rPr>
                      <m:t>=</m:t>
                    </m:r>
                    <m:acc>
                      <m:accPr>
                        <m:chr m:val="̅"/>
                        <m:ctrlPr>
                          <a:rPr lang="en-CA" i="1">
                            <a:latin typeface="Cambria Math" panose="02040503050406030204" pitchFamily="18" charset="0"/>
                          </a:rPr>
                        </m:ctrlPr>
                      </m:accPr>
                      <m:e>
                        <m:r>
                          <a:rPr lang="en-CA" i="1">
                            <a:latin typeface="Cambria Math" panose="02040503050406030204" pitchFamily="18" charset="0"/>
                          </a:rPr>
                          <m:t>𝑦</m:t>
                        </m:r>
                      </m:e>
                    </m:acc>
                  </m:oMath>
                </a14:m>
                <a:r>
                  <a:rPr lang="en-CA" dirty="0"/>
                  <a:t> </a:t>
                </a:r>
              </a:p>
              <a:p>
                <a:pPr marL="457200" indent="-457200">
                  <a:buFont typeface="+mj-lt"/>
                  <a:buAutoNum type="arabicPeriod"/>
                </a:pPr>
                <a:r>
                  <a:rPr lang="en-US" dirty="0"/>
                  <a:t>The sample covariance between each independent variable and the OLS residuals is zero (</a:t>
                </a:r>
                <a14:m>
                  <m:oMath xmlns:m="http://schemas.openxmlformats.org/officeDocument/2006/math">
                    <m:nary>
                      <m:naryPr>
                        <m:chr m:val="∑"/>
                        <m:ctrlPr>
                          <a:rPr lang="en-US" i="1" smtClean="0">
                            <a:latin typeface="Cambria Math" panose="02040503050406030204" pitchFamily="18" charset="0"/>
                          </a:rPr>
                        </m:ctrlPr>
                      </m:naryPr>
                      <m:sub>
                        <m:r>
                          <a:rPr lang="en-US" i="1" smtClean="0">
                            <a:latin typeface="Cambria Math" panose="02040503050406030204" pitchFamily="18" charset="0"/>
                          </a:rPr>
                          <m:t>𝑖</m:t>
                        </m:r>
                        <m:r>
                          <a:rPr lang="en-US" i="1" smtClean="0">
                            <a:latin typeface="Cambria Math" panose="02040503050406030204" pitchFamily="18" charset="0"/>
                          </a:rPr>
                          <m:t>=1</m:t>
                        </m:r>
                      </m:sub>
                      <m:sup>
                        <m:r>
                          <a:rPr lang="en-US" i="1" smtClean="0">
                            <a:latin typeface="Cambria Math" panose="02040503050406030204" pitchFamily="18" charset="0"/>
                          </a:rPr>
                          <m:t>𝑛</m:t>
                        </m:r>
                      </m:sup>
                      <m:e>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𝑖𝑗</m:t>
                            </m:r>
                          </m:sub>
                        </m:sSub>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a:latin typeface="Cambria Math" panose="02040503050406030204" pitchFamily="18" charset="0"/>
                                  </a:rPr>
                                  <m:t>𝑖</m:t>
                                </m:r>
                              </m:sub>
                            </m:sSub>
                          </m:e>
                        </m:acc>
                      </m:e>
                    </m:nary>
                    <m:r>
                      <a:rPr lang="en-CA" b="0" i="1" smtClean="0">
                        <a:latin typeface="Cambria Math" panose="02040503050406030204" pitchFamily="18" charset="0"/>
                      </a:rPr>
                      <m:t>=0</m:t>
                    </m:r>
                  </m:oMath>
                </a14:m>
                <a:r>
                  <a:rPr lang="en-CA" dirty="0"/>
                  <a:t> </a:t>
                </a:r>
                <a:r>
                  <a:rPr lang="en-US" dirty="0"/>
                  <a:t>for all</a:t>
                </a:r>
                <a14:m>
                  <m:oMath xmlns:m="http://schemas.openxmlformats.org/officeDocument/2006/math">
                    <m:r>
                      <a:rPr lang="en-US" i="1" dirty="0" smtClean="0">
                        <a:latin typeface="Cambria Math" panose="02040503050406030204" pitchFamily="18" charset="0"/>
                      </a:rPr>
                      <m:t> </m:t>
                    </m:r>
                    <m:r>
                      <a:rPr lang="en-US" i="1" dirty="0" smtClean="0">
                        <a:latin typeface="Cambria Math" panose="02040503050406030204" pitchFamily="18" charset="0"/>
                      </a:rPr>
                      <m:t>𝑗</m:t>
                    </m:r>
                  </m:oMath>
                </a14:m>
                <a:r>
                  <a:rPr lang="en-US" dirty="0"/>
                  <a:t>). Consequently, the sample covariance between the OLS fitted values and the OLS residuals is zero (</a:t>
                </a:r>
                <a14:m>
                  <m:oMath xmlns:m="http://schemas.openxmlformats.org/officeDocument/2006/math">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rPr>
                                  <m:t>𝑦</m:t>
                                </m:r>
                              </m:e>
                              <m:sub>
                                <m:r>
                                  <a:rPr lang="en-CA" i="1">
                                    <a:latin typeface="Cambria Math" panose="02040503050406030204" pitchFamily="18" charset="0"/>
                                  </a:rPr>
                                  <m:t>𝑖</m:t>
                                </m:r>
                              </m:sub>
                            </m:sSub>
                          </m:e>
                        </m:acc>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𝜇</m:t>
                                </m:r>
                              </m:e>
                              <m:sub>
                                <m:r>
                                  <a:rPr lang="en-CA" i="1">
                                    <a:latin typeface="Cambria Math" panose="02040503050406030204" pitchFamily="18" charset="0"/>
                                  </a:rPr>
                                  <m:t>𝑖</m:t>
                                </m:r>
                              </m:sub>
                            </m:sSub>
                          </m:e>
                        </m:acc>
                      </m:e>
                    </m:nary>
                    <m:r>
                      <a:rPr lang="en-CA" i="1">
                        <a:latin typeface="Cambria Math" panose="02040503050406030204" pitchFamily="18" charset="0"/>
                      </a:rPr>
                      <m:t>=0</m:t>
                    </m:r>
                  </m:oMath>
                </a14:m>
                <a:r>
                  <a:rPr lang="en-US" dirty="0"/>
                  <a:t>)</a:t>
                </a:r>
              </a:p>
              <a:p>
                <a:pPr marL="457200" indent="-457200">
                  <a:buFont typeface="+mj-lt"/>
                  <a:buAutoNum type="arabicPeriod"/>
                </a:pPr>
                <a:r>
                  <a:rPr lang="en-US" dirty="0"/>
                  <a:t>The point (</a:t>
                </a:r>
                <a14:m>
                  <m:oMath xmlns:m="http://schemas.openxmlformats.org/officeDocument/2006/math">
                    <m:acc>
                      <m:accPr>
                        <m:chr m:val="̅"/>
                        <m:ctrlPr>
                          <a:rPr lang="en-CA" i="1" smtClean="0">
                            <a:latin typeface="Cambria Math" panose="02040503050406030204" pitchFamily="18" charset="0"/>
                          </a:rPr>
                        </m:ctrlPr>
                      </m:accPr>
                      <m:e>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1</m:t>
                            </m:r>
                          </m:sub>
                        </m:sSub>
                      </m:e>
                    </m:acc>
                  </m:oMath>
                </a14:m>
                <a:r>
                  <a:rPr lang="en-CA" b="0" dirty="0"/>
                  <a:t>,</a:t>
                </a:r>
                <a:r>
                  <a:rPr lang="en-CA" dirty="0"/>
                  <a:t> </a:t>
                </a:r>
                <a14:m>
                  <m:oMath xmlns:m="http://schemas.openxmlformats.org/officeDocument/2006/math">
                    <m:acc>
                      <m:accPr>
                        <m:chr m:val="̅"/>
                        <m:ctrlPr>
                          <a:rPr lang="en-CA" i="1">
                            <a:latin typeface="Cambria Math" panose="02040503050406030204" pitchFamily="18" charset="0"/>
                          </a:rPr>
                        </m:ctrlPr>
                      </m:accPr>
                      <m:e>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2</m:t>
                            </m:r>
                          </m:sub>
                        </m:sSub>
                      </m:e>
                    </m:acc>
                  </m:oMath>
                </a14:m>
                <a:r>
                  <a:rPr lang="en-CA" dirty="0"/>
                  <a:t>, </a:t>
                </a:r>
                <a14:m>
                  <m:oMath xmlns:m="http://schemas.openxmlformats.org/officeDocument/2006/math">
                    <m:acc>
                      <m:accPr>
                        <m:chr m:val="̅"/>
                        <m:ctrlPr>
                          <a:rPr lang="en-CA" i="1">
                            <a:latin typeface="Cambria Math" panose="02040503050406030204" pitchFamily="18" charset="0"/>
                          </a:rPr>
                        </m:ctrlPr>
                      </m:accPr>
                      <m:e>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3</m:t>
                            </m:r>
                          </m:sub>
                        </m:sSub>
                      </m:e>
                    </m:acc>
                  </m:oMath>
                </a14:m>
                <a:r>
                  <a:rPr lang="en-CA" dirty="0"/>
                  <a:t>,…, </a:t>
                </a:r>
                <a14:m>
                  <m:oMath xmlns:m="http://schemas.openxmlformats.org/officeDocument/2006/math">
                    <m:acc>
                      <m:accPr>
                        <m:chr m:val="̅"/>
                        <m:ctrlPr>
                          <a:rPr lang="en-CA" i="1">
                            <a:latin typeface="Cambria Math" panose="02040503050406030204" pitchFamily="18" charset="0"/>
                          </a:rPr>
                        </m:ctrlPr>
                      </m:accPr>
                      <m:e>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b="0" i="1" smtClean="0">
                                <a:latin typeface="Cambria Math" panose="02040503050406030204" pitchFamily="18" charset="0"/>
                              </a:rPr>
                              <m:t>𝑘</m:t>
                            </m:r>
                          </m:sub>
                        </m:sSub>
                      </m:e>
                    </m:acc>
                  </m:oMath>
                </a14:m>
                <a:r>
                  <a:rPr lang="en-CA" dirty="0"/>
                  <a:t>, </a:t>
                </a:r>
                <a14:m>
                  <m:oMath xmlns:m="http://schemas.openxmlformats.org/officeDocument/2006/math">
                    <m:acc>
                      <m:accPr>
                        <m:chr m:val="̅"/>
                        <m:ctrlPr>
                          <a:rPr lang="en-CA" i="1">
                            <a:latin typeface="Cambria Math" panose="02040503050406030204" pitchFamily="18" charset="0"/>
                          </a:rPr>
                        </m:ctrlPr>
                      </m:accPr>
                      <m:e>
                        <m:r>
                          <a:rPr lang="en-CA" i="1">
                            <a:latin typeface="Cambria Math" panose="02040503050406030204" pitchFamily="18" charset="0"/>
                          </a:rPr>
                          <m:t>𝑦</m:t>
                        </m:r>
                      </m:e>
                    </m:acc>
                    <m:r>
                      <a:rPr lang="en-CA" b="0" i="0" smtClean="0">
                        <a:latin typeface="Cambria Math" panose="02040503050406030204" pitchFamily="18" charset="0"/>
                      </a:rPr>
                      <m:t>)</m:t>
                    </m:r>
                  </m:oMath>
                </a14:m>
                <a:r>
                  <a:rPr lang="en-US" dirty="0"/>
                  <a:t> is always on the OLS regression line: </a:t>
                </a:r>
                <a14:m>
                  <m:oMath xmlns:m="http://schemas.openxmlformats.org/officeDocument/2006/math">
                    <m:acc>
                      <m:accPr>
                        <m:chr m:val="̅"/>
                        <m:ctrlPr>
                          <a:rPr lang="en-CA" i="1">
                            <a:latin typeface="Cambria Math" panose="02040503050406030204" pitchFamily="18" charset="0"/>
                          </a:rPr>
                        </m:ctrlPr>
                      </m:accPr>
                      <m:e>
                        <m:r>
                          <a:rPr lang="en-CA" i="1">
                            <a:latin typeface="Cambria Math" panose="02040503050406030204" pitchFamily="18" charset="0"/>
                          </a:rPr>
                          <m:t>𝑦</m:t>
                        </m:r>
                      </m:e>
                    </m:acc>
                    <m:r>
                      <a:rPr lang="es-ES" i="1">
                        <a:latin typeface="Cambria Math" panose="02040503050406030204" pitchFamily="18" charset="0"/>
                      </a:rPr>
                      <m:t>=</m:t>
                    </m:r>
                    <m:acc>
                      <m:accPr>
                        <m:chr m:val="̂"/>
                        <m:ctrlPr>
                          <a:rPr lang="es-ES" i="1">
                            <a:latin typeface="Cambria Math" panose="02040503050406030204" pitchFamily="18" charset="0"/>
                          </a:rPr>
                        </m:ctrlPr>
                      </m:accPr>
                      <m:e>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𝛽</m:t>
                            </m:r>
                          </m:e>
                          <m:sub>
                            <m:r>
                              <a:rPr lang="es-ES" i="1">
                                <a:latin typeface="Cambria Math" panose="02040503050406030204" pitchFamily="18" charset="0"/>
                              </a:rPr>
                              <m:t>0</m:t>
                            </m:r>
                          </m:sub>
                        </m:sSub>
                        <m:r>
                          <a:rPr lang="es-ES" i="1">
                            <a:latin typeface="Cambria Math" panose="02040503050406030204" pitchFamily="18" charset="0"/>
                          </a:rPr>
                          <m:t> </m:t>
                        </m:r>
                      </m:e>
                    </m:acc>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e>
                    </m:acc>
                    <m:acc>
                      <m:accPr>
                        <m:chr m:val="̅"/>
                        <m:ctrlPr>
                          <a:rPr lang="en-CA" i="1">
                            <a:latin typeface="Cambria Math" panose="02040503050406030204" pitchFamily="18" charset="0"/>
                          </a:rPr>
                        </m:ctrlPr>
                      </m:accPr>
                      <m:e>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1</m:t>
                            </m:r>
                          </m:sub>
                        </m:sSub>
                      </m:e>
                    </m:acc>
                    <m:r>
                      <a:rPr lang="en-CA"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2</m:t>
                            </m:r>
                          </m:sub>
                        </m:sSub>
                      </m:e>
                    </m:acc>
                    <m:acc>
                      <m:accPr>
                        <m:chr m:val="̅"/>
                        <m:ctrlPr>
                          <a:rPr lang="en-CA" i="1">
                            <a:latin typeface="Cambria Math" panose="02040503050406030204" pitchFamily="18" charset="0"/>
                          </a:rPr>
                        </m:ctrlPr>
                      </m:accPr>
                      <m:e>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2</m:t>
                            </m:r>
                          </m:sub>
                        </m:sSub>
                      </m:e>
                    </m:acc>
                    <m:r>
                      <a:rPr lang="en-CA"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CA" i="1">
                                <a:latin typeface="Cambria Math" panose="02040503050406030204" pitchFamily="18" charset="0"/>
                                <a:ea typeface="Cambria Math" panose="02040503050406030204" pitchFamily="18" charset="0"/>
                              </a:rPr>
                              <m:t>𝑘</m:t>
                            </m:r>
                          </m:sub>
                        </m:sSub>
                      </m:e>
                    </m:acc>
                    <m:acc>
                      <m:accPr>
                        <m:chr m:val="̅"/>
                        <m:ctrlPr>
                          <a:rPr lang="en-CA" i="1">
                            <a:latin typeface="Cambria Math" panose="02040503050406030204" pitchFamily="18" charset="0"/>
                          </a:rPr>
                        </m:ctrlPr>
                      </m:accPr>
                      <m:e>
                        <m:sSub>
                          <m:sSubPr>
                            <m:ctrlPr>
                              <a:rPr lang="en-US" i="1">
                                <a:latin typeface="Cambria Math" panose="02040503050406030204" pitchFamily="18" charset="0"/>
                              </a:rPr>
                            </m:ctrlPr>
                          </m:sSubPr>
                          <m:e>
                            <m:r>
                              <a:rPr lang="en-CA" i="1">
                                <a:latin typeface="Cambria Math" panose="02040503050406030204" pitchFamily="18" charset="0"/>
                              </a:rPr>
                              <m:t>𝑥</m:t>
                            </m:r>
                          </m:e>
                          <m:sub>
                            <m:r>
                              <a:rPr lang="en-CA" i="1">
                                <a:latin typeface="Cambria Math" panose="02040503050406030204" pitchFamily="18" charset="0"/>
                              </a:rPr>
                              <m:t>𝑘</m:t>
                            </m:r>
                          </m:sub>
                        </m:sSub>
                      </m:e>
                    </m:acc>
                  </m:oMath>
                </a14:m>
                <a:endParaRPr lang="en-US" dirty="0"/>
              </a:p>
            </p:txBody>
          </p:sp>
        </mc:Choice>
        <mc:Fallback xmlns="">
          <p:sp>
            <p:nvSpPr>
              <p:cNvPr id="3" name="Content Placeholder 2">
                <a:extLst>
                  <a:ext uri="{FF2B5EF4-FFF2-40B4-BE49-F238E27FC236}">
                    <a16:creationId xmlns:a16="http://schemas.microsoft.com/office/drawing/2014/main" id="{B2032D4A-91B7-2DDE-3884-0C0AC0808BAE}"/>
                  </a:ext>
                </a:extLst>
              </p:cNvPr>
              <p:cNvSpPr>
                <a:spLocks noGrp="1" noRot="1" noChangeAspect="1" noMove="1" noResize="1" noEditPoints="1" noAdjustHandles="1" noChangeArrowheads="1" noChangeShapeType="1" noTextEdit="1"/>
              </p:cNvSpPr>
              <p:nvPr>
                <p:ph idx="1"/>
              </p:nvPr>
            </p:nvSpPr>
            <p:spPr>
              <a:blipFill>
                <a:blip r:embed="rId2"/>
                <a:stretch>
                  <a:fillRect l="-623" t="-704"/>
                </a:stretch>
              </a:blipFill>
            </p:spPr>
            <p:txBody>
              <a:bodyPr/>
              <a:lstStyle/>
              <a:p>
                <a:r>
                  <a:rPr lang="en-US">
                    <a:noFill/>
                  </a:rPr>
                  <a:t> </a:t>
                </a:r>
              </a:p>
            </p:txBody>
          </p:sp>
        </mc:Fallback>
      </mc:AlternateContent>
    </p:spTree>
    <p:extLst>
      <p:ext uri="{BB962C8B-B14F-4D97-AF65-F5344CB8AC3E}">
        <p14:creationId xmlns:p14="http://schemas.microsoft.com/office/powerpoint/2010/main" val="3953899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59BEB8-412D-F0EB-3625-9B14DBCA4A23}"/>
              </a:ext>
            </a:extLst>
          </p:cNvPr>
          <p:cNvSpPr>
            <a:spLocks noGrp="1"/>
          </p:cNvSpPr>
          <p:nvPr>
            <p:ph type="title"/>
          </p:nvPr>
        </p:nvSpPr>
        <p:spPr/>
        <p:txBody>
          <a:bodyPr/>
          <a:lstStyle/>
          <a:p>
            <a:r>
              <a:rPr lang="en-US" dirty="0"/>
              <a:t>In-Class Exercises</a:t>
            </a:r>
          </a:p>
        </p:txBody>
      </p:sp>
      <p:sp>
        <p:nvSpPr>
          <p:cNvPr id="5" name="Text Placeholder 4">
            <a:extLst>
              <a:ext uri="{FF2B5EF4-FFF2-40B4-BE49-F238E27FC236}">
                <a16:creationId xmlns:a16="http://schemas.microsoft.com/office/drawing/2014/main" id="{011C8E60-2801-F04C-C78F-C7D4A578166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89827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0152F8-99B8-D4AE-EA6A-FF8305CB6052}"/>
              </a:ext>
            </a:extLst>
          </p:cNvPr>
          <p:cNvSpPr>
            <a:spLocks noGrp="1"/>
          </p:cNvSpPr>
          <p:nvPr>
            <p:ph type="title"/>
          </p:nvPr>
        </p:nvSpPr>
        <p:spPr/>
        <p:txBody>
          <a:bodyPr/>
          <a:lstStyle/>
          <a:p>
            <a:r>
              <a:rPr lang="en-US" dirty="0"/>
              <a:t>Part I</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D9F6BC7-68A8-5137-2DA1-4FD9F8FEF810}"/>
                  </a:ext>
                </a:extLst>
              </p:cNvPr>
              <p:cNvSpPr>
                <a:spLocks noGrp="1"/>
              </p:cNvSpPr>
              <p:nvPr>
                <p:ph idx="1"/>
              </p:nvPr>
            </p:nvSpPr>
            <p:spPr/>
            <p:txBody>
              <a:bodyPr>
                <a:normAutofit/>
              </a:bodyPr>
              <a:lstStyle/>
              <a:p>
                <a:pPr marL="0" indent="0">
                  <a:buNone/>
                </a:pPr>
                <a:r>
                  <a:rPr lang="en-CA" sz="1800" dirty="0">
                    <a:effectLst/>
                  </a:rPr>
                  <a:t>Using the ’fertil2’ dataset from ’</a:t>
                </a:r>
                <a:r>
                  <a:rPr lang="en-CA" sz="1800" dirty="0" err="1">
                    <a:effectLst/>
                  </a:rPr>
                  <a:t>wooldridge</a:t>
                </a:r>
                <a:r>
                  <a:rPr lang="en-CA" sz="1800" dirty="0">
                    <a:effectLst/>
                  </a:rPr>
                  <a:t>’ on women living in the Republic of Botswana in 1988, </a:t>
                </a:r>
                <a:endParaRPr lang="en-CA" dirty="0">
                  <a:effectLst/>
                </a:endParaRPr>
              </a:p>
              <a:p>
                <a:r>
                  <a:rPr lang="en-CA" sz="1800" dirty="0">
                    <a:effectLst/>
                  </a:rPr>
                  <a:t>estimate the regression equation of the number of children on education, age of the mother and electricity; </a:t>
                </a:r>
                <a:endParaRPr lang="en-CA" dirty="0">
                  <a:effectLst/>
                </a:endParaRPr>
              </a:p>
              <a:p>
                <a:r>
                  <a:rPr lang="en-CA" sz="1800" dirty="0">
                    <a:solidFill>
                      <a:srgbClr val="162D59"/>
                    </a:solidFill>
                    <a:effectLst/>
                  </a:rPr>
                  <a:t>interpret </a:t>
                </a:r>
                <a14:m>
                  <m:oMath xmlns:m="http://schemas.openxmlformats.org/officeDocument/2006/math">
                    <m:acc>
                      <m:accPr>
                        <m:chr m:val="̂"/>
                        <m:ctrlPr>
                          <a:rPr lang="es-ES" sz="1800" i="1" smtClean="0">
                            <a:latin typeface="Cambria Math" panose="02040503050406030204" pitchFamily="18" charset="0"/>
                          </a:rPr>
                        </m:ctrlPr>
                      </m:accPr>
                      <m:e>
                        <m:sSub>
                          <m:sSubPr>
                            <m:ctrlPr>
                              <a:rPr lang="es-ES" sz="1800" i="1" smtClean="0">
                                <a:latin typeface="Cambria Math" panose="02040503050406030204" pitchFamily="18" charset="0"/>
                              </a:rPr>
                            </m:ctrlPr>
                          </m:sSubPr>
                          <m:e>
                            <m:r>
                              <a:rPr lang="es-ES" sz="1800" i="1" smtClean="0">
                                <a:latin typeface="Cambria Math" panose="02040503050406030204" pitchFamily="18" charset="0"/>
                                <a:ea typeface="Cambria Math" panose="02040503050406030204" pitchFamily="18" charset="0"/>
                              </a:rPr>
                              <m:t>𝛽</m:t>
                            </m:r>
                          </m:e>
                          <m:sub>
                            <m:r>
                              <a:rPr lang="es-ES" sz="1800" b="0" i="1" smtClean="0">
                                <a:latin typeface="Cambria Math" panose="02040503050406030204" pitchFamily="18" charset="0"/>
                              </a:rPr>
                              <m:t>0</m:t>
                            </m:r>
                          </m:sub>
                        </m:sSub>
                        <m:r>
                          <a:rPr lang="es-ES" sz="1800" b="0" i="1" smtClean="0">
                            <a:latin typeface="Cambria Math" panose="02040503050406030204" pitchFamily="18" charset="0"/>
                          </a:rPr>
                          <m:t> </m:t>
                        </m:r>
                      </m:e>
                    </m:acc>
                  </m:oMath>
                </a14:m>
                <a:r>
                  <a:rPr lang="el-GR" sz="1800" dirty="0"/>
                  <a:t>, </a:t>
                </a:r>
                <a14:m>
                  <m:oMath xmlns:m="http://schemas.openxmlformats.org/officeDocument/2006/math">
                    <m:acc>
                      <m:accPr>
                        <m:chr m:val="̂"/>
                        <m:ctrlPr>
                          <a:rPr lang="es-ES" sz="1800" i="1">
                            <a:latin typeface="Cambria Math" panose="02040503050406030204" pitchFamily="18" charset="0"/>
                          </a:rPr>
                        </m:ctrlPr>
                      </m:accPr>
                      <m:e>
                        <m:sSub>
                          <m:sSubPr>
                            <m:ctrlPr>
                              <a:rPr lang="es-ES" sz="1800" i="1">
                                <a:latin typeface="Cambria Math" panose="02040503050406030204" pitchFamily="18" charset="0"/>
                              </a:rPr>
                            </m:ctrlPr>
                          </m:sSubPr>
                          <m:e>
                            <m:r>
                              <a:rPr lang="es-ES" sz="1800" i="1">
                                <a:latin typeface="Cambria Math" panose="02040503050406030204" pitchFamily="18" charset="0"/>
                                <a:ea typeface="Cambria Math" panose="02040503050406030204" pitchFamily="18" charset="0"/>
                              </a:rPr>
                              <m:t>𝛽</m:t>
                            </m:r>
                          </m:e>
                          <m:sub>
                            <m:r>
                              <a:rPr lang="en-CA" sz="1800" b="0" i="1" smtClean="0">
                                <a:latin typeface="Cambria Math" panose="02040503050406030204" pitchFamily="18" charset="0"/>
                                <a:ea typeface="Cambria Math" panose="02040503050406030204" pitchFamily="18" charset="0"/>
                              </a:rPr>
                              <m:t>𝑒𝑑𝑢𝑐𝑎𝑡𝑖𝑜𝑛</m:t>
                            </m:r>
                          </m:sub>
                        </m:sSub>
                        <m:r>
                          <a:rPr lang="es-ES" sz="1800" i="1">
                            <a:latin typeface="Cambria Math" panose="02040503050406030204" pitchFamily="18" charset="0"/>
                          </a:rPr>
                          <m:t> </m:t>
                        </m:r>
                      </m:e>
                    </m:acc>
                  </m:oMath>
                </a14:m>
                <a:r>
                  <a:rPr lang="el-GR" sz="1800" dirty="0"/>
                  <a:t>, </a:t>
                </a:r>
                <a14:m>
                  <m:oMath xmlns:m="http://schemas.openxmlformats.org/officeDocument/2006/math">
                    <m:acc>
                      <m:accPr>
                        <m:chr m:val="̂"/>
                        <m:ctrlPr>
                          <a:rPr lang="es-ES" sz="1800" i="1">
                            <a:latin typeface="Cambria Math" panose="02040503050406030204" pitchFamily="18" charset="0"/>
                          </a:rPr>
                        </m:ctrlPr>
                      </m:accPr>
                      <m:e>
                        <m:sSub>
                          <m:sSubPr>
                            <m:ctrlPr>
                              <a:rPr lang="es-ES" sz="1800" i="1">
                                <a:latin typeface="Cambria Math" panose="02040503050406030204" pitchFamily="18" charset="0"/>
                              </a:rPr>
                            </m:ctrlPr>
                          </m:sSubPr>
                          <m:e>
                            <m:r>
                              <a:rPr lang="es-ES" sz="1800" i="1">
                                <a:latin typeface="Cambria Math" panose="02040503050406030204" pitchFamily="18" charset="0"/>
                                <a:ea typeface="Cambria Math" panose="02040503050406030204" pitchFamily="18" charset="0"/>
                              </a:rPr>
                              <m:t>𝛽</m:t>
                            </m:r>
                          </m:e>
                          <m:sub>
                            <m:r>
                              <a:rPr lang="en-CA" sz="1800" b="0" i="1" smtClean="0">
                                <a:latin typeface="Cambria Math" panose="02040503050406030204" pitchFamily="18" charset="0"/>
                                <a:ea typeface="Cambria Math" panose="02040503050406030204" pitchFamily="18" charset="0"/>
                              </a:rPr>
                              <m:t>𝑎𝑔𝑒</m:t>
                            </m:r>
                          </m:sub>
                        </m:sSub>
                        <m:r>
                          <a:rPr lang="es-ES" sz="1800" i="1">
                            <a:latin typeface="Cambria Math" panose="02040503050406030204" pitchFamily="18" charset="0"/>
                          </a:rPr>
                          <m:t> </m:t>
                        </m:r>
                      </m:e>
                    </m:acc>
                  </m:oMath>
                </a14:m>
                <a:r>
                  <a:rPr lang="el-GR" sz="1800" dirty="0"/>
                  <a:t>,</a:t>
                </a:r>
                <a14:m>
                  <m:oMath xmlns:m="http://schemas.openxmlformats.org/officeDocument/2006/math">
                    <m:acc>
                      <m:accPr>
                        <m:chr m:val="̂"/>
                        <m:ctrlPr>
                          <a:rPr lang="es-ES" sz="1800" i="1" smtClean="0">
                            <a:latin typeface="Cambria Math" panose="02040503050406030204" pitchFamily="18" charset="0"/>
                          </a:rPr>
                        </m:ctrlPr>
                      </m:accPr>
                      <m:e>
                        <m:sSub>
                          <m:sSubPr>
                            <m:ctrlPr>
                              <a:rPr lang="es-ES" sz="1800" i="1" smtClean="0">
                                <a:latin typeface="Cambria Math" panose="02040503050406030204" pitchFamily="18" charset="0"/>
                              </a:rPr>
                            </m:ctrlPr>
                          </m:sSubPr>
                          <m:e>
                            <m:r>
                              <a:rPr lang="es-ES" sz="1800" i="1">
                                <a:latin typeface="Cambria Math" panose="02040503050406030204" pitchFamily="18" charset="0"/>
                                <a:ea typeface="Cambria Math" panose="02040503050406030204" pitchFamily="18" charset="0"/>
                              </a:rPr>
                              <m:t>𝛽</m:t>
                            </m:r>
                          </m:e>
                          <m:sub>
                            <m:r>
                              <a:rPr lang="en-CA" sz="1800" i="1">
                                <a:latin typeface="Cambria Math" panose="02040503050406030204" pitchFamily="18" charset="0"/>
                                <a:ea typeface="Cambria Math" panose="02040503050406030204" pitchFamily="18" charset="0"/>
                              </a:rPr>
                              <m:t>𝑒</m:t>
                            </m:r>
                            <m:r>
                              <a:rPr lang="en-CA" sz="1800" b="0" i="1" smtClean="0">
                                <a:latin typeface="Cambria Math" panose="02040503050406030204" pitchFamily="18" charset="0"/>
                                <a:ea typeface="Cambria Math" panose="02040503050406030204" pitchFamily="18" charset="0"/>
                              </a:rPr>
                              <m:t>𝑙𝑒𝑐𝑡𝑟𝑖𝑐𝑖𝑡𝑦</m:t>
                            </m:r>
                          </m:sub>
                        </m:sSub>
                        <m:r>
                          <a:rPr lang="es-ES" sz="1800" i="1">
                            <a:latin typeface="Cambria Math" panose="02040503050406030204" pitchFamily="18" charset="0"/>
                          </a:rPr>
                          <m:t> </m:t>
                        </m:r>
                      </m:e>
                    </m:acc>
                  </m:oMath>
                </a14:m>
                <a:r>
                  <a:rPr lang="en-CA" sz="1800" dirty="0">
                    <a:solidFill>
                      <a:srgbClr val="162D59"/>
                    </a:solidFill>
                    <a:effectLst/>
                  </a:rPr>
                  <a:t>; </a:t>
                </a:r>
              </a:p>
              <a:p>
                <a:pPr>
                  <a:buFont typeface="Arial" panose="020B0604020202020204" pitchFamily="34" charset="0"/>
                  <a:buChar char="•"/>
                </a:pPr>
                <a:r>
                  <a:rPr lang="en-CA" sz="1800" dirty="0">
                    <a:solidFill>
                      <a:srgbClr val="162D59"/>
                    </a:solidFill>
                  </a:rPr>
                  <a:t>v</a:t>
                </a:r>
                <a:r>
                  <a:rPr lang="en-CA" sz="1800" dirty="0">
                    <a:solidFill>
                      <a:srgbClr val="162D59"/>
                    </a:solidFill>
                    <a:effectLst/>
                  </a:rPr>
                  <a:t>erify that </a:t>
                </a:r>
                <a14:m>
                  <m:oMath xmlns:m="http://schemas.openxmlformats.org/officeDocument/2006/math">
                    <m:nary>
                      <m:naryPr>
                        <m:chr m:val="∑"/>
                        <m:ctrlPr>
                          <a:rPr lang="en-US" sz="1800" i="1" smtClean="0">
                            <a:latin typeface="Cambria Math" panose="02040503050406030204" pitchFamily="18" charset="0"/>
                          </a:rPr>
                        </m:ctrlPr>
                      </m:naryPr>
                      <m:sub>
                        <m: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𝑛</m:t>
                        </m:r>
                      </m:sup>
                      <m:e>
                        <m:acc>
                          <m:accPr>
                            <m:chr m:val="̂"/>
                            <m:ctrlPr>
                              <a:rPr lang="es-ES" sz="1800" i="1">
                                <a:latin typeface="Cambria Math" panose="02040503050406030204" pitchFamily="18" charset="0"/>
                              </a:rPr>
                            </m:ctrlPr>
                          </m:accPr>
                          <m:e>
                            <m:sSub>
                              <m:sSubPr>
                                <m:ctrlPr>
                                  <a:rPr lang="es-ES" sz="1800" i="1">
                                    <a:latin typeface="Cambria Math" panose="02040503050406030204" pitchFamily="18" charset="0"/>
                                  </a:rPr>
                                </m:ctrlPr>
                              </m:sSubPr>
                              <m:e>
                                <m:r>
                                  <a:rPr lang="en-CA" sz="1800" i="1">
                                    <a:latin typeface="Cambria Math" panose="02040503050406030204" pitchFamily="18" charset="0"/>
                                  </a:rPr>
                                  <m:t>𝑦</m:t>
                                </m:r>
                              </m:e>
                              <m:sub>
                                <m:r>
                                  <a:rPr lang="en-CA" sz="1800" i="1">
                                    <a:latin typeface="Cambria Math" panose="02040503050406030204" pitchFamily="18" charset="0"/>
                                  </a:rPr>
                                  <m:t>𝑖</m:t>
                                </m:r>
                              </m:sub>
                            </m:sSub>
                          </m:e>
                        </m:acc>
                        <m:acc>
                          <m:accPr>
                            <m:chr m:val="̂"/>
                            <m:ctrlPr>
                              <a:rPr lang="es-ES" sz="1800" i="1">
                                <a:latin typeface="Cambria Math" panose="02040503050406030204" pitchFamily="18" charset="0"/>
                              </a:rPr>
                            </m:ctrlPr>
                          </m:accPr>
                          <m:e>
                            <m:sSub>
                              <m:sSubPr>
                                <m:ctrlPr>
                                  <a:rPr lang="es-ES" sz="1800" i="1">
                                    <a:latin typeface="Cambria Math" panose="02040503050406030204" pitchFamily="18" charset="0"/>
                                  </a:rPr>
                                </m:ctrlPr>
                              </m:sSubPr>
                              <m:e>
                                <m:r>
                                  <a:rPr lang="en-CA" sz="1800" i="1">
                                    <a:latin typeface="Cambria Math" panose="02040503050406030204" pitchFamily="18" charset="0"/>
                                    <a:ea typeface="Cambria Math" panose="02040503050406030204" pitchFamily="18" charset="0"/>
                                  </a:rPr>
                                  <m:t>𝜇</m:t>
                                </m:r>
                              </m:e>
                              <m:sub>
                                <m:r>
                                  <a:rPr lang="en-CA" sz="1800" i="1">
                                    <a:latin typeface="Cambria Math" panose="02040503050406030204" pitchFamily="18" charset="0"/>
                                  </a:rPr>
                                  <m:t>𝑖</m:t>
                                </m:r>
                              </m:sub>
                            </m:sSub>
                          </m:e>
                        </m:acc>
                      </m:e>
                    </m:nary>
                    <m:r>
                      <a:rPr lang="en-CA" sz="1800" i="1">
                        <a:latin typeface="Cambria Math" panose="02040503050406030204" pitchFamily="18" charset="0"/>
                      </a:rPr>
                      <m:t>=0</m:t>
                    </m:r>
                  </m:oMath>
                </a14:m>
                <a:r>
                  <a:rPr lang="en-CA" sz="1800" dirty="0">
                    <a:solidFill>
                      <a:srgbClr val="162D59"/>
                    </a:solidFill>
                    <a:effectLst/>
                  </a:rPr>
                  <a:t>; </a:t>
                </a:r>
              </a:p>
              <a:p>
                <a:r>
                  <a:rPr lang="en-CA" sz="1800" dirty="0"/>
                  <a:t>v</a:t>
                </a:r>
                <a:r>
                  <a:rPr lang="en-CA" sz="1800" dirty="0">
                    <a:effectLst/>
                  </a:rPr>
                  <a:t>erify that </a:t>
                </a:r>
                <a14:m>
                  <m:oMath xmlns:m="http://schemas.openxmlformats.org/officeDocument/2006/math">
                    <m:nary>
                      <m:naryPr>
                        <m:chr m:val="∑"/>
                        <m:ctrlPr>
                          <a:rPr lang="en-US" sz="1800" i="1" smtClean="0">
                            <a:latin typeface="Cambria Math" panose="02040503050406030204" pitchFamily="18" charset="0"/>
                          </a:rPr>
                        </m:ctrlPr>
                      </m:naryPr>
                      <m:sub>
                        <m:r>
                          <a:rPr lang="en-US" sz="1800" i="1">
                            <a:latin typeface="Cambria Math" panose="02040503050406030204" pitchFamily="18" charset="0"/>
                          </a:rPr>
                          <m:t>𝑖</m:t>
                        </m:r>
                        <m:r>
                          <a:rPr lang="en-US" sz="1800" i="1">
                            <a:latin typeface="Cambria Math" panose="02040503050406030204" pitchFamily="18" charset="0"/>
                          </a:rPr>
                          <m:t>=1</m:t>
                        </m:r>
                      </m:sub>
                      <m:sup>
                        <m:r>
                          <a:rPr lang="en-US" sz="1800" i="1">
                            <a:latin typeface="Cambria Math" panose="02040503050406030204" pitchFamily="18" charset="0"/>
                          </a:rPr>
                          <m:t>𝑛</m:t>
                        </m:r>
                      </m:sup>
                      <m:e>
                        <m:sSub>
                          <m:sSubPr>
                            <m:ctrlPr>
                              <a:rPr lang="en-CA" sz="1800" b="0" i="1" smtClean="0">
                                <a:latin typeface="Cambria Math" panose="02040503050406030204" pitchFamily="18" charset="0"/>
                              </a:rPr>
                            </m:ctrlPr>
                          </m:sSubPr>
                          <m:e>
                            <m:r>
                              <a:rPr lang="en-CA" sz="1800" i="1">
                                <a:latin typeface="Cambria Math" panose="02040503050406030204" pitchFamily="18" charset="0"/>
                              </a:rPr>
                              <m:t>𝑒𝑑𝑢𝑐𝑎𝑡𝑖𝑜𝑛</m:t>
                            </m:r>
                          </m:e>
                          <m:sub>
                            <m:r>
                              <a:rPr lang="en-CA" sz="1800" b="0" i="1" smtClean="0">
                                <a:latin typeface="Cambria Math" panose="02040503050406030204" pitchFamily="18" charset="0"/>
                              </a:rPr>
                              <m:t>𝑖</m:t>
                            </m:r>
                          </m:sub>
                        </m:sSub>
                        <m:acc>
                          <m:accPr>
                            <m:chr m:val="̂"/>
                            <m:ctrlPr>
                              <a:rPr lang="es-ES" sz="1800" i="1">
                                <a:latin typeface="Cambria Math" panose="02040503050406030204" pitchFamily="18" charset="0"/>
                              </a:rPr>
                            </m:ctrlPr>
                          </m:accPr>
                          <m:e>
                            <m:sSub>
                              <m:sSubPr>
                                <m:ctrlPr>
                                  <a:rPr lang="es-ES" sz="1800" i="1">
                                    <a:latin typeface="Cambria Math" panose="02040503050406030204" pitchFamily="18" charset="0"/>
                                  </a:rPr>
                                </m:ctrlPr>
                              </m:sSubPr>
                              <m:e>
                                <m:r>
                                  <a:rPr lang="en-CA" sz="1800" i="1">
                                    <a:latin typeface="Cambria Math" panose="02040503050406030204" pitchFamily="18" charset="0"/>
                                    <a:ea typeface="Cambria Math" panose="02040503050406030204" pitchFamily="18" charset="0"/>
                                  </a:rPr>
                                  <m:t>𝜇</m:t>
                                </m:r>
                              </m:e>
                              <m:sub>
                                <m:r>
                                  <a:rPr lang="en-CA" sz="1800" i="1">
                                    <a:latin typeface="Cambria Math" panose="02040503050406030204" pitchFamily="18" charset="0"/>
                                  </a:rPr>
                                  <m:t>𝑖</m:t>
                                </m:r>
                              </m:sub>
                            </m:sSub>
                          </m:e>
                        </m:acc>
                      </m:e>
                    </m:nary>
                    <m:r>
                      <a:rPr lang="en-CA" sz="1800" i="1">
                        <a:latin typeface="Cambria Math" panose="02040503050406030204" pitchFamily="18" charset="0"/>
                      </a:rPr>
                      <m:t>=0</m:t>
                    </m:r>
                  </m:oMath>
                </a14:m>
                <a:r>
                  <a:rPr lang="en-CA" sz="1800" dirty="0">
                    <a:effectLst/>
                  </a:rPr>
                  <a:t>; </a:t>
                </a:r>
                <a:endParaRPr lang="en-CA" dirty="0">
                  <a:effectLst/>
                </a:endParaRPr>
              </a:p>
              <a:p>
                <a:r>
                  <a:rPr lang="en-CA" sz="1800" dirty="0">
                    <a:effectLst/>
                  </a:rPr>
                  <a:t>re-estimate the regression equation of the number of children on education, age of the mother and electricity but also include the square of age of the mother. How do you now interpret the effect of age on the number of children? </a:t>
                </a:r>
                <a:endParaRPr lang="en-CA" dirty="0">
                  <a:effectLst/>
                </a:endParaRPr>
              </a:p>
              <a:p>
                <a:endParaRPr lang="en-US" dirty="0"/>
              </a:p>
            </p:txBody>
          </p:sp>
        </mc:Choice>
        <mc:Fallback xmlns="">
          <p:sp>
            <p:nvSpPr>
              <p:cNvPr id="5" name="Content Placeholder 4">
                <a:extLst>
                  <a:ext uri="{FF2B5EF4-FFF2-40B4-BE49-F238E27FC236}">
                    <a16:creationId xmlns:a16="http://schemas.microsoft.com/office/drawing/2014/main" id="{7D9F6BC7-68A8-5137-2DA1-4FD9F8FEF810}"/>
                  </a:ext>
                </a:extLst>
              </p:cNvPr>
              <p:cNvSpPr>
                <a:spLocks noGrp="1" noRot="1" noChangeAspect="1" noMove="1" noResize="1" noEditPoints="1" noAdjustHandles="1" noChangeArrowheads="1" noChangeShapeType="1" noTextEdit="1"/>
              </p:cNvSpPr>
              <p:nvPr>
                <p:ph idx="1"/>
              </p:nvPr>
            </p:nvSpPr>
            <p:spPr>
              <a:blipFill>
                <a:blip r:embed="rId2"/>
                <a:stretch>
                  <a:fillRect l="-498" t="-352"/>
                </a:stretch>
              </a:blipFill>
            </p:spPr>
            <p:txBody>
              <a:bodyPr/>
              <a:lstStyle/>
              <a:p>
                <a:r>
                  <a:rPr lang="en-US">
                    <a:noFill/>
                  </a:rPr>
                  <a:t> </a:t>
                </a:r>
              </a:p>
            </p:txBody>
          </p:sp>
        </mc:Fallback>
      </mc:AlternateContent>
    </p:spTree>
    <p:extLst>
      <p:ext uri="{BB962C8B-B14F-4D97-AF65-F5344CB8AC3E}">
        <p14:creationId xmlns:p14="http://schemas.microsoft.com/office/powerpoint/2010/main" val="4151212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6D634-C04A-BB1C-C48F-C058233D3883}"/>
              </a:ext>
            </a:extLst>
          </p:cNvPr>
          <p:cNvSpPr>
            <a:spLocks noGrp="1"/>
          </p:cNvSpPr>
          <p:nvPr>
            <p:ph type="title"/>
          </p:nvPr>
        </p:nvSpPr>
        <p:spPr/>
        <p:txBody>
          <a:bodyPr/>
          <a:lstStyle/>
          <a:p>
            <a:r>
              <a:rPr lang="en-US" dirty="0"/>
              <a:t>Part II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31A647-44DF-9FB9-D840-D0D508C58ABF}"/>
                  </a:ext>
                </a:extLst>
              </p:cNvPr>
              <p:cNvSpPr>
                <a:spLocks noGrp="1"/>
              </p:cNvSpPr>
              <p:nvPr>
                <p:ph idx="1"/>
              </p:nvPr>
            </p:nvSpPr>
            <p:spPr/>
            <p:txBody>
              <a:bodyPr/>
              <a:lstStyle/>
              <a:p>
                <a:pPr marL="0" indent="0">
                  <a:buNone/>
                </a:pPr>
                <a:r>
                  <a:rPr lang="en-US" dirty="0"/>
                  <a:t>Using the ’wage1’ dataset from ’</a:t>
                </a:r>
                <a:r>
                  <a:rPr lang="en-US" dirty="0" err="1"/>
                  <a:t>wooldridge</a:t>
                </a:r>
                <a:r>
                  <a:rPr lang="en-US" dirty="0"/>
                  <a:t>’ on US workers in 1976, </a:t>
                </a:r>
              </a:p>
              <a:p>
                <a:r>
                  <a:rPr lang="en-US" dirty="0"/>
                  <a:t>estimate the regression equation of the hourly wage (</a:t>
                </a:r>
                <a:r>
                  <a:rPr lang="en-US" i="1" dirty="0"/>
                  <a:t>wage</a:t>
                </a:r>
                <a:r>
                  <a:rPr lang="en-US" dirty="0"/>
                  <a:t>) in dollars ($) on education (</a:t>
                </a:r>
                <a:r>
                  <a:rPr lang="en-US" i="1" dirty="0"/>
                  <a:t>educ</a:t>
                </a:r>
                <a:r>
                  <a:rPr lang="en-US" dirty="0"/>
                  <a:t>) and experience (</a:t>
                </a:r>
                <a:r>
                  <a:rPr lang="en-US" i="1" dirty="0" err="1"/>
                  <a:t>exper</a:t>
                </a:r>
                <a:r>
                  <a:rPr lang="en-US" dirty="0"/>
                  <a:t>);</a:t>
                </a:r>
              </a:p>
              <a:p>
                <a:r>
                  <a:rPr lang="en-US" dirty="0"/>
                  <a:t>how do </a:t>
                </a:r>
                <a14:m>
                  <m:oMath xmlns:m="http://schemas.openxmlformats.org/officeDocument/2006/math">
                    <m:acc>
                      <m:accPr>
                        <m:chr m:val="̂"/>
                        <m:ctrlPr>
                          <a:rPr lang="es-ES" sz="2000" i="1" smtClean="0">
                            <a:latin typeface="Cambria Math" panose="02040503050406030204" pitchFamily="18" charset="0"/>
                          </a:rPr>
                        </m:ctrlPr>
                      </m:accPr>
                      <m:e>
                        <m:sSub>
                          <m:sSubPr>
                            <m:ctrlPr>
                              <a:rPr lang="es-ES" sz="2000" i="1" smtClean="0">
                                <a:latin typeface="Cambria Math" panose="02040503050406030204" pitchFamily="18" charset="0"/>
                              </a:rPr>
                            </m:ctrlPr>
                          </m:sSubPr>
                          <m:e>
                            <m:r>
                              <a:rPr lang="es-ES" sz="2000" i="1" smtClean="0">
                                <a:latin typeface="Cambria Math" panose="02040503050406030204" pitchFamily="18" charset="0"/>
                                <a:ea typeface="Cambria Math" panose="02040503050406030204" pitchFamily="18" charset="0"/>
                              </a:rPr>
                              <m:t>𝛽</m:t>
                            </m:r>
                          </m:e>
                          <m:sub>
                            <m:r>
                              <a:rPr lang="es-ES" sz="2000" b="0" i="1" smtClean="0">
                                <a:latin typeface="Cambria Math" panose="02040503050406030204" pitchFamily="18" charset="0"/>
                              </a:rPr>
                              <m:t>0</m:t>
                            </m:r>
                          </m:sub>
                        </m:sSub>
                        <m:r>
                          <a:rPr lang="es-ES" sz="2000" b="0" i="1" smtClean="0">
                            <a:latin typeface="Cambria Math" panose="02040503050406030204" pitchFamily="18" charset="0"/>
                          </a:rPr>
                          <m:t> </m:t>
                        </m:r>
                      </m:e>
                    </m:acc>
                  </m:oMath>
                </a14:m>
                <a:r>
                  <a:rPr lang="el-GR" sz="2000" dirty="0"/>
                  <a:t>, </a:t>
                </a:r>
                <a14:m>
                  <m:oMath xmlns:m="http://schemas.openxmlformats.org/officeDocument/2006/math">
                    <m:acc>
                      <m:accPr>
                        <m:chr m:val="̂"/>
                        <m:ctrlPr>
                          <a:rPr lang="es-ES" sz="2000" i="1">
                            <a:latin typeface="Cambria Math" panose="02040503050406030204" pitchFamily="18" charset="0"/>
                          </a:rPr>
                        </m:ctrlPr>
                      </m:accPr>
                      <m:e>
                        <m:sSub>
                          <m:sSubPr>
                            <m:ctrlPr>
                              <a:rPr lang="es-ES" sz="2000" i="1">
                                <a:latin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𝛽</m:t>
                            </m:r>
                          </m:e>
                          <m:sub>
                            <m:r>
                              <a:rPr lang="en-CA" sz="2000" b="0" i="1" smtClean="0">
                                <a:latin typeface="Cambria Math" panose="02040503050406030204" pitchFamily="18" charset="0"/>
                                <a:ea typeface="Cambria Math" panose="02040503050406030204" pitchFamily="18" charset="0"/>
                              </a:rPr>
                              <m:t>𝑒𝑑𝑢𝑐</m:t>
                            </m:r>
                          </m:sub>
                        </m:sSub>
                        <m:r>
                          <a:rPr lang="es-ES" sz="2000" i="1">
                            <a:latin typeface="Cambria Math" panose="02040503050406030204" pitchFamily="18" charset="0"/>
                          </a:rPr>
                          <m:t> </m:t>
                        </m:r>
                      </m:e>
                    </m:acc>
                  </m:oMath>
                </a14:m>
                <a:r>
                  <a:rPr lang="el-GR" sz="2000" dirty="0"/>
                  <a:t>, </a:t>
                </a:r>
                <a14:m>
                  <m:oMath xmlns:m="http://schemas.openxmlformats.org/officeDocument/2006/math">
                    <m:acc>
                      <m:accPr>
                        <m:chr m:val="̂"/>
                        <m:ctrlPr>
                          <a:rPr lang="es-ES" sz="2000" i="1">
                            <a:latin typeface="Cambria Math" panose="02040503050406030204" pitchFamily="18" charset="0"/>
                          </a:rPr>
                        </m:ctrlPr>
                      </m:accPr>
                      <m:e>
                        <m:sSub>
                          <m:sSubPr>
                            <m:ctrlPr>
                              <a:rPr lang="es-ES" sz="2000" i="1">
                                <a:latin typeface="Cambria Math" panose="02040503050406030204" pitchFamily="18" charset="0"/>
                              </a:rPr>
                            </m:ctrlPr>
                          </m:sSubPr>
                          <m:e>
                            <m:r>
                              <a:rPr lang="es-ES" sz="2000" i="1">
                                <a:latin typeface="Cambria Math" panose="02040503050406030204" pitchFamily="18" charset="0"/>
                                <a:ea typeface="Cambria Math" panose="02040503050406030204" pitchFamily="18" charset="0"/>
                              </a:rPr>
                              <m:t>𝛽</m:t>
                            </m:r>
                          </m:e>
                          <m:sub>
                            <m:r>
                              <a:rPr lang="en-CA" sz="2000" b="0" i="1" smtClean="0">
                                <a:latin typeface="Cambria Math" panose="02040503050406030204" pitchFamily="18" charset="0"/>
                                <a:ea typeface="Cambria Math" panose="02040503050406030204" pitchFamily="18" charset="0"/>
                              </a:rPr>
                              <m:t>𝑒𝑥𝑝𝑒𝑟</m:t>
                            </m:r>
                          </m:sub>
                        </m:sSub>
                        <m:r>
                          <a:rPr lang="es-ES" sz="2000" i="1">
                            <a:latin typeface="Cambria Math" panose="02040503050406030204" pitchFamily="18" charset="0"/>
                          </a:rPr>
                          <m:t> </m:t>
                        </m:r>
                      </m:e>
                    </m:acc>
                    <m:r>
                      <a:rPr lang="es-ES" sz="2000" i="1">
                        <a:latin typeface="Cambria Math" panose="02040503050406030204" pitchFamily="18" charset="0"/>
                      </a:rPr>
                      <m:t> </m:t>
                    </m:r>
                  </m:oMath>
                </a14:m>
                <a:r>
                  <a:rPr lang="en-US" dirty="0"/>
                  <a:t>change when the units of wages are in ¢ instead of $;</a:t>
                </a:r>
              </a:p>
              <a:p>
                <a:r>
                  <a:rPr lang="en-US" dirty="0"/>
                  <a:t>compare the estimated coefficient for education to the one obtained by regressing only the hourly wage on education. Interpret.</a:t>
                </a:r>
              </a:p>
            </p:txBody>
          </p:sp>
        </mc:Choice>
        <mc:Fallback xmlns="">
          <p:sp>
            <p:nvSpPr>
              <p:cNvPr id="3" name="Content Placeholder 2">
                <a:extLst>
                  <a:ext uri="{FF2B5EF4-FFF2-40B4-BE49-F238E27FC236}">
                    <a16:creationId xmlns:a16="http://schemas.microsoft.com/office/drawing/2014/main" id="{2931A647-44DF-9FB9-D840-D0D508C58ABF}"/>
                  </a:ext>
                </a:extLst>
              </p:cNvPr>
              <p:cNvSpPr>
                <a:spLocks noGrp="1" noRot="1" noChangeAspect="1" noMove="1" noResize="1" noEditPoints="1" noAdjustHandles="1" noChangeArrowheads="1" noChangeShapeType="1" noTextEdit="1"/>
              </p:cNvSpPr>
              <p:nvPr>
                <p:ph idx="1"/>
              </p:nvPr>
            </p:nvSpPr>
            <p:spPr>
              <a:blipFill>
                <a:blip r:embed="rId2"/>
                <a:stretch>
                  <a:fillRect l="-623" t="-704"/>
                </a:stretch>
              </a:blipFill>
            </p:spPr>
            <p:txBody>
              <a:bodyPr/>
              <a:lstStyle/>
              <a:p>
                <a:r>
                  <a:rPr lang="en-US">
                    <a:noFill/>
                  </a:rPr>
                  <a:t> </a:t>
                </a:r>
              </a:p>
            </p:txBody>
          </p:sp>
        </mc:Fallback>
      </mc:AlternateContent>
    </p:spTree>
    <p:extLst>
      <p:ext uri="{BB962C8B-B14F-4D97-AF65-F5344CB8AC3E}">
        <p14:creationId xmlns:p14="http://schemas.microsoft.com/office/powerpoint/2010/main" val="2029971471"/>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{0E485437-9C64-634D-9FB8-65EB535908DD}tf10001071</Template>
  <TotalTime>970</TotalTime>
  <Words>1047</Words>
  <Application>Microsoft Macintosh PowerPoint</Application>
  <PresentationFormat>Widescreen</PresentationFormat>
  <Paragraphs>102</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Arial</vt:lpstr>
      <vt:lpstr>Cambria Math</vt:lpstr>
      <vt:lpstr>Garamond</vt:lpstr>
      <vt:lpstr>Gill Sans MT</vt:lpstr>
      <vt:lpstr>Impact</vt:lpstr>
      <vt:lpstr>Badge</vt:lpstr>
      <vt:lpstr>The multiple regression model I</vt:lpstr>
      <vt:lpstr>PowerPoint Presentation</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vt:lpstr>
      <vt:lpstr>PowerPoint Presentation</vt:lpstr>
      <vt:lpstr>PowerPoint Presentation</vt:lpstr>
      <vt:lpstr>PowerPoint Presentation</vt:lpstr>
      <vt:lpstr>PowerPoint Presentation</vt:lpstr>
      <vt:lpstr>PowerPoint Presentation</vt:lpstr>
      <vt:lpstr>PowerPoint Presentation</vt:lpstr>
      <vt:lpstr>In-Class Exercises</vt:lpstr>
      <vt:lpstr>Part I</vt:lpstr>
      <vt:lpstr>Part II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multiple regression model I</dc:title>
  <dc:creator>Sebastian Vallejo Vera</dc:creator>
  <cp:lastModifiedBy>Sebastian Vallejo Vera</cp:lastModifiedBy>
  <cp:revision>1</cp:revision>
  <dcterms:created xsi:type="dcterms:W3CDTF">2024-02-08T00:28:31Z</dcterms:created>
  <dcterms:modified xsi:type="dcterms:W3CDTF">2026-02-03T01:36:56Z</dcterms:modified>
</cp:coreProperties>
</file>