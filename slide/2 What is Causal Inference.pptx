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77" r:id="rId13"/>
    <p:sldId id="278" r:id="rId14"/>
    <p:sldId id="279" r:id="rId15"/>
    <p:sldId id="280" r:id="rId16"/>
    <p:sldId id="292" r:id="rId17"/>
    <p:sldId id="293" r:id="rId18"/>
    <p:sldId id="294" r:id="rId19"/>
    <p:sldId id="284" r:id="rId20"/>
    <p:sldId id="285" r:id="rId21"/>
    <p:sldId id="286" r:id="rId22"/>
    <p:sldId id="287" r:id="rId23"/>
    <p:sldId id="288" r:id="rId24"/>
    <p:sldId id="289" r:id="rId25"/>
    <p:sldId id="290" r:id="rId26"/>
    <p:sldId id="291" r:id="rId27"/>
    <p:sldId id="296" r:id="rId28"/>
    <p:sldId id="29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B82BEF-7BDC-A642-A412-9B78CC19E7BB}" v="4" dt="2026-01-06T02:58:06.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00"/>
    <p:restoredTop sz="96132"/>
  </p:normalViewPr>
  <p:slideViewPr>
    <p:cSldViewPr snapToGrid="0">
      <p:cViewPr varScale="1">
        <p:scale>
          <a:sx n="112" d="100"/>
          <a:sy n="112" d="100"/>
        </p:scale>
        <p:origin x="6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A248EEF8-C29E-592E-8CA9-13334A969EB7}"/>
    <pc:docChg chg="custSel modSld">
      <pc:chgData name="Sebastian Vallejo Vera" userId="661f42ee-5565-49c4-8b1d-325f2d699b91" providerId="ADAL" clId="{A248EEF8-C29E-592E-8CA9-13334A969EB7}" dt="2026-01-06T02:58:06.456" v="4" actId="20577"/>
      <pc:docMkLst>
        <pc:docMk/>
      </pc:docMkLst>
      <pc:sldChg chg="addSp delSp modSp mod">
        <pc:chgData name="Sebastian Vallejo Vera" userId="661f42ee-5565-49c4-8b1d-325f2d699b91" providerId="ADAL" clId="{A248EEF8-C29E-592E-8CA9-13334A969EB7}" dt="2026-01-06T02:58:06.456" v="4" actId="20577"/>
        <pc:sldMkLst>
          <pc:docMk/>
          <pc:sldMk cId="3922211887" sldId="297"/>
        </pc:sldMkLst>
        <pc:spChg chg="mod">
          <ac:chgData name="Sebastian Vallejo Vera" userId="661f42ee-5565-49c4-8b1d-325f2d699b91" providerId="ADAL" clId="{A248EEF8-C29E-592E-8CA9-13334A969EB7}" dt="2026-01-06T02:58:06.456" v="4" actId="20577"/>
          <ac:spMkLst>
            <pc:docMk/>
            <pc:sldMk cId="3922211887" sldId="297"/>
            <ac:spMk id="2" creationId="{A6493AC8-AF33-ADF9-F4EF-43A082795E27}"/>
          </ac:spMkLst>
        </pc:spChg>
        <pc:spChg chg="add del mod">
          <ac:chgData name="Sebastian Vallejo Vera" userId="661f42ee-5565-49c4-8b1d-325f2d699b91" providerId="ADAL" clId="{A248EEF8-C29E-592E-8CA9-13334A969EB7}" dt="2026-01-06T02:58:00.578" v="2" actId="478"/>
          <ac:spMkLst>
            <pc:docMk/>
            <pc:sldMk cId="3922211887" sldId="297"/>
            <ac:spMk id="3" creationId="{B661AF0E-6410-D8AB-32E6-80DD943D7F1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75A903-9070-4EF1-8539-079EDEFD37C8}"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C61229B8-2779-42D6-8D09-4AA905CC5D0B}">
      <dgm:prSet/>
      <dgm:spPr/>
      <dgm:t>
        <a:bodyPr/>
        <a:lstStyle/>
        <a:p>
          <a:r>
            <a:rPr lang="en-US"/>
            <a:t>Question (relevant to the field)</a:t>
          </a:r>
        </a:p>
      </dgm:t>
    </dgm:pt>
    <dgm:pt modelId="{2E446038-DAE1-4F32-A1D7-F7D99CF76BF2}" type="parTrans" cxnId="{0E4813CF-EC8A-4EAB-8690-D5DDAF173E2D}">
      <dgm:prSet/>
      <dgm:spPr/>
      <dgm:t>
        <a:bodyPr/>
        <a:lstStyle/>
        <a:p>
          <a:endParaRPr lang="en-US"/>
        </a:p>
      </dgm:t>
    </dgm:pt>
    <dgm:pt modelId="{35B23FE1-B764-4153-826A-2E2550F0FB4F}" type="sibTrans" cxnId="{0E4813CF-EC8A-4EAB-8690-D5DDAF173E2D}">
      <dgm:prSet phldrT="01" phldr="0"/>
      <dgm:spPr/>
      <dgm:t>
        <a:bodyPr/>
        <a:lstStyle/>
        <a:p>
          <a:r>
            <a:rPr lang="en-US"/>
            <a:t>01</a:t>
          </a:r>
        </a:p>
      </dgm:t>
    </dgm:pt>
    <dgm:pt modelId="{D8B66B4E-6C88-465C-844F-F7FF93E0C1B3}">
      <dgm:prSet/>
      <dgm:spPr/>
      <dgm:t>
        <a:bodyPr/>
        <a:lstStyle/>
        <a:p>
          <a:r>
            <a:rPr lang="en-US"/>
            <a:t>Theory or Model (explaining the theory)</a:t>
          </a:r>
        </a:p>
      </dgm:t>
    </dgm:pt>
    <dgm:pt modelId="{76984425-687B-458B-BC12-934572394AD6}" type="parTrans" cxnId="{73BE391F-90C5-4048-9321-A1DA9C3947CC}">
      <dgm:prSet/>
      <dgm:spPr/>
      <dgm:t>
        <a:bodyPr/>
        <a:lstStyle/>
        <a:p>
          <a:endParaRPr lang="en-US"/>
        </a:p>
      </dgm:t>
    </dgm:pt>
    <dgm:pt modelId="{061C8091-0414-4E64-A408-949D49F70922}" type="sibTrans" cxnId="{73BE391F-90C5-4048-9321-A1DA9C3947CC}">
      <dgm:prSet phldrT="02" phldr="0"/>
      <dgm:spPr/>
      <dgm:t>
        <a:bodyPr/>
        <a:lstStyle/>
        <a:p>
          <a:r>
            <a:rPr lang="en-US"/>
            <a:t>02</a:t>
          </a:r>
        </a:p>
      </dgm:t>
    </dgm:pt>
    <dgm:pt modelId="{0782583A-2C69-453E-9B21-922573686361}">
      <dgm:prSet/>
      <dgm:spPr/>
      <dgm:t>
        <a:bodyPr/>
        <a:lstStyle/>
        <a:p>
          <a:r>
            <a:rPr lang="en-US"/>
            <a:t>Observable Implications (Hypotheses)</a:t>
          </a:r>
        </a:p>
      </dgm:t>
    </dgm:pt>
    <dgm:pt modelId="{CB39BF82-CE22-46E3-8EE8-967F0941CF65}" type="parTrans" cxnId="{2651A8EE-C086-4E6B-BBA2-7C86559BEB1E}">
      <dgm:prSet/>
      <dgm:spPr/>
      <dgm:t>
        <a:bodyPr/>
        <a:lstStyle/>
        <a:p>
          <a:endParaRPr lang="en-US"/>
        </a:p>
      </dgm:t>
    </dgm:pt>
    <dgm:pt modelId="{13875003-BD72-41A3-AA41-9B766A46C248}" type="sibTrans" cxnId="{2651A8EE-C086-4E6B-BBA2-7C86559BEB1E}">
      <dgm:prSet phldrT="03" phldr="0"/>
      <dgm:spPr/>
      <dgm:t>
        <a:bodyPr/>
        <a:lstStyle/>
        <a:p>
          <a:r>
            <a:rPr lang="en-US"/>
            <a:t>03</a:t>
          </a:r>
        </a:p>
      </dgm:t>
    </dgm:pt>
    <dgm:pt modelId="{44902685-4354-4395-9C43-20B9A64A007C}">
      <dgm:prSet/>
      <dgm:spPr/>
      <dgm:t>
        <a:bodyPr/>
        <a:lstStyle/>
        <a:p>
          <a:r>
            <a:rPr lang="en-US"/>
            <a:t>Observe the World (Reject the Null)</a:t>
          </a:r>
        </a:p>
      </dgm:t>
    </dgm:pt>
    <dgm:pt modelId="{134E0470-3D57-4579-9753-9DB1A4DFE782}" type="parTrans" cxnId="{19DA601A-F5A6-46F8-A56C-2639A0F695A5}">
      <dgm:prSet/>
      <dgm:spPr/>
      <dgm:t>
        <a:bodyPr/>
        <a:lstStyle/>
        <a:p>
          <a:endParaRPr lang="en-US"/>
        </a:p>
      </dgm:t>
    </dgm:pt>
    <dgm:pt modelId="{B6A9E538-B73F-4B04-869C-3F1E11D23705}" type="sibTrans" cxnId="{19DA601A-F5A6-46F8-A56C-2639A0F695A5}">
      <dgm:prSet phldrT="04" phldr="0"/>
      <dgm:spPr/>
      <dgm:t>
        <a:bodyPr/>
        <a:lstStyle/>
        <a:p>
          <a:r>
            <a:rPr lang="en-US"/>
            <a:t>04</a:t>
          </a:r>
        </a:p>
      </dgm:t>
    </dgm:pt>
    <dgm:pt modelId="{6AECFB54-651D-4207-AED5-4EBDAC17EC72}">
      <dgm:prSet/>
      <dgm:spPr/>
      <dgm:t>
        <a:bodyPr/>
        <a:lstStyle/>
        <a:p>
          <a:r>
            <a:rPr lang="en-US"/>
            <a:t>Evaluate</a:t>
          </a:r>
        </a:p>
      </dgm:t>
    </dgm:pt>
    <dgm:pt modelId="{184644D0-76D5-4DCC-AAB2-15D6D0D1CBFD}" type="parTrans" cxnId="{33A26F44-766E-4CF2-B0D0-1BEAB55CF938}">
      <dgm:prSet/>
      <dgm:spPr/>
      <dgm:t>
        <a:bodyPr/>
        <a:lstStyle/>
        <a:p>
          <a:endParaRPr lang="en-US"/>
        </a:p>
      </dgm:t>
    </dgm:pt>
    <dgm:pt modelId="{F5F31673-F1F2-488C-8936-04AAA91EA505}" type="sibTrans" cxnId="{33A26F44-766E-4CF2-B0D0-1BEAB55CF938}">
      <dgm:prSet phldrT="05" phldr="0"/>
      <dgm:spPr/>
      <dgm:t>
        <a:bodyPr/>
        <a:lstStyle/>
        <a:p>
          <a:r>
            <a:rPr lang="en-US"/>
            <a:t>05</a:t>
          </a:r>
        </a:p>
      </dgm:t>
    </dgm:pt>
    <dgm:pt modelId="{A3CAB461-3CE5-F34C-9401-92E0C26023CF}" type="pres">
      <dgm:prSet presAssocID="{6C75A903-9070-4EF1-8539-079EDEFD37C8}" presName="Name0" presStyleCnt="0">
        <dgm:presLayoutVars>
          <dgm:animLvl val="lvl"/>
          <dgm:resizeHandles val="exact"/>
        </dgm:presLayoutVars>
      </dgm:prSet>
      <dgm:spPr/>
    </dgm:pt>
    <dgm:pt modelId="{529A735E-DC10-F442-A179-CB3DB8EB7396}" type="pres">
      <dgm:prSet presAssocID="{C61229B8-2779-42D6-8D09-4AA905CC5D0B}" presName="compositeNode" presStyleCnt="0">
        <dgm:presLayoutVars>
          <dgm:bulletEnabled val="1"/>
        </dgm:presLayoutVars>
      </dgm:prSet>
      <dgm:spPr/>
    </dgm:pt>
    <dgm:pt modelId="{9E0E06C2-F64E-644E-8A5B-31BB5E3D0FEA}" type="pres">
      <dgm:prSet presAssocID="{C61229B8-2779-42D6-8D09-4AA905CC5D0B}" presName="bgRect" presStyleLbl="alignNode1" presStyleIdx="0" presStyleCnt="5"/>
      <dgm:spPr/>
    </dgm:pt>
    <dgm:pt modelId="{F17EE44E-419A-1845-BD1B-C39ED89E0A12}" type="pres">
      <dgm:prSet presAssocID="{35B23FE1-B764-4153-826A-2E2550F0FB4F}" presName="sibTransNodeRect" presStyleLbl="alignNode1" presStyleIdx="0" presStyleCnt="5">
        <dgm:presLayoutVars>
          <dgm:chMax val="0"/>
          <dgm:bulletEnabled val="1"/>
        </dgm:presLayoutVars>
      </dgm:prSet>
      <dgm:spPr/>
    </dgm:pt>
    <dgm:pt modelId="{14DCA5A0-614F-984B-AB68-FBBB8AF2D201}" type="pres">
      <dgm:prSet presAssocID="{C61229B8-2779-42D6-8D09-4AA905CC5D0B}" presName="nodeRect" presStyleLbl="alignNode1" presStyleIdx="0" presStyleCnt="5">
        <dgm:presLayoutVars>
          <dgm:bulletEnabled val="1"/>
        </dgm:presLayoutVars>
      </dgm:prSet>
      <dgm:spPr/>
    </dgm:pt>
    <dgm:pt modelId="{7C50D8D7-FBD4-4642-B98B-233335057723}" type="pres">
      <dgm:prSet presAssocID="{35B23FE1-B764-4153-826A-2E2550F0FB4F}" presName="sibTrans" presStyleCnt="0"/>
      <dgm:spPr/>
    </dgm:pt>
    <dgm:pt modelId="{EE66B3B2-8ED8-5043-BA91-5CDE3528B791}" type="pres">
      <dgm:prSet presAssocID="{D8B66B4E-6C88-465C-844F-F7FF93E0C1B3}" presName="compositeNode" presStyleCnt="0">
        <dgm:presLayoutVars>
          <dgm:bulletEnabled val="1"/>
        </dgm:presLayoutVars>
      </dgm:prSet>
      <dgm:spPr/>
    </dgm:pt>
    <dgm:pt modelId="{F988005B-21E8-8B44-ABA3-28059E77D623}" type="pres">
      <dgm:prSet presAssocID="{D8B66B4E-6C88-465C-844F-F7FF93E0C1B3}" presName="bgRect" presStyleLbl="alignNode1" presStyleIdx="1" presStyleCnt="5"/>
      <dgm:spPr/>
    </dgm:pt>
    <dgm:pt modelId="{00FC8E89-172E-CE4C-80FC-C222E408192D}" type="pres">
      <dgm:prSet presAssocID="{061C8091-0414-4E64-A408-949D49F70922}" presName="sibTransNodeRect" presStyleLbl="alignNode1" presStyleIdx="1" presStyleCnt="5">
        <dgm:presLayoutVars>
          <dgm:chMax val="0"/>
          <dgm:bulletEnabled val="1"/>
        </dgm:presLayoutVars>
      </dgm:prSet>
      <dgm:spPr/>
    </dgm:pt>
    <dgm:pt modelId="{6D4AAF72-CF23-504D-9918-2ED9B6F73B5C}" type="pres">
      <dgm:prSet presAssocID="{D8B66B4E-6C88-465C-844F-F7FF93E0C1B3}" presName="nodeRect" presStyleLbl="alignNode1" presStyleIdx="1" presStyleCnt="5">
        <dgm:presLayoutVars>
          <dgm:bulletEnabled val="1"/>
        </dgm:presLayoutVars>
      </dgm:prSet>
      <dgm:spPr/>
    </dgm:pt>
    <dgm:pt modelId="{3B54B53C-FA31-AA47-9514-2F1D5CF150EF}" type="pres">
      <dgm:prSet presAssocID="{061C8091-0414-4E64-A408-949D49F70922}" presName="sibTrans" presStyleCnt="0"/>
      <dgm:spPr/>
    </dgm:pt>
    <dgm:pt modelId="{89066E63-BBB9-D142-8086-CEEA5A7CD8E6}" type="pres">
      <dgm:prSet presAssocID="{0782583A-2C69-453E-9B21-922573686361}" presName="compositeNode" presStyleCnt="0">
        <dgm:presLayoutVars>
          <dgm:bulletEnabled val="1"/>
        </dgm:presLayoutVars>
      </dgm:prSet>
      <dgm:spPr/>
    </dgm:pt>
    <dgm:pt modelId="{A5AE2EEF-C04C-CC4C-A4F3-68EAAB89A9AD}" type="pres">
      <dgm:prSet presAssocID="{0782583A-2C69-453E-9B21-922573686361}" presName="bgRect" presStyleLbl="alignNode1" presStyleIdx="2" presStyleCnt="5"/>
      <dgm:spPr/>
    </dgm:pt>
    <dgm:pt modelId="{BFE09087-818E-5D47-934B-F501DAFB7FE7}" type="pres">
      <dgm:prSet presAssocID="{13875003-BD72-41A3-AA41-9B766A46C248}" presName="sibTransNodeRect" presStyleLbl="alignNode1" presStyleIdx="2" presStyleCnt="5">
        <dgm:presLayoutVars>
          <dgm:chMax val="0"/>
          <dgm:bulletEnabled val="1"/>
        </dgm:presLayoutVars>
      </dgm:prSet>
      <dgm:spPr/>
    </dgm:pt>
    <dgm:pt modelId="{DA026628-4388-F848-8F95-4448CE04BC44}" type="pres">
      <dgm:prSet presAssocID="{0782583A-2C69-453E-9B21-922573686361}" presName="nodeRect" presStyleLbl="alignNode1" presStyleIdx="2" presStyleCnt="5">
        <dgm:presLayoutVars>
          <dgm:bulletEnabled val="1"/>
        </dgm:presLayoutVars>
      </dgm:prSet>
      <dgm:spPr/>
    </dgm:pt>
    <dgm:pt modelId="{41715A19-005D-7C4B-9A56-EE942D1FF99C}" type="pres">
      <dgm:prSet presAssocID="{13875003-BD72-41A3-AA41-9B766A46C248}" presName="sibTrans" presStyleCnt="0"/>
      <dgm:spPr/>
    </dgm:pt>
    <dgm:pt modelId="{9C12839D-7596-C94B-8467-939585A96829}" type="pres">
      <dgm:prSet presAssocID="{44902685-4354-4395-9C43-20B9A64A007C}" presName="compositeNode" presStyleCnt="0">
        <dgm:presLayoutVars>
          <dgm:bulletEnabled val="1"/>
        </dgm:presLayoutVars>
      </dgm:prSet>
      <dgm:spPr/>
    </dgm:pt>
    <dgm:pt modelId="{F7DA006E-D9C7-344C-A020-8CE8A065698E}" type="pres">
      <dgm:prSet presAssocID="{44902685-4354-4395-9C43-20B9A64A007C}" presName="bgRect" presStyleLbl="alignNode1" presStyleIdx="3" presStyleCnt="5"/>
      <dgm:spPr/>
    </dgm:pt>
    <dgm:pt modelId="{FA179B8D-8D45-3C45-A4A4-18C2EF9C7D8C}" type="pres">
      <dgm:prSet presAssocID="{B6A9E538-B73F-4B04-869C-3F1E11D23705}" presName="sibTransNodeRect" presStyleLbl="alignNode1" presStyleIdx="3" presStyleCnt="5">
        <dgm:presLayoutVars>
          <dgm:chMax val="0"/>
          <dgm:bulletEnabled val="1"/>
        </dgm:presLayoutVars>
      </dgm:prSet>
      <dgm:spPr/>
    </dgm:pt>
    <dgm:pt modelId="{E9D53A79-E671-E24A-930C-100686F48002}" type="pres">
      <dgm:prSet presAssocID="{44902685-4354-4395-9C43-20B9A64A007C}" presName="nodeRect" presStyleLbl="alignNode1" presStyleIdx="3" presStyleCnt="5">
        <dgm:presLayoutVars>
          <dgm:bulletEnabled val="1"/>
        </dgm:presLayoutVars>
      </dgm:prSet>
      <dgm:spPr/>
    </dgm:pt>
    <dgm:pt modelId="{18F56006-B3D4-E849-81DA-F779C3C4CDD4}" type="pres">
      <dgm:prSet presAssocID="{B6A9E538-B73F-4B04-869C-3F1E11D23705}" presName="sibTrans" presStyleCnt="0"/>
      <dgm:spPr/>
    </dgm:pt>
    <dgm:pt modelId="{15660FEE-F3C4-C44D-91A1-53E21028EEFD}" type="pres">
      <dgm:prSet presAssocID="{6AECFB54-651D-4207-AED5-4EBDAC17EC72}" presName="compositeNode" presStyleCnt="0">
        <dgm:presLayoutVars>
          <dgm:bulletEnabled val="1"/>
        </dgm:presLayoutVars>
      </dgm:prSet>
      <dgm:spPr/>
    </dgm:pt>
    <dgm:pt modelId="{E15AFDE8-F67C-AB42-A473-9543490E5331}" type="pres">
      <dgm:prSet presAssocID="{6AECFB54-651D-4207-AED5-4EBDAC17EC72}" presName="bgRect" presStyleLbl="alignNode1" presStyleIdx="4" presStyleCnt="5"/>
      <dgm:spPr/>
    </dgm:pt>
    <dgm:pt modelId="{A80502B8-8E6B-C24B-BD67-50B316380153}" type="pres">
      <dgm:prSet presAssocID="{F5F31673-F1F2-488C-8936-04AAA91EA505}" presName="sibTransNodeRect" presStyleLbl="alignNode1" presStyleIdx="4" presStyleCnt="5">
        <dgm:presLayoutVars>
          <dgm:chMax val="0"/>
          <dgm:bulletEnabled val="1"/>
        </dgm:presLayoutVars>
      </dgm:prSet>
      <dgm:spPr/>
    </dgm:pt>
    <dgm:pt modelId="{829FB16D-7CC4-154C-8EA6-B5567FEA7304}" type="pres">
      <dgm:prSet presAssocID="{6AECFB54-651D-4207-AED5-4EBDAC17EC72}" presName="nodeRect" presStyleLbl="alignNode1" presStyleIdx="4" presStyleCnt="5">
        <dgm:presLayoutVars>
          <dgm:bulletEnabled val="1"/>
        </dgm:presLayoutVars>
      </dgm:prSet>
      <dgm:spPr/>
    </dgm:pt>
  </dgm:ptLst>
  <dgm:cxnLst>
    <dgm:cxn modelId="{50532503-6903-364E-8FA1-003041C01C2D}" type="presOf" srcId="{6AECFB54-651D-4207-AED5-4EBDAC17EC72}" destId="{E15AFDE8-F67C-AB42-A473-9543490E5331}" srcOrd="0" destOrd="0" presId="urn:microsoft.com/office/officeart/2016/7/layout/LinearBlockProcessNumbered"/>
    <dgm:cxn modelId="{19DA601A-F5A6-46F8-A56C-2639A0F695A5}" srcId="{6C75A903-9070-4EF1-8539-079EDEFD37C8}" destId="{44902685-4354-4395-9C43-20B9A64A007C}" srcOrd="3" destOrd="0" parTransId="{134E0470-3D57-4579-9753-9DB1A4DFE782}" sibTransId="{B6A9E538-B73F-4B04-869C-3F1E11D23705}"/>
    <dgm:cxn modelId="{73BE391F-90C5-4048-9321-A1DA9C3947CC}" srcId="{6C75A903-9070-4EF1-8539-079EDEFD37C8}" destId="{D8B66B4E-6C88-465C-844F-F7FF93E0C1B3}" srcOrd="1" destOrd="0" parTransId="{76984425-687B-458B-BC12-934572394AD6}" sibTransId="{061C8091-0414-4E64-A408-949D49F70922}"/>
    <dgm:cxn modelId="{6BF07E28-64D6-A148-B677-750931FA6E65}" type="presOf" srcId="{D8B66B4E-6C88-465C-844F-F7FF93E0C1B3}" destId="{6D4AAF72-CF23-504D-9918-2ED9B6F73B5C}" srcOrd="1" destOrd="0" presId="urn:microsoft.com/office/officeart/2016/7/layout/LinearBlockProcessNumbered"/>
    <dgm:cxn modelId="{7E23A93B-67FA-3D47-8E0B-75038A8F5F99}" type="presOf" srcId="{44902685-4354-4395-9C43-20B9A64A007C}" destId="{E9D53A79-E671-E24A-930C-100686F48002}" srcOrd="1" destOrd="0" presId="urn:microsoft.com/office/officeart/2016/7/layout/LinearBlockProcessNumbered"/>
    <dgm:cxn modelId="{7B81613E-1A47-4946-9E2C-7B8608C7C331}" type="presOf" srcId="{35B23FE1-B764-4153-826A-2E2550F0FB4F}" destId="{F17EE44E-419A-1845-BD1B-C39ED89E0A12}" srcOrd="0" destOrd="0" presId="urn:microsoft.com/office/officeart/2016/7/layout/LinearBlockProcessNumbered"/>
    <dgm:cxn modelId="{33A26F44-766E-4CF2-B0D0-1BEAB55CF938}" srcId="{6C75A903-9070-4EF1-8539-079EDEFD37C8}" destId="{6AECFB54-651D-4207-AED5-4EBDAC17EC72}" srcOrd="4" destOrd="0" parTransId="{184644D0-76D5-4DCC-AAB2-15D6D0D1CBFD}" sibTransId="{F5F31673-F1F2-488C-8936-04AAA91EA505}"/>
    <dgm:cxn modelId="{C4836F50-D26E-7440-A017-DF27D42ECD3D}" type="presOf" srcId="{6C75A903-9070-4EF1-8539-079EDEFD37C8}" destId="{A3CAB461-3CE5-F34C-9401-92E0C26023CF}" srcOrd="0" destOrd="0" presId="urn:microsoft.com/office/officeart/2016/7/layout/LinearBlockProcessNumbered"/>
    <dgm:cxn modelId="{21DA7850-7A5D-C34B-AA01-E80F3FB15C0C}" type="presOf" srcId="{C61229B8-2779-42D6-8D09-4AA905CC5D0B}" destId="{9E0E06C2-F64E-644E-8A5B-31BB5E3D0FEA}" srcOrd="0" destOrd="0" presId="urn:microsoft.com/office/officeart/2016/7/layout/LinearBlockProcessNumbered"/>
    <dgm:cxn modelId="{EB7B015F-71F5-7A42-B73C-7B8E27FFF7E4}" type="presOf" srcId="{13875003-BD72-41A3-AA41-9B766A46C248}" destId="{BFE09087-818E-5D47-934B-F501DAFB7FE7}" srcOrd="0" destOrd="0" presId="urn:microsoft.com/office/officeart/2016/7/layout/LinearBlockProcessNumbered"/>
    <dgm:cxn modelId="{DF20FF77-A263-BF4B-9716-363211664494}" type="presOf" srcId="{44902685-4354-4395-9C43-20B9A64A007C}" destId="{F7DA006E-D9C7-344C-A020-8CE8A065698E}" srcOrd="0" destOrd="0" presId="urn:microsoft.com/office/officeart/2016/7/layout/LinearBlockProcessNumbered"/>
    <dgm:cxn modelId="{84F28384-5160-4345-98BB-D937C0F6030C}" type="presOf" srcId="{6AECFB54-651D-4207-AED5-4EBDAC17EC72}" destId="{829FB16D-7CC4-154C-8EA6-B5567FEA7304}" srcOrd="1" destOrd="0" presId="urn:microsoft.com/office/officeart/2016/7/layout/LinearBlockProcessNumbered"/>
    <dgm:cxn modelId="{6F900C9A-96C2-E245-95E1-25F31FA0B11A}" type="presOf" srcId="{0782583A-2C69-453E-9B21-922573686361}" destId="{A5AE2EEF-C04C-CC4C-A4F3-68EAAB89A9AD}" srcOrd="0" destOrd="0" presId="urn:microsoft.com/office/officeart/2016/7/layout/LinearBlockProcessNumbered"/>
    <dgm:cxn modelId="{EFCAEEB1-AC82-6849-987C-E49C63B8B707}" type="presOf" srcId="{D8B66B4E-6C88-465C-844F-F7FF93E0C1B3}" destId="{F988005B-21E8-8B44-ABA3-28059E77D623}" srcOrd="0" destOrd="0" presId="urn:microsoft.com/office/officeart/2016/7/layout/LinearBlockProcessNumbered"/>
    <dgm:cxn modelId="{F541B6B2-4F32-2A45-9D5E-121066398E5A}" type="presOf" srcId="{061C8091-0414-4E64-A408-949D49F70922}" destId="{00FC8E89-172E-CE4C-80FC-C222E408192D}" srcOrd="0" destOrd="0" presId="urn:microsoft.com/office/officeart/2016/7/layout/LinearBlockProcessNumbered"/>
    <dgm:cxn modelId="{18F15BC4-BEDB-B54D-A6F5-14D783D67327}" type="presOf" srcId="{C61229B8-2779-42D6-8D09-4AA905CC5D0B}" destId="{14DCA5A0-614F-984B-AB68-FBBB8AF2D201}" srcOrd="1" destOrd="0" presId="urn:microsoft.com/office/officeart/2016/7/layout/LinearBlockProcessNumbered"/>
    <dgm:cxn modelId="{23FEA6CC-B41D-0D4D-B4D8-9649B68BAE32}" type="presOf" srcId="{B6A9E538-B73F-4B04-869C-3F1E11D23705}" destId="{FA179B8D-8D45-3C45-A4A4-18C2EF9C7D8C}" srcOrd="0" destOrd="0" presId="urn:microsoft.com/office/officeart/2016/7/layout/LinearBlockProcessNumbered"/>
    <dgm:cxn modelId="{0E4813CF-EC8A-4EAB-8690-D5DDAF173E2D}" srcId="{6C75A903-9070-4EF1-8539-079EDEFD37C8}" destId="{C61229B8-2779-42D6-8D09-4AA905CC5D0B}" srcOrd="0" destOrd="0" parTransId="{2E446038-DAE1-4F32-A1D7-F7D99CF76BF2}" sibTransId="{35B23FE1-B764-4153-826A-2E2550F0FB4F}"/>
    <dgm:cxn modelId="{48B95EDC-580A-E941-AD3D-DBD364460E80}" type="presOf" srcId="{F5F31673-F1F2-488C-8936-04AAA91EA505}" destId="{A80502B8-8E6B-C24B-BD67-50B316380153}" srcOrd="0" destOrd="0" presId="urn:microsoft.com/office/officeart/2016/7/layout/LinearBlockProcessNumbered"/>
    <dgm:cxn modelId="{2651A8EE-C086-4E6B-BBA2-7C86559BEB1E}" srcId="{6C75A903-9070-4EF1-8539-079EDEFD37C8}" destId="{0782583A-2C69-453E-9B21-922573686361}" srcOrd="2" destOrd="0" parTransId="{CB39BF82-CE22-46E3-8EE8-967F0941CF65}" sibTransId="{13875003-BD72-41A3-AA41-9B766A46C248}"/>
    <dgm:cxn modelId="{56FCDEFA-C95E-6C45-8928-377495FFFA21}" type="presOf" srcId="{0782583A-2C69-453E-9B21-922573686361}" destId="{DA026628-4388-F848-8F95-4448CE04BC44}" srcOrd="1" destOrd="0" presId="urn:microsoft.com/office/officeart/2016/7/layout/LinearBlockProcessNumbered"/>
    <dgm:cxn modelId="{1A6F7EFD-0EFD-3A48-B9DD-22936E022248}" type="presParOf" srcId="{A3CAB461-3CE5-F34C-9401-92E0C26023CF}" destId="{529A735E-DC10-F442-A179-CB3DB8EB7396}" srcOrd="0" destOrd="0" presId="urn:microsoft.com/office/officeart/2016/7/layout/LinearBlockProcessNumbered"/>
    <dgm:cxn modelId="{8749322B-A051-C845-9C2D-2E55319C81E5}" type="presParOf" srcId="{529A735E-DC10-F442-A179-CB3DB8EB7396}" destId="{9E0E06C2-F64E-644E-8A5B-31BB5E3D0FEA}" srcOrd="0" destOrd="0" presId="urn:microsoft.com/office/officeart/2016/7/layout/LinearBlockProcessNumbered"/>
    <dgm:cxn modelId="{11BC9109-42EF-BC4E-9A0E-10D48BC56739}" type="presParOf" srcId="{529A735E-DC10-F442-A179-CB3DB8EB7396}" destId="{F17EE44E-419A-1845-BD1B-C39ED89E0A12}" srcOrd="1" destOrd="0" presId="urn:microsoft.com/office/officeart/2016/7/layout/LinearBlockProcessNumbered"/>
    <dgm:cxn modelId="{7E9D6BA2-6038-654C-B563-47C1421FBEE5}" type="presParOf" srcId="{529A735E-DC10-F442-A179-CB3DB8EB7396}" destId="{14DCA5A0-614F-984B-AB68-FBBB8AF2D201}" srcOrd="2" destOrd="0" presId="urn:microsoft.com/office/officeart/2016/7/layout/LinearBlockProcessNumbered"/>
    <dgm:cxn modelId="{53DC83C8-DE73-6041-9D42-5F0C53AC4E89}" type="presParOf" srcId="{A3CAB461-3CE5-F34C-9401-92E0C26023CF}" destId="{7C50D8D7-FBD4-4642-B98B-233335057723}" srcOrd="1" destOrd="0" presId="urn:microsoft.com/office/officeart/2016/7/layout/LinearBlockProcessNumbered"/>
    <dgm:cxn modelId="{CA614006-D2B2-6145-81F2-772A945F2B35}" type="presParOf" srcId="{A3CAB461-3CE5-F34C-9401-92E0C26023CF}" destId="{EE66B3B2-8ED8-5043-BA91-5CDE3528B791}" srcOrd="2" destOrd="0" presId="urn:microsoft.com/office/officeart/2016/7/layout/LinearBlockProcessNumbered"/>
    <dgm:cxn modelId="{6071B764-7B17-FD4B-9573-D8D1A22D030B}" type="presParOf" srcId="{EE66B3B2-8ED8-5043-BA91-5CDE3528B791}" destId="{F988005B-21E8-8B44-ABA3-28059E77D623}" srcOrd="0" destOrd="0" presId="urn:microsoft.com/office/officeart/2016/7/layout/LinearBlockProcessNumbered"/>
    <dgm:cxn modelId="{8F04FD5C-D56D-834C-8A29-B6208DA83260}" type="presParOf" srcId="{EE66B3B2-8ED8-5043-BA91-5CDE3528B791}" destId="{00FC8E89-172E-CE4C-80FC-C222E408192D}" srcOrd="1" destOrd="0" presId="urn:microsoft.com/office/officeart/2016/7/layout/LinearBlockProcessNumbered"/>
    <dgm:cxn modelId="{15DEAAED-C6D3-3145-9C65-F5BDE82E211A}" type="presParOf" srcId="{EE66B3B2-8ED8-5043-BA91-5CDE3528B791}" destId="{6D4AAF72-CF23-504D-9918-2ED9B6F73B5C}" srcOrd="2" destOrd="0" presId="urn:microsoft.com/office/officeart/2016/7/layout/LinearBlockProcessNumbered"/>
    <dgm:cxn modelId="{42AF11F9-5972-7C4C-B952-370AB8D82A89}" type="presParOf" srcId="{A3CAB461-3CE5-F34C-9401-92E0C26023CF}" destId="{3B54B53C-FA31-AA47-9514-2F1D5CF150EF}" srcOrd="3" destOrd="0" presId="urn:microsoft.com/office/officeart/2016/7/layout/LinearBlockProcessNumbered"/>
    <dgm:cxn modelId="{FE28989E-3C22-2849-8B58-66D21BEA2CDE}" type="presParOf" srcId="{A3CAB461-3CE5-F34C-9401-92E0C26023CF}" destId="{89066E63-BBB9-D142-8086-CEEA5A7CD8E6}" srcOrd="4" destOrd="0" presId="urn:microsoft.com/office/officeart/2016/7/layout/LinearBlockProcessNumbered"/>
    <dgm:cxn modelId="{0BF97CE8-A476-C940-9984-4BE8CB518205}" type="presParOf" srcId="{89066E63-BBB9-D142-8086-CEEA5A7CD8E6}" destId="{A5AE2EEF-C04C-CC4C-A4F3-68EAAB89A9AD}" srcOrd="0" destOrd="0" presId="urn:microsoft.com/office/officeart/2016/7/layout/LinearBlockProcessNumbered"/>
    <dgm:cxn modelId="{7B0AC25D-BB67-F645-9149-0D845CCBAB25}" type="presParOf" srcId="{89066E63-BBB9-D142-8086-CEEA5A7CD8E6}" destId="{BFE09087-818E-5D47-934B-F501DAFB7FE7}" srcOrd="1" destOrd="0" presId="urn:microsoft.com/office/officeart/2016/7/layout/LinearBlockProcessNumbered"/>
    <dgm:cxn modelId="{5F94EC54-243C-EE48-818F-70CB616C44F5}" type="presParOf" srcId="{89066E63-BBB9-D142-8086-CEEA5A7CD8E6}" destId="{DA026628-4388-F848-8F95-4448CE04BC44}" srcOrd="2" destOrd="0" presId="urn:microsoft.com/office/officeart/2016/7/layout/LinearBlockProcessNumbered"/>
    <dgm:cxn modelId="{605ED36C-33E8-F743-95AD-E36BB8219825}" type="presParOf" srcId="{A3CAB461-3CE5-F34C-9401-92E0C26023CF}" destId="{41715A19-005D-7C4B-9A56-EE942D1FF99C}" srcOrd="5" destOrd="0" presId="urn:microsoft.com/office/officeart/2016/7/layout/LinearBlockProcessNumbered"/>
    <dgm:cxn modelId="{48F7AED5-7D21-1E4F-8DD0-406B3AA69D78}" type="presParOf" srcId="{A3CAB461-3CE5-F34C-9401-92E0C26023CF}" destId="{9C12839D-7596-C94B-8467-939585A96829}" srcOrd="6" destOrd="0" presId="urn:microsoft.com/office/officeart/2016/7/layout/LinearBlockProcessNumbered"/>
    <dgm:cxn modelId="{49BE746F-21A5-5F49-A789-497DB5CEB3C6}" type="presParOf" srcId="{9C12839D-7596-C94B-8467-939585A96829}" destId="{F7DA006E-D9C7-344C-A020-8CE8A065698E}" srcOrd="0" destOrd="0" presId="urn:microsoft.com/office/officeart/2016/7/layout/LinearBlockProcessNumbered"/>
    <dgm:cxn modelId="{33BDB0A2-6221-3648-9E98-9FF4A742C8FD}" type="presParOf" srcId="{9C12839D-7596-C94B-8467-939585A96829}" destId="{FA179B8D-8D45-3C45-A4A4-18C2EF9C7D8C}" srcOrd="1" destOrd="0" presId="urn:microsoft.com/office/officeart/2016/7/layout/LinearBlockProcessNumbered"/>
    <dgm:cxn modelId="{B8FA4AA0-5923-1144-999B-41D1A5262542}" type="presParOf" srcId="{9C12839D-7596-C94B-8467-939585A96829}" destId="{E9D53A79-E671-E24A-930C-100686F48002}" srcOrd="2" destOrd="0" presId="urn:microsoft.com/office/officeart/2016/7/layout/LinearBlockProcessNumbered"/>
    <dgm:cxn modelId="{A32DA7AE-25A9-7C4E-AFA7-75977CE06C9C}" type="presParOf" srcId="{A3CAB461-3CE5-F34C-9401-92E0C26023CF}" destId="{18F56006-B3D4-E849-81DA-F779C3C4CDD4}" srcOrd="7" destOrd="0" presId="urn:microsoft.com/office/officeart/2016/7/layout/LinearBlockProcessNumbered"/>
    <dgm:cxn modelId="{9998E200-E72D-EC44-A8E0-3796EF1A13AD}" type="presParOf" srcId="{A3CAB461-3CE5-F34C-9401-92E0C26023CF}" destId="{15660FEE-F3C4-C44D-91A1-53E21028EEFD}" srcOrd="8" destOrd="0" presId="urn:microsoft.com/office/officeart/2016/7/layout/LinearBlockProcessNumbered"/>
    <dgm:cxn modelId="{A2932E7D-C720-F547-8D66-91532E8D0867}" type="presParOf" srcId="{15660FEE-F3C4-C44D-91A1-53E21028EEFD}" destId="{E15AFDE8-F67C-AB42-A473-9543490E5331}" srcOrd="0" destOrd="0" presId="urn:microsoft.com/office/officeart/2016/7/layout/LinearBlockProcessNumbered"/>
    <dgm:cxn modelId="{828FC725-1A50-724B-AE37-E7D351F22E4E}" type="presParOf" srcId="{15660FEE-F3C4-C44D-91A1-53E21028EEFD}" destId="{A80502B8-8E6B-C24B-BD67-50B316380153}" srcOrd="1" destOrd="0" presId="urn:microsoft.com/office/officeart/2016/7/layout/LinearBlockProcessNumbered"/>
    <dgm:cxn modelId="{8B93689A-04C9-9742-8B05-B596A4EF634E}" type="presParOf" srcId="{15660FEE-F3C4-C44D-91A1-53E21028EEFD}" destId="{829FB16D-7CC4-154C-8EA6-B5567FEA7304}"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22191F-C35D-9043-8629-860206088138}"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US"/>
        </a:p>
      </dgm:t>
    </dgm:pt>
    <dgm:pt modelId="{78438870-FAC8-EC4B-BE7F-F1CA89BB7587}">
      <dgm:prSet phldrT="[Text]"/>
      <dgm:spPr/>
      <dgm:t>
        <a:bodyPr/>
        <a:lstStyle/>
        <a:p>
          <a:r>
            <a:rPr lang="en-US" dirty="0"/>
            <a:t>Research Questions</a:t>
          </a:r>
        </a:p>
      </dgm:t>
    </dgm:pt>
    <dgm:pt modelId="{78F87A89-67C6-F746-A5EE-2BE759BE27CD}" type="parTrans" cxnId="{CB379E32-C2DC-4C49-BB72-C5997EEC5458}">
      <dgm:prSet/>
      <dgm:spPr/>
      <dgm:t>
        <a:bodyPr/>
        <a:lstStyle/>
        <a:p>
          <a:endParaRPr lang="en-US"/>
        </a:p>
      </dgm:t>
    </dgm:pt>
    <dgm:pt modelId="{5C3D05E0-A419-0642-8C18-B7445B08F60F}" type="sibTrans" cxnId="{CB379E32-C2DC-4C49-BB72-C5997EEC5458}">
      <dgm:prSet/>
      <dgm:spPr/>
      <dgm:t>
        <a:bodyPr/>
        <a:lstStyle/>
        <a:p>
          <a:endParaRPr lang="en-US"/>
        </a:p>
      </dgm:t>
    </dgm:pt>
    <dgm:pt modelId="{3F6218B1-D56E-9B4C-AE2F-0A2C87D49E18}">
      <dgm:prSet phldrT="[Text]"/>
      <dgm:spPr/>
      <dgm:t>
        <a:bodyPr/>
        <a:lstStyle/>
        <a:p>
          <a:r>
            <a:rPr lang="en-US" dirty="0"/>
            <a:t>Theory</a:t>
          </a:r>
        </a:p>
      </dgm:t>
    </dgm:pt>
    <dgm:pt modelId="{60C3AC30-306C-1B4F-B291-3BBD331309C3}" type="parTrans" cxnId="{A66868DB-E71D-7246-8081-BDB59C4A4EAA}">
      <dgm:prSet/>
      <dgm:spPr/>
      <dgm:t>
        <a:bodyPr/>
        <a:lstStyle/>
        <a:p>
          <a:endParaRPr lang="en-US"/>
        </a:p>
      </dgm:t>
    </dgm:pt>
    <dgm:pt modelId="{C68E44AD-CCC5-6B44-9B3A-D9ECC401FDD0}" type="sibTrans" cxnId="{A66868DB-E71D-7246-8081-BDB59C4A4EAA}">
      <dgm:prSet/>
      <dgm:spPr/>
      <dgm:t>
        <a:bodyPr/>
        <a:lstStyle/>
        <a:p>
          <a:endParaRPr lang="en-US"/>
        </a:p>
      </dgm:t>
    </dgm:pt>
    <dgm:pt modelId="{8D429DD7-1B0B-964C-B1D4-5017C4DA84AD}">
      <dgm:prSet phldrT="[Text]"/>
      <dgm:spPr/>
      <dgm:t>
        <a:bodyPr/>
        <a:lstStyle/>
        <a:p>
          <a:r>
            <a:rPr lang="en-US" dirty="0"/>
            <a:t>Hypotheses</a:t>
          </a:r>
        </a:p>
      </dgm:t>
    </dgm:pt>
    <dgm:pt modelId="{0A1F2615-53ED-9F45-A582-00E36C2C03F9}" type="parTrans" cxnId="{2284DBE0-BA93-824B-B487-DE7B26EDDE1B}">
      <dgm:prSet/>
      <dgm:spPr/>
      <dgm:t>
        <a:bodyPr/>
        <a:lstStyle/>
        <a:p>
          <a:endParaRPr lang="en-US"/>
        </a:p>
      </dgm:t>
    </dgm:pt>
    <dgm:pt modelId="{CE3B1BC3-7D27-2447-A786-76FCD08AF902}" type="sibTrans" cxnId="{2284DBE0-BA93-824B-B487-DE7B26EDDE1B}">
      <dgm:prSet/>
      <dgm:spPr/>
      <dgm:t>
        <a:bodyPr/>
        <a:lstStyle/>
        <a:p>
          <a:endParaRPr lang="en-US"/>
        </a:p>
      </dgm:t>
    </dgm:pt>
    <dgm:pt modelId="{53156C7C-2271-8B4C-B81E-D5060F7A923C}">
      <dgm:prSet phldrT="[Text]"/>
      <dgm:spPr/>
      <dgm:t>
        <a:bodyPr/>
        <a:lstStyle/>
        <a:p>
          <a:r>
            <a:rPr lang="en-US" dirty="0"/>
            <a:t>Empirical Evaluation</a:t>
          </a:r>
        </a:p>
      </dgm:t>
    </dgm:pt>
    <dgm:pt modelId="{BCA718B9-7685-B945-BEA7-3616AA07B2C5}" type="parTrans" cxnId="{E25D64E7-DEDE-A74F-B8A7-C3EBC47B6715}">
      <dgm:prSet/>
      <dgm:spPr/>
      <dgm:t>
        <a:bodyPr/>
        <a:lstStyle/>
        <a:p>
          <a:endParaRPr lang="en-US"/>
        </a:p>
      </dgm:t>
    </dgm:pt>
    <dgm:pt modelId="{CE8FBF33-27F0-5E46-93AD-14C4DCBD3CE4}" type="sibTrans" cxnId="{E25D64E7-DEDE-A74F-B8A7-C3EBC47B6715}">
      <dgm:prSet/>
      <dgm:spPr/>
      <dgm:t>
        <a:bodyPr/>
        <a:lstStyle/>
        <a:p>
          <a:endParaRPr lang="en-US"/>
        </a:p>
      </dgm:t>
    </dgm:pt>
    <dgm:pt modelId="{543AF39A-87BE-9D4C-B9CE-C107F4057E06}">
      <dgm:prSet phldrT="[Text]"/>
      <dgm:spPr/>
      <dgm:t>
        <a:bodyPr/>
        <a:lstStyle/>
        <a:p>
          <a:r>
            <a:rPr lang="en-US" dirty="0"/>
            <a:t>Limitations</a:t>
          </a:r>
        </a:p>
      </dgm:t>
    </dgm:pt>
    <dgm:pt modelId="{D3BD7B03-059A-6747-9C8D-6B16B6B82B14}" type="parTrans" cxnId="{4623699A-B237-414D-8587-6989165AA71D}">
      <dgm:prSet/>
      <dgm:spPr/>
      <dgm:t>
        <a:bodyPr/>
        <a:lstStyle/>
        <a:p>
          <a:endParaRPr lang="en-US"/>
        </a:p>
      </dgm:t>
    </dgm:pt>
    <dgm:pt modelId="{452F9C5F-DB19-054C-8C41-2B92F5D7D2CE}" type="sibTrans" cxnId="{4623699A-B237-414D-8587-6989165AA71D}">
      <dgm:prSet/>
      <dgm:spPr/>
      <dgm:t>
        <a:bodyPr/>
        <a:lstStyle/>
        <a:p>
          <a:endParaRPr lang="en-US"/>
        </a:p>
      </dgm:t>
    </dgm:pt>
    <dgm:pt modelId="{F3090F8E-B6F0-A748-B4BE-F8DA1B275C6E}" type="pres">
      <dgm:prSet presAssocID="{0B22191F-C35D-9043-8629-860206088138}" presName="cycle" presStyleCnt="0">
        <dgm:presLayoutVars>
          <dgm:dir/>
          <dgm:resizeHandles val="exact"/>
        </dgm:presLayoutVars>
      </dgm:prSet>
      <dgm:spPr/>
    </dgm:pt>
    <dgm:pt modelId="{A78EC810-8558-E549-9A20-78E78F96AA8B}" type="pres">
      <dgm:prSet presAssocID="{78438870-FAC8-EC4B-BE7F-F1CA89BB7587}" presName="node" presStyleLbl="node1" presStyleIdx="0" presStyleCnt="5">
        <dgm:presLayoutVars>
          <dgm:bulletEnabled val="1"/>
        </dgm:presLayoutVars>
      </dgm:prSet>
      <dgm:spPr/>
    </dgm:pt>
    <dgm:pt modelId="{D5DEECCC-5A61-D941-97BF-1CCE11118C93}" type="pres">
      <dgm:prSet presAssocID="{78438870-FAC8-EC4B-BE7F-F1CA89BB7587}" presName="spNode" presStyleCnt="0"/>
      <dgm:spPr/>
    </dgm:pt>
    <dgm:pt modelId="{DE05AE7B-410D-914F-A472-1FA86568D51B}" type="pres">
      <dgm:prSet presAssocID="{5C3D05E0-A419-0642-8C18-B7445B08F60F}" presName="sibTrans" presStyleLbl="sibTrans1D1" presStyleIdx="0" presStyleCnt="5"/>
      <dgm:spPr/>
    </dgm:pt>
    <dgm:pt modelId="{B21EAE3D-FA0C-774C-A443-9DC872CE0F3C}" type="pres">
      <dgm:prSet presAssocID="{3F6218B1-D56E-9B4C-AE2F-0A2C87D49E18}" presName="node" presStyleLbl="node1" presStyleIdx="1" presStyleCnt="5">
        <dgm:presLayoutVars>
          <dgm:bulletEnabled val="1"/>
        </dgm:presLayoutVars>
      </dgm:prSet>
      <dgm:spPr/>
    </dgm:pt>
    <dgm:pt modelId="{9D36BB28-67E1-844A-8E08-4EC52400CF51}" type="pres">
      <dgm:prSet presAssocID="{3F6218B1-D56E-9B4C-AE2F-0A2C87D49E18}" presName="spNode" presStyleCnt="0"/>
      <dgm:spPr/>
    </dgm:pt>
    <dgm:pt modelId="{7D5C350B-36E1-5540-B636-9A13408DE96B}" type="pres">
      <dgm:prSet presAssocID="{C68E44AD-CCC5-6B44-9B3A-D9ECC401FDD0}" presName="sibTrans" presStyleLbl="sibTrans1D1" presStyleIdx="1" presStyleCnt="5"/>
      <dgm:spPr/>
    </dgm:pt>
    <dgm:pt modelId="{C3844F7B-06B8-4649-B4EA-6D202B777573}" type="pres">
      <dgm:prSet presAssocID="{8D429DD7-1B0B-964C-B1D4-5017C4DA84AD}" presName="node" presStyleLbl="node1" presStyleIdx="2" presStyleCnt="5">
        <dgm:presLayoutVars>
          <dgm:bulletEnabled val="1"/>
        </dgm:presLayoutVars>
      </dgm:prSet>
      <dgm:spPr/>
    </dgm:pt>
    <dgm:pt modelId="{0FC42E4A-9035-9B41-9547-4A4E60FC127A}" type="pres">
      <dgm:prSet presAssocID="{8D429DD7-1B0B-964C-B1D4-5017C4DA84AD}" presName="spNode" presStyleCnt="0"/>
      <dgm:spPr/>
    </dgm:pt>
    <dgm:pt modelId="{C8A88D3C-1741-8349-BCFE-FD620B02F2F1}" type="pres">
      <dgm:prSet presAssocID="{CE3B1BC3-7D27-2447-A786-76FCD08AF902}" presName="sibTrans" presStyleLbl="sibTrans1D1" presStyleIdx="2" presStyleCnt="5"/>
      <dgm:spPr/>
    </dgm:pt>
    <dgm:pt modelId="{5B1F52A6-3A14-8C4F-BB65-DCA051EF938F}" type="pres">
      <dgm:prSet presAssocID="{53156C7C-2271-8B4C-B81E-D5060F7A923C}" presName="node" presStyleLbl="node1" presStyleIdx="3" presStyleCnt="5">
        <dgm:presLayoutVars>
          <dgm:bulletEnabled val="1"/>
        </dgm:presLayoutVars>
      </dgm:prSet>
      <dgm:spPr/>
    </dgm:pt>
    <dgm:pt modelId="{E035A087-22F4-5649-AC1E-9B445440E05F}" type="pres">
      <dgm:prSet presAssocID="{53156C7C-2271-8B4C-B81E-D5060F7A923C}" presName="spNode" presStyleCnt="0"/>
      <dgm:spPr/>
    </dgm:pt>
    <dgm:pt modelId="{BC8B7C21-34A7-E94A-863E-8A12B4CA945A}" type="pres">
      <dgm:prSet presAssocID="{CE8FBF33-27F0-5E46-93AD-14C4DCBD3CE4}" presName="sibTrans" presStyleLbl="sibTrans1D1" presStyleIdx="3" presStyleCnt="5"/>
      <dgm:spPr/>
    </dgm:pt>
    <dgm:pt modelId="{7527DBE1-E2D9-EA44-8F8D-8912967F3F26}" type="pres">
      <dgm:prSet presAssocID="{543AF39A-87BE-9D4C-B9CE-C107F4057E06}" presName="node" presStyleLbl="node1" presStyleIdx="4" presStyleCnt="5">
        <dgm:presLayoutVars>
          <dgm:bulletEnabled val="1"/>
        </dgm:presLayoutVars>
      </dgm:prSet>
      <dgm:spPr/>
    </dgm:pt>
    <dgm:pt modelId="{E92293E8-E2AF-A140-ABC1-54FA21553104}" type="pres">
      <dgm:prSet presAssocID="{543AF39A-87BE-9D4C-B9CE-C107F4057E06}" presName="spNode" presStyleCnt="0"/>
      <dgm:spPr/>
    </dgm:pt>
    <dgm:pt modelId="{EFF74043-F81C-3740-9641-A776F0D725BD}" type="pres">
      <dgm:prSet presAssocID="{452F9C5F-DB19-054C-8C41-2B92F5D7D2CE}" presName="sibTrans" presStyleLbl="sibTrans1D1" presStyleIdx="4" presStyleCnt="5"/>
      <dgm:spPr/>
    </dgm:pt>
  </dgm:ptLst>
  <dgm:cxnLst>
    <dgm:cxn modelId="{671FED05-5906-2F4D-A6A4-A1AC341D1D2B}" type="presOf" srcId="{0B22191F-C35D-9043-8629-860206088138}" destId="{F3090F8E-B6F0-A748-B4BE-F8DA1B275C6E}" srcOrd="0" destOrd="0" presId="urn:microsoft.com/office/officeart/2005/8/layout/cycle5"/>
    <dgm:cxn modelId="{1F905717-39D6-464D-BC18-DF47C3BE4801}" type="presOf" srcId="{CE3B1BC3-7D27-2447-A786-76FCD08AF902}" destId="{C8A88D3C-1741-8349-BCFE-FD620B02F2F1}" srcOrd="0" destOrd="0" presId="urn:microsoft.com/office/officeart/2005/8/layout/cycle5"/>
    <dgm:cxn modelId="{CB379E32-C2DC-4C49-BB72-C5997EEC5458}" srcId="{0B22191F-C35D-9043-8629-860206088138}" destId="{78438870-FAC8-EC4B-BE7F-F1CA89BB7587}" srcOrd="0" destOrd="0" parTransId="{78F87A89-67C6-F746-A5EE-2BE759BE27CD}" sibTransId="{5C3D05E0-A419-0642-8C18-B7445B08F60F}"/>
    <dgm:cxn modelId="{9CBD0246-6AE0-584D-A432-ACCA828533E5}" type="presOf" srcId="{CE8FBF33-27F0-5E46-93AD-14C4DCBD3CE4}" destId="{BC8B7C21-34A7-E94A-863E-8A12B4CA945A}" srcOrd="0" destOrd="0" presId="urn:microsoft.com/office/officeart/2005/8/layout/cycle5"/>
    <dgm:cxn modelId="{AA1B4E5B-AFEC-E84B-BD61-58A7C8465999}" type="presOf" srcId="{452F9C5F-DB19-054C-8C41-2B92F5D7D2CE}" destId="{EFF74043-F81C-3740-9641-A776F0D725BD}" srcOrd="0" destOrd="0" presId="urn:microsoft.com/office/officeart/2005/8/layout/cycle5"/>
    <dgm:cxn modelId="{5222F85C-BE8C-BC45-BE67-AB1C5A88C893}" type="presOf" srcId="{53156C7C-2271-8B4C-B81E-D5060F7A923C}" destId="{5B1F52A6-3A14-8C4F-BB65-DCA051EF938F}" srcOrd="0" destOrd="0" presId="urn:microsoft.com/office/officeart/2005/8/layout/cycle5"/>
    <dgm:cxn modelId="{C61D5B69-6E96-6245-9B17-FD5EB93FCDAA}" type="presOf" srcId="{5C3D05E0-A419-0642-8C18-B7445B08F60F}" destId="{DE05AE7B-410D-914F-A472-1FA86568D51B}" srcOrd="0" destOrd="0" presId="urn:microsoft.com/office/officeart/2005/8/layout/cycle5"/>
    <dgm:cxn modelId="{83133073-477C-1345-90A5-5996C9FA85C7}" type="presOf" srcId="{3F6218B1-D56E-9B4C-AE2F-0A2C87D49E18}" destId="{B21EAE3D-FA0C-774C-A443-9DC872CE0F3C}" srcOrd="0" destOrd="0" presId="urn:microsoft.com/office/officeart/2005/8/layout/cycle5"/>
    <dgm:cxn modelId="{4623699A-B237-414D-8587-6989165AA71D}" srcId="{0B22191F-C35D-9043-8629-860206088138}" destId="{543AF39A-87BE-9D4C-B9CE-C107F4057E06}" srcOrd="4" destOrd="0" parTransId="{D3BD7B03-059A-6747-9C8D-6B16B6B82B14}" sibTransId="{452F9C5F-DB19-054C-8C41-2B92F5D7D2CE}"/>
    <dgm:cxn modelId="{A931ECA2-4A32-3448-BADC-31294549F3DA}" type="presOf" srcId="{543AF39A-87BE-9D4C-B9CE-C107F4057E06}" destId="{7527DBE1-E2D9-EA44-8F8D-8912967F3F26}" srcOrd="0" destOrd="0" presId="urn:microsoft.com/office/officeart/2005/8/layout/cycle5"/>
    <dgm:cxn modelId="{A80BECCA-CE9D-1440-A713-D1FE5DA5D026}" type="presOf" srcId="{C68E44AD-CCC5-6B44-9B3A-D9ECC401FDD0}" destId="{7D5C350B-36E1-5540-B636-9A13408DE96B}" srcOrd="0" destOrd="0" presId="urn:microsoft.com/office/officeart/2005/8/layout/cycle5"/>
    <dgm:cxn modelId="{CE3175CB-548A-844E-A93B-60A3D62CDC8E}" type="presOf" srcId="{78438870-FAC8-EC4B-BE7F-F1CA89BB7587}" destId="{A78EC810-8558-E549-9A20-78E78F96AA8B}" srcOrd="0" destOrd="0" presId="urn:microsoft.com/office/officeart/2005/8/layout/cycle5"/>
    <dgm:cxn modelId="{A66868DB-E71D-7246-8081-BDB59C4A4EAA}" srcId="{0B22191F-C35D-9043-8629-860206088138}" destId="{3F6218B1-D56E-9B4C-AE2F-0A2C87D49E18}" srcOrd="1" destOrd="0" parTransId="{60C3AC30-306C-1B4F-B291-3BBD331309C3}" sibTransId="{C68E44AD-CCC5-6B44-9B3A-D9ECC401FDD0}"/>
    <dgm:cxn modelId="{2284DBE0-BA93-824B-B487-DE7B26EDDE1B}" srcId="{0B22191F-C35D-9043-8629-860206088138}" destId="{8D429DD7-1B0B-964C-B1D4-5017C4DA84AD}" srcOrd="2" destOrd="0" parTransId="{0A1F2615-53ED-9F45-A582-00E36C2C03F9}" sibTransId="{CE3B1BC3-7D27-2447-A786-76FCD08AF902}"/>
    <dgm:cxn modelId="{E25D64E7-DEDE-A74F-B8A7-C3EBC47B6715}" srcId="{0B22191F-C35D-9043-8629-860206088138}" destId="{53156C7C-2271-8B4C-B81E-D5060F7A923C}" srcOrd="3" destOrd="0" parTransId="{BCA718B9-7685-B945-BEA7-3616AA07B2C5}" sibTransId="{CE8FBF33-27F0-5E46-93AD-14C4DCBD3CE4}"/>
    <dgm:cxn modelId="{5939CEF7-5530-8246-8CFB-CDB326BA4B4D}" type="presOf" srcId="{8D429DD7-1B0B-964C-B1D4-5017C4DA84AD}" destId="{C3844F7B-06B8-4649-B4EA-6D202B777573}" srcOrd="0" destOrd="0" presId="urn:microsoft.com/office/officeart/2005/8/layout/cycle5"/>
    <dgm:cxn modelId="{6CEE184C-5C43-5643-9B3C-9A4932AEA12E}" type="presParOf" srcId="{F3090F8E-B6F0-A748-B4BE-F8DA1B275C6E}" destId="{A78EC810-8558-E549-9A20-78E78F96AA8B}" srcOrd="0" destOrd="0" presId="urn:microsoft.com/office/officeart/2005/8/layout/cycle5"/>
    <dgm:cxn modelId="{F329BB50-0387-844A-8CF3-591228BE45AD}" type="presParOf" srcId="{F3090F8E-B6F0-A748-B4BE-F8DA1B275C6E}" destId="{D5DEECCC-5A61-D941-97BF-1CCE11118C93}" srcOrd="1" destOrd="0" presId="urn:microsoft.com/office/officeart/2005/8/layout/cycle5"/>
    <dgm:cxn modelId="{818CB9C7-52C9-7E4B-BB3F-7F16AE506AB4}" type="presParOf" srcId="{F3090F8E-B6F0-A748-B4BE-F8DA1B275C6E}" destId="{DE05AE7B-410D-914F-A472-1FA86568D51B}" srcOrd="2" destOrd="0" presId="urn:microsoft.com/office/officeart/2005/8/layout/cycle5"/>
    <dgm:cxn modelId="{5F67543D-7629-E04A-BAF4-7DA29210AB22}" type="presParOf" srcId="{F3090F8E-B6F0-A748-B4BE-F8DA1B275C6E}" destId="{B21EAE3D-FA0C-774C-A443-9DC872CE0F3C}" srcOrd="3" destOrd="0" presId="urn:microsoft.com/office/officeart/2005/8/layout/cycle5"/>
    <dgm:cxn modelId="{B8A166D3-0B6B-1148-B7A5-76E83FBB8963}" type="presParOf" srcId="{F3090F8E-B6F0-A748-B4BE-F8DA1B275C6E}" destId="{9D36BB28-67E1-844A-8E08-4EC52400CF51}" srcOrd="4" destOrd="0" presId="urn:microsoft.com/office/officeart/2005/8/layout/cycle5"/>
    <dgm:cxn modelId="{2662AAA0-8BC6-2B4D-A4E8-5DB01E3921DD}" type="presParOf" srcId="{F3090F8E-B6F0-A748-B4BE-F8DA1B275C6E}" destId="{7D5C350B-36E1-5540-B636-9A13408DE96B}" srcOrd="5" destOrd="0" presId="urn:microsoft.com/office/officeart/2005/8/layout/cycle5"/>
    <dgm:cxn modelId="{2AC44056-87DD-5242-830A-E8664E8059E9}" type="presParOf" srcId="{F3090F8E-B6F0-A748-B4BE-F8DA1B275C6E}" destId="{C3844F7B-06B8-4649-B4EA-6D202B777573}" srcOrd="6" destOrd="0" presId="urn:microsoft.com/office/officeart/2005/8/layout/cycle5"/>
    <dgm:cxn modelId="{4A80F7F1-A13E-2548-834A-7C347587B32F}" type="presParOf" srcId="{F3090F8E-B6F0-A748-B4BE-F8DA1B275C6E}" destId="{0FC42E4A-9035-9B41-9547-4A4E60FC127A}" srcOrd="7" destOrd="0" presId="urn:microsoft.com/office/officeart/2005/8/layout/cycle5"/>
    <dgm:cxn modelId="{E785AE34-155D-734D-BCB9-4544F6A5FBB8}" type="presParOf" srcId="{F3090F8E-B6F0-A748-B4BE-F8DA1B275C6E}" destId="{C8A88D3C-1741-8349-BCFE-FD620B02F2F1}" srcOrd="8" destOrd="0" presId="urn:microsoft.com/office/officeart/2005/8/layout/cycle5"/>
    <dgm:cxn modelId="{33070154-08D8-7548-93D7-F99C181C89C4}" type="presParOf" srcId="{F3090F8E-B6F0-A748-B4BE-F8DA1B275C6E}" destId="{5B1F52A6-3A14-8C4F-BB65-DCA051EF938F}" srcOrd="9" destOrd="0" presId="urn:microsoft.com/office/officeart/2005/8/layout/cycle5"/>
    <dgm:cxn modelId="{6ADCAA7C-82E2-2D48-96D4-6A8893B8180A}" type="presParOf" srcId="{F3090F8E-B6F0-A748-B4BE-F8DA1B275C6E}" destId="{E035A087-22F4-5649-AC1E-9B445440E05F}" srcOrd="10" destOrd="0" presId="urn:microsoft.com/office/officeart/2005/8/layout/cycle5"/>
    <dgm:cxn modelId="{B1EDC6D7-A2F1-FA4C-9CD3-7FC7691111C6}" type="presParOf" srcId="{F3090F8E-B6F0-A748-B4BE-F8DA1B275C6E}" destId="{BC8B7C21-34A7-E94A-863E-8A12B4CA945A}" srcOrd="11" destOrd="0" presId="urn:microsoft.com/office/officeart/2005/8/layout/cycle5"/>
    <dgm:cxn modelId="{8CDD5829-BC78-E74B-BAD3-BE45CC71D99A}" type="presParOf" srcId="{F3090F8E-B6F0-A748-B4BE-F8DA1B275C6E}" destId="{7527DBE1-E2D9-EA44-8F8D-8912967F3F26}" srcOrd="12" destOrd="0" presId="urn:microsoft.com/office/officeart/2005/8/layout/cycle5"/>
    <dgm:cxn modelId="{FFF80D25-D9AA-A142-BE6B-DD40290451F7}" type="presParOf" srcId="{F3090F8E-B6F0-A748-B4BE-F8DA1B275C6E}" destId="{E92293E8-E2AF-A140-ABC1-54FA21553104}" srcOrd="13" destOrd="0" presId="urn:microsoft.com/office/officeart/2005/8/layout/cycle5"/>
    <dgm:cxn modelId="{FECE77E2-E93B-AE4A-838D-C3AEB788FAAC}" type="presParOf" srcId="{F3090F8E-B6F0-A748-B4BE-F8DA1B275C6E}" destId="{EFF74043-F81C-3740-9641-A776F0D725BD}"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E06C2-F64E-644E-8A5B-31BB5E3D0FEA}">
      <dsp:nvSpPr>
        <dsp:cNvPr id="0" name=""/>
        <dsp:cNvSpPr/>
      </dsp:nvSpPr>
      <dsp:spPr>
        <a:xfrm>
          <a:off x="6113" y="650415"/>
          <a:ext cx="1911056" cy="2293268"/>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770" tIns="0" rIns="188770" bIns="330200" numCol="1" spcCol="1270" anchor="t" anchorCtr="0">
          <a:noAutofit/>
        </a:bodyPr>
        <a:lstStyle/>
        <a:p>
          <a:pPr marL="0" lvl="0" indent="0" algn="l" defTabSz="844550">
            <a:lnSpc>
              <a:spcPct val="90000"/>
            </a:lnSpc>
            <a:spcBef>
              <a:spcPct val="0"/>
            </a:spcBef>
            <a:spcAft>
              <a:spcPct val="35000"/>
            </a:spcAft>
            <a:buNone/>
          </a:pPr>
          <a:r>
            <a:rPr lang="en-US" sz="1900" kern="1200"/>
            <a:t>Question (relevant to the field)</a:t>
          </a:r>
        </a:p>
      </dsp:txBody>
      <dsp:txXfrm>
        <a:off x="6113" y="1567723"/>
        <a:ext cx="1911056" cy="1375961"/>
      </dsp:txXfrm>
    </dsp:sp>
    <dsp:sp modelId="{F17EE44E-419A-1845-BD1B-C39ED89E0A12}">
      <dsp:nvSpPr>
        <dsp:cNvPr id="0" name=""/>
        <dsp:cNvSpPr/>
      </dsp:nvSpPr>
      <dsp:spPr>
        <a:xfrm>
          <a:off x="6113" y="650415"/>
          <a:ext cx="1911056" cy="91730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8770" tIns="165100" rIns="188770" bIns="165100" numCol="1" spcCol="1270" anchor="ctr" anchorCtr="0">
          <a:noAutofit/>
        </a:bodyPr>
        <a:lstStyle/>
        <a:p>
          <a:pPr marL="0" lvl="0" indent="0" algn="l" defTabSz="1955800">
            <a:lnSpc>
              <a:spcPct val="90000"/>
            </a:lnSpc>
            <a:spcBef>
              <a:spcPct val="0"/>
            </a:spcBef>
            <a:spcAft>
              <a:spcPct val="35000"/>
            </a:spcAft>
            <a:buNone/>
          </a:pPr>
          <a:r>
            <a:rPr lang="en-US" sz="4400" kern="1200"/>
            <a:t>01</a:t>
          </a:r>
        </a:p>
      </dsp:txBody>
      <dsp:txXfrm>
        <a:off x="6113" y="650415"/>
        <a:ext cx="1911056" cy="917307"/>
      </dsp:txXfrm>
    </dsp:sp>
    <dsp:sp modelId="{F988005B-21E8-8B44-ABA3-28059E77D623}">
      <dsp:nvSpPr>
        <dsp:cNvPr id="0" name=""/>
        <dsp:cNvSpPr/>
      </dsp:nvSpPr>
      <dsp:spPr>
        <a:xfrm>
          <a:off x="2070054" y="650415"/>
          <a:ext cx="1911056" cy="2293268"/>
        </a:xfrm>
        <a:prstGeom prst="rect">
          <a:avLst/>
        </a:prstGeom>
        <a:solidFill>
          <a:schemeClr val="accent3">
            <a:hueOff val="0"/>
            <a:satOff val="0"/>
            <a:lumOff val="0"/>
            <a:alphaOff val="0"/>
          </a:schemeClr>
        </a:solidFill>
        <a:ln w="12700"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770" tIns="0" rIns="188770" bIns="330200" numCol="1" spcCol="1270" anchor="t" anchorCtr="0">
          <a:noAutofit/>
        </a:bodyPr>
        <a:lstStyle/>
        <a:p>
          <a:pPr marL="0" lvl="0" indent="0" algn="l" defTabSz="844550">
            <a:lnSpc>
              <a:spcPct val="90000"/>
            </a:lnSpc>
            <a:spcBef>
              <a:spcPct val="0"/>
            </a:spcBef>
            <a:spcAft>
              <a:spcPct val="35000"/>
            </a:spcAft>
            <a:buNone/>
          </a:pPr>
          <a:r>
            <a:rPr lang="en-US" sz="1900" kern="1200"/>
            <a:t>Theory or Model (explaining the theory)</a:t>
          </a:r>
        </a:p>
      </dsp:txBody>
      <dsp:txXfrm>
        <a:off x="2070054" y="1567723"/>
        <a:ext cx="1911056" cy="1375961"/>
      </dsp:txXfrm>
    </dsp:sp>
    <dsp:sp modelId="{00FC8E89-172E-CE4C-80FC-C222E408192D}">
      <dsp:nvSpPr>
        <dsp:cNvPr id="0" name=""/>
        <dsp:cNvSpPr/>
      </dsp:nvSpPr>
      <dsp:spPr>
        <a:xfrm>
          <a:off x="2070054" y="650415"/>
          <a:ext cx="1911056" cy="91730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8770" tIns="165100" rIns="188770" bIns="165100" numCol="1" spcCol="1270" anchor="ctr" anchorCtr="0">
          <a:noAutofit/>
        </a:bodyPr>
        <a:lstStyle/>
        <a:p>
          <a:pPr marL="0" lvl="0" indent="0" algn="l" defTabSz="1955800">
            <a:lnSpc>
              <a:spcPct val="90000"/>
            </a:lnSpc>
            <a:spcBef>
              <a:spcPct val="0"/>
            </a:spcBef>
            <a:spcAft>
              <a:spcPct val="35000"/>
            </a:spcAft>
            <a:buNone/>
          </a:pPr>
          <a:r>
            <a:rPr lang="en-US" sz="4400" kern="1200"/>
            <a:t>02</a:t>
          </a:r>
        </a:p>
      </dsp:txBody>
      <dsp:txXfrm>
        <a:off x="2070054" y="650415"/>
        <a:ext cx="1911056" cy="917307"/>
      </dsp:txXfrm>
    </dsp:sp>
    <dsp:sp modelId="{A5AE2EEF-C04C-CC4C-A4F3-68EAAB89A9AD}">
      <dsp:nvSpPr>
        <dsp:cNvPr id="0" name=""/>
        <dsp:cNvSpPr/>
      </dsp:nvSpPr>
      <dsp:spPr>
        <a:xfrm>
          <a:off x="4133996" y="650415"/>
          <a:ext cx="1911056" cy="2293268"/>
        </a:xfrm>
        <a:prstGeom prst="rect">
          <a:avLst/>
        </a:prstGeom>
        <a:solidFill>
          <a:schemeClr val="accent4">
            <a:hueOff val="0"/>
            <a:satOff val="0"/>
            <a:lumOff val="0"/>
            <a:alphaOff val="0"/>
          </a:schemeClr>
        </a:solidFill>
        <a:ln w="12700"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770" tIns="0" rIns="188770" bIns="330200" numCol="1" spcCol="1270" anchor="t" anchorCtr="0">
          <a:noAutofit/>
        </a:bodyPr>
        <a:lstStyle/>
        <a:p>
          <a:pPr marL="0" lvl="0" indent="0" algn="l" defTabSz="844550">
            <a:lnSpc>
              <a:spcPct val="90000"/>
            </a:lnSpc>
            <a:spcBef>
              <a:spcPct val="0"/>
            </a:spcBef>
            <a:spcAft>
              <a:spcPct val="35000"/>
            </a:spcAft>
            <a:buNone/>
          </a:pPr>
          <a:r>
            <a:rPr lang="en-US" sz="1900" kern="1200"/>
            <a:t>Observable Implications (Hypotheses)</a:t>
          </a:r>
        </a:p>
      </dsp:txBody>
      <dsp:txXfrm>
        <a:off x="4133996" y="1567723"/>
        <a:ext cx="1911056" cy="1375961"/>
      </dsp:txXfrm>
    </dsp:sp>
    <dsp:sp modelId="{BFE09087-818E-5D47-934B-F501DAFB7FE7}">
      <dsp:nvSpPr>
        <dsp:cNvPr id="0" name=""/>
        <dsp:cNvSpPr/>
      </dsp:nvSpPr>
      <dsp:spPr>
        <a:xfrm>
          <a:off x="4133996" y="650415"/>
          <a:ext cx="1911056" cy="91730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8770" tIns="165100" rIns="188770" bIns="165100" numCol="1" spcCol="1270" anchor="ctr" anchorCtr="0">
          <a:noAutofit/>
        </a:bodyPr>
        <a:lstStyle/>
        <a:p>
          <a:pPr marL="0" lvl="0" indent="0" algn="l" defTabSz="1955800">
            <a:lnSpc>
              <a:spcPct val="90000"/>
            </a:lnSpc>
            <a:spcBef>
              <a:spcPct val="0"/>
            </a:spcBef>
            <a:spcAft>
              <a:spcPct val="35000"/>
            </a:spcAft>
            <a:buNone/>
          </a:pPr>
          <a:r>
            <a:rPr lang="en-US" sz="4400" kern="1200"/>
            <a:t>03</a:t>
          </a:r>
        </a:p>
      </dsp:txBody>
      <dsp:txXfrm>
        <a:off x="4133996" y="650415"/>
        <a:ext cx="1911056" cy="917307"/>
      </dsp:txXfrm>
    </dsp:sp>
    <dsp:sp modelId="{F7DA006E-D9C7-344C-A020-8CE8A065698E}">
      <dsp:nvSpPr>
        <dsp:cNvPr id="0" name=""/>
        <dsp:cNvSpPr/>
      </dsp:nvSpPr>
      <dsp:spPr>
        <a:xfrm>
          <a:off x="6197938" y="650415"/>
          <a:ext cx="1911056" cy="2293268"/>
        </a:xfrm>
        <a:prstGeom prst="rect">
          <a:avLst/>
        </a:prstGeom>
        <a:solidFill>
          <a:schemeClr val="accent5">
            <a:hueOff val="0"/>
            <a:satOff val="0"/>
            <a:lumOff val="0"/>
            <a:alphaOff val="0"/>
          </a:schemeClr>
        </a:solidFill>
        <a:ln w="12700"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770" tIns="0" rIns="188770" bIns="330200" numCol="1" spcCol="1270" anchor="t" anchorCtr="0">
          <a:noAutofit/>
        </a:bodyPr>
        <a:lstStyle/>
        <a:p>
          <a:pPr marL="0" lvl="0" indent="0" algn="l" defTabSz="844550">
            <a:lnSpc>
              <a:spcPct val="90000"/>
            </a:lnSpc>
            <a:spcBef>
              <a:spcPct val="0"/>
            </a:spcBef>
            <a:spcAft>
              <a:spcPct val="35000"/>
            </a:spcAft>
            <a:buNone/>
          </a:pPr>
          <a:r>
            <a:rPr lang="en-US" sz="1900" kern="1200"/>
            <a:t>Observe the World (Reject the Null)</a:t>
          </a:r>
        </a:p>
      </dsp:txBody>
      <dsp:txXfrm>
        <a:off x="6197938" y="1567723"/>
        <a:ext cx="1911056" cy="1375961"/>
      </dsp:txXfrm>
    </dsp:sp>
    <dsp:sp modelId="{FA179B8D-8D45-3C45-A4A4-18C2EF9C7D8C}">
      <dsp:nvSpPr>
        <dsp:cNvPr id="0" name=""/>
        <dsp:cNvSpPr/>
      </dsp:nvSpPr>
      <dsp:spPr>
        <a:xfrm>
          <a:off x="6197938" y="650415"/>
          <a:ext cx="1911056" cy="91730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8770" tIns="165100" rIns="188770" bIns="165100" numCol="1" spcCol="1270" anchor="ctr" anchorCtr="0">
          <a:noAutofit/>
        </a:bodyPr>
        <a:lstStyle/>
        <a:p>
          <a:pPr marL="0" lvl="0" indent="0" algn="l" defTabSz="1955800">
            <a:lnSpc>
              <a:spcPct val="90000"/>
            </a:lnSpc>
            <a:spcBef>
              <a:spcPct val="0"/>
            </a:spcBef>
            <a:spcAft>
              <a:spcPct val="35000"/>
            </a:spcAft>
            <a:buNone/>
          </a:pPr>
          <a:r>
            <a:rPr lang="en-US" sz="4400" kern="1200"/>
            <a:t>04</a:t>
          </a:r>
        </a:p>
      </dsp:txBody>
      <dsp:txXfrm>
        <a:off x="6197938" y="650415"/>
        <a:ext cx="1911056" cy="917307"/>
      </dsp:txXfrm>
    </dsp:sp>
    <dsp:sp modelId="{E15AFDE8-F67C-AB42-A473-9543490E5331}">
      <dsp:nvSpPr>
        <dsp:cNvPr id="0" name=""/>
        <dsp:cNvSpPr/>
      </dsp:nvSpPr>
      <dsp:spPr>
        <a:xfrm>
          <a:off x="8261879" y="650415"/>
          <a:ext cx="1911056" cy="2293268"/>
        </a:xfrm>
        <a:prstGeom prst="rect">
          <a:avLst/>
        </a:prstGeom>
        <a:solidFill>
          <a:schemeClr val="accent6">
            <a:hueOff val="0"/>
            <a:satOff val="0"/>
            <a:lumOff val="0"/>
            <a:alphaOff val="0"/>
          </a:schemeClr>
        </a:solidFill>
        <a:ln w="12700"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8770" tIns="0" rIns="188770" bIns="330200" numCol="1" spcCol="1270" anchor="t" anchorCtr="0">
          <a:noAutofit/>
        </a:bodyPr>
        <a:lstStyle/>
        <a:p>
          <a:pPr marL="0" lvl="0" indent="0" algn="l" defTabSz="844550">
            <a:lnSpc>
              <a:spcPct val="90000"/>
            </a:lnSpc>
            <a:spcBef>
              <a:spcPct val="0"/>
            </a:spcBef>
            <a:spcAft>
              <a:spcPct val="35000"/>
            </a:spcAft>
            <a:buNone/>
          </a:pPr>
          <a:r>
            <a:rPr lang="en-US" sz="1900" kern="1200"/>
            <a:t>Evaluate</a:t>
          </a:r>
        </a:p>
      </dsp:txBody>
      <dsp:txXfrm>
        <a:off x="8261879" y="1567723"/>
        <a:ext cx="1911056" cy="1375961"/>
      </dsp:txXfrm>
    </dsp:sp>
    <dsp:sp modelId="{A80502B8-8E6B-C24B-BD67-50B316380153}">
      <dsp:nvSpPr>
        <dsp:cNvPr id="0" name=""/>
        <dsp:cNvSpPr/>
      </dsp:nvSpPr>
      <dsp:spPr>
        <a:xfrm>
          <a:off x="8261879" y="650415"/>
          <a:ext cx="1911056" cy="91730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8770" tIns="165100" rIns="188770" bIns="165100" numCol="1" spcCol="1270" anchor="ctr" anchorCtr="0">
          <a:noAutofit/>
        </a:bodyPr>
        <a:lstStyle/>
        <a:p>
          <a:pPr marL="0" lvl="0" indent="0" algn="l" defTabSz="1955800">
            <a:lnSpc>
              <a:spcPct val="90000"/>
            </a:lnSpc>
            <a:spcBef>
              <a:spcPct val="0"/>
            </a:spcBef>
            <a:spcAft>
              <a:spcPct val="35000"/>
            </a:spcAft>
            <a:buNone/>
          </a:pPr>
          <a:r>
            <a:rPr lang="en-US" sz="4400" kern="1200"/>
            <a:t>05</a:t>
          </a:r>
        </a:p>
      </dsp:txBody>
      <dsp:txXfrm>
        <a:off x="8261879" y="650415"/>
        <a:ext cx="1911056" cy="9173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8EC810-8558-E549-9A20-78E78F96AA8B}">
      <dsp:nvSpPr>
        <dsp:cNvPr id="0" name=""/>
        <dsp:cNvSpPr/>
      </dsp:nvSpPr>
      <dsp:spPr>
        <a:xfrm>
          <a:off x="4499309" y="2762"/>
          <a:ext cx="1180431" cy="767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Research Questions</a:t>
          </a:r>
        </a:p>
      </dsp:txBody>
      <dsp:txXfrm>
        <a:off x="4536765" y="40218"/>
        <a:ext cx="1105519" cy="692368"/>
      </dsp:txXfrm>
    </dsp:sp>
    <dsp:sp modelId="{DE05AE7B-410D-914F-A472-1FA86568D51B}">
      <dsp:nvSpPr>
        <dsp:cNvPr id="0" name=""/>
        <dsp:cNvSpPr/>
      </dsp:nvSpPr>
      <dsp:spPr>
        <a:xfrm>
          <a:off x="3557883" y="386402"/>
          <a:ext cx="3063282" cy="3063282"/>
        </a:xfrm>
        <a:custGeom>
          <a:avLst/>
          <a:gdLst/>
          <a:ahLst/>
          <a:cxnLst/>
          <a:rect l="0" t="0" r="0" b="0"/>
          <a:pathLst>
            <a:path>
              <a:moveTo>
                <a:pt x="2279676" y="195090"/>
              </a:moveTo>
              <a:arcTo wR="1531641" hR="1531641" stAng="17954082" swAng="1210513"/>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21EAE3D-FA0C-774C-A443-9DC872CE0F3C}">
      <dsp:nvSpPr>
        <dsp:cNvPr id="0" name=""/>
        <dsp:cNvSpPr/>
      </dsp:nvSpPr>
      <dsp:spPr>
        <a:xfrm>
          <a:off x="5955986" y="1061100"/>
          <a:ext cx="1180431" cy="767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Theory</a:t>
          </a:r>
        </a:p>
      </dsp:txBody>
      <dsp:txXfrm>
        <a:off x="5993442" y="1098556"/>
        <a:ext cx="1105519" cy="692368"/>
      </dsp:txXfrm>
    </dsp:sp>
    <dsp:sp modelId="{7D5C350B-36E1-5540-B636-9A13408DE96B}">
      <dsp:nvSpPr>
        <dsp:cNvPr id="0" name=""/>
        <dsp:cNvSpPr/>
      </dsp:nvSpPr>
      <dsp:spPr>
        <a:xfrm>
          <a:off x="3557883" y="386402"/>
          <a:ext cx="3063282" cy="3063282"/>
        </a:xfrm>
        <a:custGeom>
          <a:avLst/>
          <a:gdLst/>
          <a:ahLst/>
          <a:cxnLst/>
          <a:rect l="0" t="0" r="0" b="0"/>
          <a:pathLst>
            <a:path>
              <a:moveTo>
                <a:pt x="3059598" y="1637816"/>
              </a:moveTo>
              <a:arcTo wR="1531641" hR="1531641" stAng="21838500" swAng="1358933"/>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3844F7B-06B8-4649-B4EA-6D202B777573}">
      <dsp:nvSpPr>
        <dsp:cNvPr id="0" name=""/>
        <dsp:cNvSpPr/>
      </dsp:nvSpPr>
      <dsp:spPr>
        <a:xfrm>
          <a:off x="5399585" y="2773527"/>
          <a:ext cx="1180431" cy="767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Hypotheses</a:t>
          </a:r>
        </a:p>
      </dsp:txBody>
      <dsp:txXfrm>
        <a:off x="5437041" y="2810983"/>
        <a:ext cx="1105519" cy="692368"/>
      </dsp:txXfrm>
    </dsp:sp>
    <dsp:sp modelId="{C8A88D3C-1741-8349-BCFE-FD620B02F2F1}">
      <dsp:nvSpPr>
        <dsp:cNvPr id="0" name=""/>
        <dsp:cNvSpPr/>
      </dsp:nvSpPr>
      <dsp:spPr>
        <a:xfrm>
          <a:off x="3557883" y="386402"/>
          <a:ext cx="3063282" cy="3063282"/>
        </a:xfrm>
        <a:custGeom>
          <a:avLst/>
          <a:gdLst/>
          <a:ahLst/>
          <a:cxnLst/>
          <a:rect l="0" t="0" r="0" b="0"/>
          <a:pathLst>
            <a:path>
              <a:moveTo>
                <a:pt x="1719362" y="3051735"/>
              </a:moveTo>
              <a:arcTo wR="1531641" hR="1531641" stAng="4977601" swAng="844797"/>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5B1F52A6-3A14-8C4F-BB65-DCA051EF938F}">
      <dsp:nvSpPr>
        <dsp:cNvPr id="0" name=""/>
        <dsp:cNvSpPr/>
      </dsp:nvSpPr>
      <dsp:spPr>
        <a:xfrm>
          <a:off x="3599032" y="2773527"/>
          <a:ext cx="1180431" cy="767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Empirical Evaluation</a:t>
          </a:r>
        </a:p>
      </dsp:txBody>
      <dsp:txXfrm>
        <a:off x="3636488" y="2810983"/>
        <a:ext cx="1105519" cy="692368"/>
      </dsp:txXfrm>
    </dsp:sp>
    <dsp:sp modelId="{BC8B7C21-34A7-E94A-863E-8A12B4CA945A}">
      <dsp:nvSpPr>
        <dsp:cNvPr id="0" name=""/>
        <dsp:cNvSpPr/>
      </dsp:nvSpPr>
      <dsp:spPr>
        <a:xfrm>
          <a:off x="3557883" y="386402"/>
          <a:ext cx="3063282" cy="3063282"/>
        </a:xfrm>
        <a:custGeom>
          <a:avLst/>
          <a:gdLst/>
          <a:ahLst/>
          <a:cxnLst/>
          <a:rect l="0" t="0" r="0" b="0"/>
          <a:pathLst>
            <a:path>
              <a:moveTo>
                <a:pt x="162403" y="2218018"/>
              </a:moveTo>
              <a:arcTo wR="1531641" hR="1531641" stAng="9202567" swAng="1358933"/>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527DBE1-E2D9-EA44-8F8D-8912967F3F26}">
      <dsp:nvSpPr>
        <dsp:cNvPr id="0" name=""/>
        <dsp:cNvSpPr/>
      </dsp:nvSpPr>
      <dsp:spPr>
        <a:xfrm>
          <a:off x="3042631" y="1061100"/>
          <a:ext cx="1180431" cy="76728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Limitations</a:t>
          </a:r>
        </a:p>
      </dsp:txBody>
      <dsp:txXfrm>
        <a:off x="3080087" y="1098556"/>
        <a:ext cx="1105519" cy="692368"/>
      </dsp:txXfrm>
    </dsp:sp>
    <dsp:sp modelId="{EFF74043-F81C-3740-9641-A776F0D725BD}">
      <dsp:nvSpPr>
        <dsp:cNvPr id="0" name=""/>
        <dsp:cNvSpPr/>
      </dsp:nvSpPr>
      <dsp:spPr>
        <a:xfrm>
          <a:off x="3557883" y="386402"/>
          <a:ext cx="3063282" cy="3063282"/>
        </a:xfrm>
        <a:custGeom>
          <a:avLst/>
          <a:gdLst/>
          <a:ahLst/>
          <a:cxnLst/>
          <a:rect l="0" t="0" r="0" b="0"/>
          <a:pathLst>
            <a:path>
              <a:moveTo>
                <a:pt x="368537" y="535089"/>
              </a:moveTo>
              <a:arcTo wR="1531641" hR="1531641" stAng="13235406" swAng="1210513"/>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0331530-EE43-0F41-A018-2ADC4AD8D09C}" type="datetimeFigureOut">
              <a:rPr lang="en-US" smtClean="0"/>
              <a:t>1/5/26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7982DF1-7771-7249-AC6D-0B7C217E15F0}"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68658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331530-EE43-0F41-A018-2ADC4AD8D09C}"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210440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E0331530-EE43-0F41-A018-2ADC4AD8D09C}" type="datetimeFigureOut">
              <a:rPr lang="en-US" smtClean="0"/>
              <a:t>1/5/26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7982DF1-7771-7249-AC6D-0B7C217E15F0}"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2393250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331530-EE43-0F41-A018-2ADC4AD8D09C}" type="datetimeFigureOut">
              <a:rPr lang="en-US" smtClean="0"/>
              <a:t>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57971890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331530-EE43-0F41-A018-2ADC4AD8D09C}" type="datetimeFigureOut">
              <a:rPr lang="en-US" smtClean="0"/>
              <a:t>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14463682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331530-EE43-0F41-A018-2ADC4AD8D09C}" type="datetimeFigureOut">
              <a:rPr lang="en-US" smtClean="0"/>
              <a:t>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995326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331530-EE43-0F41-A018-2ADC4AD8D09C}" type="datetimeFigureOut">
              <a:rPr lang="en-US" smtClean="0"/>
              <a:t>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93484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E0331530-EE43-0F41-A018-2ADC4AD8D09C}" type="datetimeFigureOut">
              <a:rPr lang="en-US" smtClean="0"/>
              <a:t>1/5/26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77982DF1-7771-7249-AC6D-0B7C217E15F0}"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558331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E0331530-EE43-0F41-A018-2ADC4AD8D09C}" type="datetimeFigureOut">
              <a:rPr lang="en-US" smtClean="0"/>
              <a:t>1/5/26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1004489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331530-EE43-0F41-A018-2ADC4AD8D09C}"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740337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331530-EE43-0F41-A018-2ADC4AD8D09C}" type="datetimeFigureOut">
              <a:rPr lang="en-US" smtClean="0"/>
              <a:t>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982DF1-7771-7249-AC6D-0B7C217E15F0}" type="slidenum">
              <a:rPr lang="en-US" smtClean="0"/>
              <a:t>‹#›</a:t>
            </a:fld>
            <a:endParaRPr lang="en-US"/>
          </a:p>
        </p:txBody>
      </p:sp>
    </p:spTree>
    <p:extLst>
      <p:ext uri="{BB962C8B-B14F-4D97-AF65-F5344CB8AC3E}">
        <p14:creationId xmlns:p14="http://schemas.microsoft.com/office/powerpoint/2010/main" val="3989647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0331530-EE43-0F41-A018-2ADC4AD8D09C}" type="datetimeFigureOut">
              <a:rPr lang="en-US" smtClean="0"/>
              <a:t>1/5/26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7982DF1-7771-7249-AC6D-0B7C217E15F0}"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45735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iZxCjkLS6Mw"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95F47-27DD-FA35-3748-0115ABF34F1D}"/>
              </a:ext>
            </a:extLst>
          </p:cNvPr>
          <p:cNvSpPr>
            <a:spLocks noGrp="1"/>
          </p:cNvSpPr>
          <p:nvPr>
            <p:ph type="ctrTitle"/>
          </p:nvPr>
        </p:nvSpPr>
        <p:spPr/>
        <p:txBody>
          <a:bodyPr/>
          <a:lstStyle/>
          <a:p>
            <a:r>
              <a:rPr lang="en-US" dirty="0"/>
              <a:t>What is Causal Inference?</a:t>
            </a:r>
          </a:p>
        </p:txBody>
      </p:sp>
      <p:sp>
        <p:nvSpPr>
          <p:cNvPr id="3" name="Subtitle 2">
            <a:extLst>
              <a:ext uri="{FF2B5EF4-FFF2-40B4-BE49-F238E27FC236}">
                <a16:creationId xmlns:a16="http://schemas.microsoft.com/office/drawing/2014/main" id="{23F3BAA9-F36B-5A6A-9C24-E8ACD1276FFD}"/>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158940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CADE-D783-09F1-4BD6-FDFCE81134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8B64D0-856F-661B-3BD0-02CF2C8190A2}"/>
              </a:ext>
            </a:extLst>
          </p:cNvPr>
          <p:cNvSpPr>
            <a:spLocks noGrp="1"/>
          </p:cNvSpPr>
          <p:nvPr>
            <p:ph idx="1"/>
          </p:nvPr>
        </p:nvSpPr>
        <p:spPr/>
        <p:txBody>
          <a:bodyPr/>
          <a:lstStyle/>
          <a:p>
            <a:r>
              <a:rPr lang="en-US" dirty="0"/>
              <a:t>This class is Regressions and Causal Inference. </a:t>
            </a:r>
          </a:p>
        </p:txBody>
      </p:sp>
    </p:spTree>
    <p:extLst>
      <p:ext uri="{BB962C8B-B14F-4D97-AF65-F5344CB8AC3E}">
        <p14:creationId xmlns:p14="http://schemas.microsoft.com/office/powerpoint/2010/main" val="1038115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CADE-D783-09F1-4BD6-FDFCE81134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8B64D0-856F-661B-3BD0-02CF2C8190A2}"/>
              </a:ext>
            </a:extLst>
          </p:cNvPr>
          <p:cNvSpPr>
            <a:spLocks noGrp="1"/>
          </p:cNvSpPr>
          <p:nvPr>
            <p:ph idx="1"/>
          </p:nvPr>
        </p:nvSpPr>
        <p:spPr/>
        <p:txBody>
          <a:bodyPr/>
          <a:lstStyle/>
          <a:p>
            <a:r>
              <a:rPr lang="en-US" dirty="0"/>
              <a:t>This class is Regressions and </a:t>
            </a:r>
            <a:r>
              <a:rPr lang="en-US" dirty="0">
                <a:highlight>
                  <a:srgbClr val="FFFF00"/>
                </a:highlight>
              </a:rPr>
              <a:t>Causal Inference. </a:t>
            </a:r>
            <a:r>
              <a:rPr lang="en-US" dirty="0"/>
              <a:t> </a:t>
            </a:r>
          </a:p>
        </p:txBody>
      </p:sp>
    </p:spTree>
    <p:extLst>
      <p:ext uri="{BB962C8B-B14F-4D97-AF65-F5344CB8AC3E}">
        <p14:creationId xmlns:p14="http://schemas.microsoft.com/office/powerpoint/2010/main" val="97825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456A7-1222-E79E-1B99-AB0218A571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61AC9D-06CC-326F-F2A6-4065933A9C0C}"/>
              </a:ext>
            </a:extLst>
          </p:cNvPr>
          <p:cNvSpPr>
            <a:spLocks noGrp="1"/>
          </p:cNvSpPr>
          <p:nvPr>
            <p:ph idx="1"/>
          </p:nvPr>
        </p:nvSpPr>
        <p:spPr/>
        <p:txBody>
          <a:bodyPr/>
          <a:lstStyle/>
          <a:p>
            <a:r>
              <a:rPr lang="en-US" dirty="0"/>
              <a:t>Let’s take a step back…</a:t>
            </a:r>
          </a:p>
        </p:txBody>
      </p:sp>
    </p:spTree>
    <p:extLst>
      <p:ext uri="{BB962C8B-B14F-4D97-AF65-F5344CB8AC3E}">
        <p14:creationId xmlns:p14="http://schemas.microsoft.com/office/powerpoint/2010/main" val="841958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C729-40C3-FE5C-AA4E-E8DCD0208BEE}"/>
              </a:ext>
            </a:extLst>
          </p:cNvPr>
          <p:cNvSpPr>
            <a:spLocks noGrp="1"/>
          </p:cNvSpPr>
          <p:nvPr>
            <p:ph type="title"/>
          </p:nvPr>
        </p:nvSpPr>
        <p:spPr/>
        <p:txBody>
          <a:bodyPr/>
          <a:lstStyle/>
          <a:p>
            <a:r>
              <a:rPr lang="en-US" dirty="0"/>
              <a:t>The Scientific Method</a:t>
            </a:r>
          </a:p>
        </p:txBody>
      </p:sp>
      <p:sp>
        <p:nvSpPr>
          <p:cNvPr id="3" name="Text Placeholder 2">
            <a:extLst>
              <a:ext uri="{FF2B5EF4-FFF2-40B4-BE49-F238E27FC236}">
                <a16:creationId xmlns:a16="http://schemas.microsoft.com/office/drawing/2014/main" id="{CE59366E-FC9F-1824-9C5D-4E66E7F6A0E4}"/>
              </a:ext>
            </a:extLst>
          </p:cNvPr>
          <p:cNvSpPr>
            <a:spLocks noGrp="1"/>
          </p:cNvSpPr>
          <p:nvPr>
            <p:ph type="body" idx="1"/>
          </p:nvPr>
        </p:nvSpPr>
        <p:spPr/>
        <p:txBody>
          <a:bodyPr/>
          <a:lstStyle/>
          <a:p>
            <a:r>
              <a:rPr lang="en-CA" b="1" dirty="0"/>
              <a:t>Mr. Morton</a:t>
            </a:r>
            <a:r>
              <a:rPr lang="en-CA" dirty="0"/>
              <a:t>: It's not fun, it's science.</a:t>
            </a:r>
            <a:endParaRPr lang="en-US" dirty="0"/>
          </a:p>
        </p:txBody>
      </p:sp>
    </p:spTree>
    <p:extLst>
      <p:ext uri="{BB962C8B-B14F-4D97-AF65-F5344CB8AC3E}">
        <p14:creationId xmlns:p14="http://schemas.microsoft.com/office/powerpoint/2010/main" val="248692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3AF519-7772-0370-0251-1DEE001CF37D}"/>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758D5E39-CB13-1F20-48C8-795DAAF0B389}"/>
              </a:ext>
            </a:extLst>
          </p:cNvPr>
          <p:cNvSpPr>
            <a:spLocks noGrp="1"/>
          </p:cNvSpPr>
          <p:nvPr>
            <p:ph idx="1"/>
          </p:nvPr>
        </p:nvSpPr>
        <p:spPr/>
        <p:txBody>
          <a:bodyPr/>
          <a:lstStyle/>
          <a:p>
            <a:r>
              <a:rPr lang="en-US" dirty="0"/>
              <a:t>What is the scientific method?</a:t>
            </a:r>
          </a:p>
          <a:p>
            <a:endParaRPr lang="en-US" dirty="0"/>
          </a:p>
          <a:p>
            <a:r>
              <a:rPr lang="en-US" dirty="0"/>
              <a:t>Methods in the sciences systematically studying a specific field. </a:t>
            </a:r>
          </a:p>
        </p:txBody>
      </p:sp>
    </p:spTree>
    <p:extLst>
      <p:ext uri="{BB962C8B-B14F-4D97-AF65-F5344CB8AC3E}">
        <p14:creationId xmlns:p14="http://schemas.microsoft.com/office/powerpoint/2010/main" val="304005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3AF519-7772-0370-0251-1DEE001CF37D}"/>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758D5E39-CB13-1F20-48C8-795DAAF0B389}"/>
              </a:ext>
            </a:extLst>
          </p:cNvPr>
          <p:cNvSpPr>
            <a:spLocks noGrp="1"/>
          </p:cNvSpPr>
          <p:nvPr>
            <p:ph idx="1"/>
          </p:nvPr>
        </p:nvSpPr>
        <p:spPr/>
        <p:txBody>
          <a:bodyPr/>
          <a:lstStyle/>
          <a:p>
            <a:r>
              <a:rPr lang="en-US" dirty="0"/>
              <a:t>What is the scientific method?</a:t>
            </a:r>
          </a:p>
          <a:p>
            <a:endParaRPr lang="en-US" dirty="0"/>
          </a:p>
          <a:p>
            <a:r>
              <a:rPr lang="en-US" dirty="0"/>
              <a:t>Methods in the (social) sciences </a:t>
            </a:r>
            <a:r>
              <a:rPr lang="en-US" dirty="0">
                <a:solidFill>
                  <a:schemeClr val="accent2"/>
                </a:solidFill>
              </a:rPr>
              <a:t>systematically studying</a:t>
            </a:r>
            <a:r>
              <a:rPr lang="en-US" dirty="0"/>
              <a:t> (scientifically) a specific field (e.g., politics).</a:t>
            </a:r>
          </a:p>
          <a:p>
            <a:r>
              <a:rPr lang="en-US" dirty="0"/>
              <a:t> The </a:t>
            </a:r>
            <a:r>
              <a:rPr lang="en-US" i="1" dirty="0"/>
              <a:t>systematically </a:t>
            </a:r>
            <a:r>
              <a:rPr lang="en-US" dirty="0"/>
              <a:t>is where we find the </a:t>
            </a:r>
            <a:r>
              <a:rPr lang="en-US" dirty="0">
                <a:solidFill>
                  <a:schemeClr val="accent2"/>
                </a:solidFill>
              </a:rPr>
              <a:t>scientific method</a:t>
            </a:r>
            <a:r>
              <a:rPr lang="en-US" dirty="0"/>
              <a:t>.  </a:t>
            </a:r>
          </a:p>
        </p:txBody>
      </p:sp>
    </p:spTree>
    <p:extLst>
      <p:ext uri="{BB962C8B-B14F-4D97-AF65-F5344CB8AC3E}">
        <p14:creationId xmlns:p14="http://schemas.microsoft.com/office/powerpoint/2010/main" val="1417802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0A7D14-7B67-4022-A8BE-1CCD4A0F1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D84A408-51BE-8366-3FC2-6E1AD2C9C481}"/>
              </a:ext>
            </a:extLst>
          </p:cNvPr>
          <p:cNvSpPr>
            <a:spLocks noGrp="1"/>
          </p:cNvSpPr>
          <p:nvPr>
            <p:ph type="title"/>
          </p:nvPr>
        </p:nvSpPr>
        <p:spPr>
          <a:xfrm>
            <a:off x="1251678" y="382385"/>
            <a:ext cx="10178322" cy="1492132"/>
          </a:xfrm>
        </p:spPr>
        <p:txBody>
          <a:bodyPr anchor="ctr">
            <a:normAutofit/>
          </a:bodyPr>
          <a:lstStyle/>
          <a:p>
            <a:r>
              <a:rPr lang="en-US" dirty="0"/>
              <a:t>The scientific method</a:t>
            </a:r>
          </a:p>
        </p:txBody>
      </p:sp>
      <p:sp>
        <p:nvSpPr>
          <p:cNvPr id="11" name="Freeform 6">
            <a:extLst>
              <a:ext uri="{FF2B5EF4-FFF2-40B4-BE49-F238E27FC236}">
                <a16:creationId xmlns:a16="http://schemas.microsoft.com/office/drawing/2014/main" id="{AB09A9E8-BF27-4613-A775-071F08208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C3AFE299-6F79-44AF-9A77-2DC2DC1F8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45389069-81FE-792B-F592-7786E7FF61B5}"/>
              </a:ext>
            </a:extLst>
          </p:cNvPr>
          <p:cNvGraphicFramePr>
            <a:graphicFrameLocks noGrp="1"/>
          </p:cNvGraphicFramePr>
          <p:nvPr>
            <p:ph idx="1"/>
            <p:extLst>
              <p:ext uri="{D42A27DB-BD31-4B8C-83A1-F6EECF244321}">
                <p14:modId xmlns:p14="http://schemas.microsoft.com/office/powerpoint/2010/main" val="1776218563"/>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417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FD12B-AF05-4415-1D63-A2CEFC184D41}"/>
              </a:ext>
            </a:extLst>
          </p:cNvPr>
          <p:cNvSpPr>
            <a:spLocks noGrp="1"/>
          </p:cNvSpPr>
          <p:nvPr>
            <p:ph type="title"/>
          </p:nvPr>
        </p:nvSpPr>
        <p:spPr/>
        <p:txBody>
          <a:bodyPr/>
          <a:lstStyle/>
          <a:p>
            <a:r>
              <a:rPr lang="en-US" dirty="0"/>
              <a:t>More than anything, a cycle:</a:t>
            </a:r>
          </a:p>
        </p:txBody>
      </p:sp>
      <p:graphicFrame>
        <p:nvGraphicFramePr>
          <p:cNvPr id="4" name="Content Placeholder 3">
            <a:extLst>
              <a:ext uri="{FF2B5EF4-FFF2-40B4-BE49-F238E27FC236}">
                <a16:creationId xmlns:a16="http://schemas.microsoft.com/office/drawing/2014/main" id="{D801D50E-776D-443A-5E32-3A85370689A2}"/>
              </a:ext>
            </a:extLst>
          </p:cNvPr>
          <p:cNvGraphicFramePr>
            <a:graphicFrameLocks/>
          </p:cNvGraphicFramePr>
          <p:nvPr>
            <p:extLst>
              <p:ext uri="{D42A27DB-BD31-4B8C-83A1-F6EECF244321}">
                <p14:modId xmlns:p14="http://schemas.microsoft.com/office/powerpoint/2010/main" val="3318394577"/>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09DE43A4-919C-9CB3-B180-F7AE43D11F5C}"/>
              </a:ext>
            </a:extLst>
          </p:cNvPr>
          <p:cNvCxnSpPr/>
          <p:nvPr/>
        </p:nvCxnSpPr>
        <p:spPr>
          <a:xfrm>
            <a:off x="2980706" y="4702629"/>
            <a:ext cx="1520042" cy="700644"/>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02AEFD3-D958-D6AD-EC9E-00F1C17DAEF9}"/>
              </a:ext>
            </a:extLst>
          </p:cNvPr>
          <p:cNvCxnSpPr>
            <a:cxnSpLocks/>
          </p:cNvCxnSpPr>
          <p:nvPr/>
        </p:nvCxnSpPr>
        <p:spPr>
          <a:xfrm>
            <a:off x="2980706" y="4536374"/>
            <a:ext cx="3598224" cy="86689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71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B85A-86C7-645A-C266-61651077BB08}"/>
              </a:ext>
            </a:extLst>
          </p:cNvPr>
          <p:cNvSpPr>
            <a:spLocks noGrp="1"/>
          </p:cNvSpPr>
          <p:nvPr>
            <p:ph type="title"/>
          </p:nvPr>
        </p:nvSpPr>
        <p:spPr/>
        <p:txBody>
          <a:bodyPr/>
          <a:lstStyle/>
          <a:p>
            <a:r>
              <a:rPr lang="en-US" dirty="0"/>
              <a:t>Hypothesis</a:t>
            </a:r>
          </a:p>
        </p:txBody>
      </p:sp>
      <p:sp>
        <p:nvSpPr>
          <p:cNvPr id="3" name="Text Placeholder 2">
            <a:extLst>
              <a:ext uri="{FF2B5EF4-FFF2-40B4-BE49-F238E27FC236}">
                <a16:creationId xmlns:a16="http://schemas.microsoft.com/office/drawing/2014/main" id="{6FBF6C0F-C4E2-DB29-6ECC-D0645034F85F}"/>
              </a:ext>
            </a:extLst>
          </p:cNvPr>
          <p:cNvSpPr>
            <a:spLocks noGrp="1"/>
          </p:cNvSpPr>
          <p:nvPr>
            <p:ph type="body" idx="1"/>
          </p:nvPr>
        </p:nvSpPr>
        <p:spPr/>
        <p:txBody>
          <a:bodyPr>
            <a:normAutofit lnSpcReduction="10000"/>
          </a:bodyPr>
          <a:lstStyle/>
          <a:p>
            <a:r>
              <a:rPr lang="en-US" dirty="0"/>
              <a:t>(Ok, we are taking the long way to get to causal inference, but we will get there… eventually)</a:t>
            </a:r>
          </a:p>
        </p:txBody>
      </p:sp>
    </p:spTree>
    <p:extLst>
      <p:ext uri="{BB962C8B-B14F-4D97-AF65-F5344CB8AC3E}">
        <p14:creationId xmlns:p14="http://schemas.microsoft.com/office/powerpoint/2010/main" val="1138145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27809-7382-C4D1-7780-C3B24A45362B}"/>
              </a:ext>
            </a:extLst>
          </p:cNvPr>
          <p:cNvSpPr>
            <a:spLocks noGrp="1"/>
          </p:cNvSpPr>
          <p:nvPr>
            <p:ph type="title"/>
          </p:nvPr>
        </p:nvSpPr>
        <p:spPr/>
        <p:txBody>
          <a:bodyPr/>
          <a:lstStyle/>
          <a:p>
            <a:r>
              <a:rPr lang="en-US" dirty="0"/>
              <a:t>Hypotheses</a:t>
            </a:r>
          </a:p>
        </p:txBody>
      </p:sp>
      <p:sp>
        <p:nvSpPr>
          <p:cNvPr id="5" name="Content Placeholder 4">
            <a:extLst>
              <a:ext uri="{FF2B5EF4-FFF2-40B4-BE49-F238E27FC236}">
                <a16:creationId xmlns:a16="http://schemas.microsoft.com/office/drawing/2014/main" id="{4E4C1698-84FE-7C32-E770-463E1FAF65DF}"/>
              </a:ext>
            </a:extLst>
          </p:cNvPr>
          <p:cNvSpPr>
            <a:spLocks noGrp="1"/>
          </p:cNvSpPr>
          <p:nvPr>
            <p:ph idx="1"/>
          </p:nvPr>
        </p:nvSpPr>
        <p:spPr/>
        <p:txBody>
          <a:bodyPr/>
          <a:lstStyle/>
          <a:p>
            <a:r>
              <a:rPr lang="en-US" dirty="0"/>
              <a:t>Hypotheses are the observable implications of our theory. </a:t>
            </a:r>
          </a:p>
          <a:p>
            <a:r>
              <a:rPr lang="en-US" dirty="0"/>
              <a:t>In our theory, we explain our understanding of the world and the conditions under which this understanding answers our research question. </a:t>
            </a:r>
          </a:p>
          <a:p>
            <a:r>
              <a:rPr lang="en-US" dirty="0"/>
              <a:t>Thus, our theory will have certain </a:t>
            </a:r>
            <a:r>
              <a:rPr lang="en-US" dirty="0">
                <a:solidFill>
                  <a:schemeClr val="accent1"/>
                </a:solidFill>
              </a:rPr>
              <a:t>observable implications</a:t>
            </a:r>
            <a:r>
              <a:rPr lang="en-US" dirty="0"/>
              <a:t>.  </a:t>
            </a:r>
          </a:p>
          <a:p>
            <a:endParaRPr lang="en-US" dirty="0"/>
          </a:p>
          <a:p>
            <a:r>
              <a:rPr lang="en-US" dirty="0"/>
              <a:t>For example, if I argue that democracy requires a strong middle class, an observable implication of my theory would be that… (?)</a:t>
            </a:r>
          </a:p>
        </p:txBody>
      </p:sp>
    </p:spTree>
    <p:extLst>
      <p:ext uri="{BB962C8B-B14F-4D97-AF65-F5344CB8AC3E}">
        <p14:creationId xmlns:p14="http://schemas.microsoft.com/office/powerpoint/2010/main" val="1537230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E982FE-0F2B-E14C-84D2-F9DF63F0CFA2}"/>
              </a:ext>
            </a:extLst>
          </p:cNvPr>
          <p:cNvSpPr txBox="1"/>
          <p:nvPr/>
        </p:nvSpPr>
        <p:spPr>
          <a:xfrm>
            <a:off x="3022899" y="2504327"/>
            <a:ext cx="322729" cy="1569660"/>
          </a:xfrm>
          <a:prstGeom prst="rect">
            <a:avLst/>
          </a:prstGeom>
          <a:noFill/>
        </p:spPr>
        <p:txBody>
          <a:bodyPr wrap="square" rtlCol="0">
            <a:spAutoFit/>
          </a:bodyPr>
          <a:lstStyle/>
          <a:p>
            <a:r>
              <a:rPr lang="es-ES_tradnl" sz="9600" dirty="0"/>
              <a:t>A</a:t>
            </a:r>
          </a:p>
        </p:txBody>
      </p:sp>
      <p:sp>
        <p:nvSpPr>
          <p:cNvPr id="3" name="TextBox 2">
            <a:extLst>
              <a:ext uri="{FF2B5EF4-FFF2-40B4-BE49-F238E27FC236}">
                <a16:creationId xmlns:a16="http://schemas.microsoft.com/office/drawing/2014/main" id="{02AADB32-4921-C148-AAC6-BBE8FCAC701E}"/>
              </a:ext>
            </a:extLst>
          </p:cNvPr>
          <p:cNvSpPr txBox="1"/>
          <p:nvPr/>
        </p:nvSpPr>
        <p:spPr>
          <a:xfrm>
            <a:off x="7913147" y="2504327"/>
            <a:ext cx="761998" cy="1569660"/>
          </a:xfrm>
          <a:prstGeom prst="rect">
            <a:avLst/>
          </a:prstGeom>
          <a:noFill/>
        </p:spPr>
        <p:txBody>
          <a:bodyPr wrap="square" rtlCol="0">
            <a:spAutoFit/>
          </a:bodyPr>
          <a:lstStyle/>
          <a:p>
            <a:r>
              <a:rPr lang="es-ES_tradnl" sz="9600" dirty="0"/>
              <a:t>B</a:t>
            </a:r>
          </a:p>
        </p:txBody>
      </p:sp>
      <p:cxnSp>
        <p:nvCxnSpPr>
          <p:cNvPr id="5" name="Straight Arrow Connector 4">
            <a:extLst>
              <a:ext uri="{FF2B5EF4-FFF2-40B4-BE49-F238E27FC236}">
                <a16:creationId xmlns:a16="http://schemas.microsoft.com/office/drawing/2014/main" id="{EF217D0F-20FF-D549-AA8F-DCBE453632A4}"/>
              </a:ext>
            </a:extLst>
          </p:cNvPr>
          <p:cNvCxnSpPr/>
          <p:nvPr/>
        </p:nvCxnSpPr>
        <p:spPr>
          <a:xfrm>
            <a:off x="4453666" y="3289157"/>
            <a:ext cx="2893807"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E78A82F-1FE8-914C-8A22-D37F4419B398}"/>
              </a:ext>
            </a:extLst>
          </p:cNvPr>
          <p:cNvSpPr txBox="1"/>
          <p:nvPr/>
        </p:nvSpPr>
        <p:spPr>
          <a:xfrm>
            <a:off x="2537657" y="1549544"/>
            <a:ext cx="1916009" cy="369332"/>
          </a:xfrm>
          <a:prstGeom prst="rect">
            <a:avLst/>
          </a:prstGeom>
          <a:noFill/>
        </p:spPr>
        <p:txBody>
          <a:bodyPr wrap="square" rtlCol="0">
            <a:spAutoFit/>
          </a:bodyPr>
          <a:lstStyle/>
          <a:p>
            <a:r>
              <a:rPr lang="es-ES_tradnl" dirty="0"/>
              <a:t>+ MIDDLE CLASS</a:t>
            </a:r>
          </a:p>
        </p:txBody>
      </p:sp>
      <p:sp>
        <p:nvSpPr>
          <p:cNvPr id="6" name="TextBox 5">
            <a:extLst>
              <a:ext uri="{FF2B5EF4-FFF2-40B4-BE49-F238E27FC236}">
                <a16:creationId xmlns:a16="http://schemas.microsoft.com/office/drawing/2014/main" id="{CF4B07F4-7377-E947-9E53-103E3C55F1B5}"/>
              </a:ext>
            </a:extLst>
          </p:cNvPr>
          <p:cNvSpPr txBox="1"/>
          <p:nvPr/>
        </p:nvSpPr>
        <p:spPr>
          <a:xfrm>
            <a:off x="7201616" y="1549544"/>
            <a:ext cx="2185059" cy="369332"/>
          </a:xfrm>
          <a:prstGeom prst="rect">
            <a:avLst/>
          </a:prstGeom>
          <a:noFill/>
        </p:spPr>
        <p:txBody>
          <a:bodyPr wrap="square" rtlCol="0">
            <a:spAutoFit/>
          </a:bodyPr>
          <a:lstStyle/>
          <a:p>
            <a:pPr algn="ctr"/>
            <a:r>
              <a:rPr lang="es-ES_tradnl" dirty="0"/>
              <a:t>+ DEMOCRACY</a:t>
            </a:r>
          </a:p>
        </p:txBody>
      </p:sp>
      <p:cxnSp>
        <p:nvCxnSpPr>
          <p:cNvPr id="7" name="Straight Arrow Connector 6">
            <a:extLst>
              <a:ext uri="{FF2B5EF4-FFF2-40B4-BE49-F238E27FC236}">
                <a16:creationId xmlns:a16="http://schemas.microsoft.com/office/drawing/2014/main" id="{BA66A554-73D5-B641-B441-A619A7728A25}"/>
              </a:ext>
            </a:extLst>
          </p:cNvPr>
          <p:cNvCxnSpPr/>
          <p:nvPr/>
        </p:nvCxnSpPr>
        <p:spPr>
          <a:xfrm>
            <a:off x="4453665" y="1734210"/>
            <a:ext cx="2893807"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14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D99E-5999-DA49-8277-4EFF64080D89}"/>
              </a:ext>
            </a:extLst>
          </p:cNvPr>
          <p:cNvSpPr>
            <a:spLocks noGrp="1"/>
          </p:cNvSpPr>
          <p:nvPr>
            <p:ph type="title"/>
          </p:nvPr>
        </p:nvSpPr>
        <p:spPr/>
        <p:txBody>
          <a:bodyPr/>
          <a:lstStyle/>
          <a:p>
            <a:r>
              <a:rPr lang="en-US" dirty="0"/>
              <a:t>Observing the World</a:t>
            </a:r>
          </a:p>
        </p:txBody>
      </p:sp>
      <p:sp>
        <p:nvSpPr>
          <p:cNvPr id="3" name="Text Placeholder 2">
            <a:extLst>
              <a:ext uri="{FF2B5EF4-FFF2-40B4-BE49-F238E27FC236}">
                <a16:creationId xmlns:a16="http://schemas.microsoft.com/office/drawing/2014/main" id="{CDEFE150-B5DC-EC6A-74E4-9881FA95550E}"/>
              </a:ext>
            </a:extLst>
          </p:cNvPr>
          <p:cNvSpPr>
            <a:spLocks noGrp="1"/>
          </p:cNvSpPr>
          <p:nvPr>
            <p:ph type="body" idx="1"/>
          </p:nvPr>
        </p:nvSpPr>
        <p:spPr/>
        <p:txBody>
          <a:bodyPr/>
          <a:lstStyle/>
          <a:p>
            <a:r>
              <a:rPr lang="en-US" dirty="0"/>
              <a:t>(Getting closer to causal inference)</a:t>
            </a:r>
          </a:p>
        </p:txBody>
      </p:sp>
    </p:spTree>
    <p:extLst>
      <p:ext uri="{BB962C8B-B14F-4D97-AF65-F5344CB8AC3E}">
        <p14:creationId xmlns:p14="http://schemas.microsoft.com/office/powerpoint/2010/main" val="883406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1BE089-0130-AF94-F583-3EB02136AA1B}"/>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8FDBD83-3146-341B-5188-A9F8F8B2A600}"/>
              </a:ext>
            </a:extLst>
          </p:cNvPr>
          <p:cNvSpPr>
            <a:spLocks noGrp="1"/>
          </p:cNvSpPr>
          <p:nvPr>
            <p:ph idx="1"/>
          </p:nvPr>
        </p:nvSpPr>
        <p:spPr/>
        <p:txBody>
          <a:bodyPr/>
          <a:lstStyle/>
          <a:p>
            <a:r>
              <a:rPr lang="en-US" dirty="0"/>
              <a:t>When we observe the world (i.e., quantitatively and qualitatively) to reject our null, we are also looking for </a:t>
            </a:r>
            <a:r>
              <a:rPr lang="en-US" dirty="0">
                <a:solidFill>
                  <a:schemeClr val="accent1"/>
                </a:solidFill>
              </a:rPr>
              <a:t>methods</a:t>
            </a:r>
            <a:r>
              <a:rPr lang="en-US" dirty="0"/>
              <a:t> that can remove uncertainty around our expectations of </a:t>
            </a:r>
            <a:r>
              <a:rPr lang="en-US" dirty="0">
                <a:solidFill>
                  <a:schemeClr val="accent1"/>
                </a:solidFill>
              </a:rPr>
              <a:t>A </a:t>
            </a:r>
            <a:r>
              <a:rPr lang="en-US" dirty="0">
                <a:solidFill>
                  <a:schemeClr val="accent1"/>
                </a:solidFill>
                <a:sym typeface="Wingdings" pitchFamily="2" charset="2"/>
              </a:rPr>
              <a:t> B.</a:t>
            </a:r>
            <a:endParaRPr lang="en-US" dirty="0">
              <a:solidFill>
                <a:schemeClr val="accent1"/>
              </a:solidFill>
            </a:endParaRPr>
          </a:p>
        </p:txBody>
      </p:sp>
    </p:spTree>
    <p:extLst>
      <p:ext uri="{BB962C8B-B14F-4D97-AF65-F5344CB8AC3E}">
        <p14:creationId xmlns:p14="http://schemas.microsoft.com/office/powerpoint/2010/main" val="30762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EEFA-599E-7779-B968-1EB7B965D4F2}"/>
              </a:ext>
            </a:extLst>
          </p:cNvPr>
          <p:cNvSpPr>
            <a:spLocks noGrp="1"/>
          </p:cNvSpPr>
          <p:nvPr>
            <p:ph type="title"/>
          </p:nvPr>
        </p:nvSpPr>
        <p:spPr/>
        <p:txBody>
          <a:bodyPr/>
          <a:lstStyle/>
          <a:p>
            <a:r>
              <a:rPr lang="en-US" dirty="0"/>
              <a:t>What is causal inference?</a:t>
            </a:r>
          </a:p>
        </p:txBody>
      </p:sp>
      <p:sp>
        <p:nvSpPr>
          <p:cNvPr id="4" name="Content Placeholder 2">
            <a:extLst>
              <a:ext uri="{FF2B5EF4-FFF2-40B4-BE49-F238E27FC236}">
                <a16:creationId xmlns:a16="http://schemas.microsoft.com/office/drawing/2014/main" id="{E702EED2-7AF3-CE82-950A-96F9A185F67B}"/>
              </a:ext>
            </a:extLst>
          </p:cNvPr>
          <p:cNvSpPr txBox="1">
            <a:spLocks/>
          </p:cNvSpPr>
          <p:nvPr/>
        </p:nvSpPr>
        <p:spPr>
          <a:xfrm>
            <a:off x="1113311" y="5293819"/>
            <a:ext cx="10515600" cy="13255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Garamond" panose="02020404030301010803" pitchFamily="18" charset="0"/>
              </a:rPr>
              <a:t>“Causal inference is the leveraging of theory and deep knowledge of institutional details to estimate the impact of events and choices on a given outcome of interest.” (Cunningham, p. 14)</a:t>
            </a:r>
          </a:p>
          <a:p>
            <a:endParaRPr lang="es-ES_tradnl" dirty="0"/>
          </a:p>
        </p:txBody>
      </p:sp>
      <p:sp>
        <p:nvSpPr>
          <p:cNvPr id="5" name="TextBox 4">
            <a:extLst>
              <a:ext uri="{FF2B5EF4-FFF2-40B4-BE49-F238E27FC236}">
                <a16:creationId xmlns:a16="http://schemas.microsoft.com/office/drawing/2014/main" id="{C8469BF7-1F19-015A-25E0-7690B0944499}"/>
              </a:ext>
            </a:extLst>
          </p:cNvPr>
          <p:cNvSpPr txBox="1"/>
          <p:nvPr/>
        </p:nvSpPr>
        <p:spPr>
          <a:xfrm>
            <a:off x="2544418" y="2132271"/>
            <a:ext cx="1940325" cy="830997"/>
          </a:xfrm>
          <a:prstGeom prst="rect">
            <a:avLst/>
          </a:prstGeom>
          <a:noFill/>
        </p:spPr>
        <p:txBody>
          <a:bodyPr wrap="square" rtlCol="0">
            <a:spAutoFit/>
          </a:bodyPr>
          <a:lstStyle/>
          <a:p>
            <a:pPr algn="ctr"/>
            <a:r>
              <a:rPr lang="es-ES_tradnl" sz="2400" dirty="0"/>
              <a:t>EVENTS / </a:t>
            </a:r>
          </a:p>
          <a:p>
            <a:pPr algn="ctr"/>
            <a:r>
              <a:rPr lang="es-ES_tradnl" sz="2400" dirty="0"/>
              <a:t>DECISIONS</a:t>
            </a:r>
          </a:p>
        </p:txBody>
      </p:sp>
      <p:cxnSp>
        <p:nvCxnSpPr>
          <p:cNvPr id="6" name="Straight Connector 5">
            <a:extLst>
              <a:ext uri="{FF2B5EF4-FFF2-40B4-BE49-F238E27FC236}">
                <a16:creationId xmlns:a16="http://schemas.microsoft.com/office/drawing/2014/main" id="{ADDED07F-24B6-E9C7-1C92-E6BABA8AF6C2}"/>
              </a:ext>
            </a:extLst>
          </p:cNvPr>
          <p:cNvCxnSpPr>
            <a:cxnSpLocks/>
            <a:stCxn id="5" idx="3"/>
          </p:cNvCxnSpPr>
          <p:nvPr/>
        </p:nvCxnSpPr>
        <p:spPr>
          <a:xfrm>
            <a:off x="4484743" y="2547770"/>
            <a:ext cx="14725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97565E-43C8-BF6D-D3CF-39C374A80067}"/>
              </a:ext>
            </a:extLst>
          </p:cNvPr>
          <p:cNvSpPr txBox="1"/>
          <p:nvPr/>
        </p:nvSpPr>
        <p:spPr>
          <a:xfrm>
            <a:off x="5957283" y="2224604"/>
            <a:ext cx="374073" cy="646331"/>
          </a:xfrm>
          <a:prstGeom prst="rect">
            <a:avLst/>
          </a:prstGeom>
          <a:noFill/>
        </p:spPr>
        <p:txBody>
          <a:bodyPr wrap="square" rtlCol="0">
            <a:spAutoFit/>
          </a:bodyPr>
          <a:lstStyle/>
          <a:p>
            <a:r>
              <a:rPr lang="es-ES_tradnl" sz="3600" dirty="0"/>
              <a:t>?</a:t>
            </a:r>
          </a:p>
        </p:txBody>
      </p:sp>
      <p:cxnSp>
        <p:nvCxnSpPr>
          <p:cNvPr id="8" name="Straight Arrow Connector 7">
            <a:extLst>
              <a:ext uri="{FF2B5EF4-FFF2-40B4-BE49-F238E27FC236}">
                <a16:creationId xmlns:a16="http://schemas.microsoft.com/office/drawing/2014/main" id="{55F440D8-A2BB-48B1-2FBF-1F6A4A7B3359}"/>
              </a:ext>
            </a:extLst>
          </p:cNvPr>
          <p:cNvCxnSpPr>
            <a:stCxn id="7" idx="3"/>
          </p:cNvCxnSpPr>
          <p:nvPr/>
        </p:nvCxnSpPr>
        <p:spPr>
          <a:xfrm>
            <a:off x="6331356" y="2547770"/>
            <a:ext cx="15437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90F4F0-8311-D41C-B6E4-FEF6CBD074FD}"/>
              </a:ext>
            </a:extLst>
          </p:cNvPr>
          <p:cNvSpPr txBox="1"/>
          <p:nvPr/>
        </p:nvSpPr>
        <p:spPr>
          <a:xfrm>
            <a:off x="7952338" y="2316936"/>
            <a:ext cx="1366565" cy="461665"/>
          </a:xfrm>
          <a:prstGeom prst="rect">
            <a:avLst/>
          </a:prstGeom>
          <a:noFill/>
        </p:spPr>
        <p:txBody>
          <a:bodyPr wrap="square" rtlCol="0">
            <a:spAutoFit/>
          </a:bodyPr>
          <a:lstStyle/>
          <a:p>
            <a:pPr algn="ctr"/>
            <a:r>
              <a:rPr lang="es-ES_tradnl" sz="2400" dirty="0"/>
              <a:t>RESULTS</a:t>
            </a:r>
          </a:p>
        </p:txBody>
      </p:sp>
      <p:sp>
        <p:nvSpPr>
          <p:cNvPr id="10" name="TextBox 9">
            <a:extLst>
              <a:ext uri="{FF2B5EF4-FFF2-40B4-BE49-F238E27FC236}">
                <a16:creationId xmlns:a16="http://schemas.microsoft.com/office/drawing/2014/main" id="{A3019ECC-86D4-BDCA-29FF-E917247DE787}"/>
              </a:ext>
            </a:extLst>
          </p:cNvPr>
          <p:cNvSpPr txBox="1"/>
          <p:nvPr/>
        </p:nvSpPr>
        <p:spPr>
          <a:xfrm>
            <a:off x="6331355" y="3681849"/>
            <a:ext cx="2733132" cy="523220"/>
          </a:xfrm>
          <a:prstGeom prst="rect">
            <a:avLst/>
          </a:prstGeom>
          <a:noFill/>
        </p:spPr>
        <p:txBody>
          <a:bodyPr wrap="square" rtlCol="0">
            <a:spAutoFit/>
          </a:bodyPr>
          <a:lstStyle/>
          <a:p>
            <a:r>
              <a:rPr lang="es-ES_tradnl" sz="2800" b="1" dirty="0"/>
              <a:t>KNOWLEDGE</a:t>
            </a:r>
          </a:p>
        </p:txBody>
      </p:sp>
      <p:cxnSp>
        <p:nvCxnSpPr>
          <p:cNvPr id="11" name="Straight Arrow Connector 10">
            <a:extLst>
              <a:ext uri="{FF2B5EF4-FFF2-40B4-BE49-F238E27FC236}">
                <a16:creationId xmlns:a16="http://schemas.microsoft.com/office/drawing/2014/main" id="{757714C0-6057-B74B-A5D6-2227FD4E33C1}"/>
              </a:ext>
            </a:extLst>
          </p:cNvPr>
          <p:cNvCxnSpPr>
            <a:cxnSpLocks/>
            <a:stCxn id="10" idx="0"/>
          </p:cNvCxnSpPr>
          <p:nvPr/>
        </p:nvCxnSpPr>
        <p:spPr>
          <a:xfrm flipH="1" flipV="1">
            <a:off x="6331356" y="2770907"/>
            <a:ext cx="1366565" cy="9109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13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EEFA-599E-7779-B968-1EB7B965D4F2}"/>
              </a:ext>
            </a:extLst>
          </p:cNvPr>
          <p:cNvSpPr>
            <a:spLocks noGrp="1"/>
          </p:cNvSpPr>
          <p:nvPr>
            <p:ph type="title"/>
          </p:nvPr>
        </p:nvSpPr>
        <p:spPr/>
        <p:txBody>
          <a:bodyPr/>
          <a:lstStyle/>
          <a:p>
            <a:r>
              <a:rPr lang="en-US" dirty="0"/>
              <a:t>What is causal inference?</a:t>
            </a:r>
          </a:p>
        </p:txBody>
      </p:sp>
      <p:sp>
        <p:nvSpPr>
          <p:cNvPr id="4" name="Content Placeholder 2">
            <a:extLst>
              <a:ext uri="{FF2B5EF4-FFF2-40B4-BE49-F238E27FC236}">
                <a16:creationId xmlns:a16="http://schemas.microsoft.com/office/drawing/2014/main" id="{E702EED2-7AF3-CE82-950A-96F9A185F67B}"/>
              </a:ext>
            </a:extLst>
          </p:cNvPr>
          <p:cNvSpPr txBox="1">
            <a:spLocks/>
          </p:cNvSpPr>
          <p:nvPr/>
        </p:nvSpPr>
        <p:spPr>
          <a:xfrm>
            <a:off x="1113311" y="5293819"/>
            <a:ext cx="10515600" cy="13255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Garamond" panose="02020404030301010803" pitchFamily="18" charset="0"/>
              </a:rPr>
              <a:t>“Causal inference is the </a:t>
            </a:r>
            <a:r>
              <a:rPr lang="en-US" dirty="0">
                <a:highlight>
                  <a:srgbClr val="FFFF00"/>
                </a:highlight>
                <a:latin typeface="Garamond" panose="02020404030301010803" pitchFamily="18" charset="0"/>
              </a:rPr>
              <a:t>leveraging of theory and deep knowledge of institutional details</a:t>
            </a:r>
            <a:r>
              <a:rPr lang="en-US" dirty="0">
                <a:latin typeface="Garamond" panose="02020404030301010803" pitchFamily="18" charset="0"/>
              </a:rPr>
              <a:t> to estimate the impact of events and choices on a given outcome of interest.” (Cunningham, p. 14)</a:t>
            </a:r>
          </a:p>
          <a:p>
            <a:endParaRPr lang="es-ES_tradnl" dirty="0"/>
          </a:p>
        </p:txBody>
      </p:sp>
      <p:sp>
        <p:nvSpPr>
          <p:cNvPr id="5" name="TextBox 4">
            <a:extLst>
              <a:ext uri="{FF2B5EF4-FFF2-40B4-BE49-F238E27FC236}">
                <a16:creationId xmlns:a16="http://schemas.microsoft.com/office/drawing/2014/main" id="{C8469BF7-1F19-015A-25E0-7690B0944499}"/>
              </a:ext>
            </a:extLst>
          </p:cNvPr>
          <p:cNvSpPr txBox="1"/>
          <p:nvPr/>
        </p:nvSpPr>
        <p:spPr>
          <a:xfrm>
            <a:off x="2544418" y="2132271"/>
            <a:ext cx="1940325" cy="830997"/>
          </a:xfrm>
          <a:prstGeom prst="rect">
            <a:avLst/>
          </a:prstGeom>
          <a:noFill/>
        </p:spPr>
        <p:txBody>
          <a:bodyPr wrap="square" rtlCol="0">
            <a:spAutoFit/>
          </a:bodyPr>
          <a:lstStyle/>
          <a:p>
            <a:pPr algn="ctr"/>
            <a:r>
              <a:rPr lang="es-ES_tradnl" sz="2400" dirty="0"/>
              <a:t>EVENTS / </a:t>
            </a:r>
          </a:p>
          <a:p>
            <a:pPr algn="ctr"/>
            <a:r>
              <a:rPr lang="es-ES_tradnl" sz="2400" dirty="0"/>
              <a:t>DECISIONS</a:t>
            </a:r>
          </a:p>
        </p:txBody>
      </p:sp>
      <p:cxnSp>
        <p:nvCxnSpPr>
          <p:cNvPr id="6" name="Straight Connector 5">
            <a:extLst>
              <a:ext uri="{FF2B5EF4-FFF2-40B4-BE49-F238E27FC236}">
                <a16:creationId xmlns:a16="http://schemas.microsoft.com/office/drawing/2014/main" id="{ADDED07F-24B6-E9C7-1C92-E6BABA8AF6C2}"/>
              </a:ext>
            </a:extLst>
          </p:cNvPr>
          <p:cNvCxnSpPr>
            <a:cxnSpLocks/>
            <a:stCxn id="5" idx="3"/>
          </p:cNvCxnSpPr>
          <p:nvPr/>
        </p:nvCxnSpPr>
        <p:spPr>
          <a:xfrm>
            <a:off x="4484743" y="2547770"/>
            <a:ext cx="14725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97565E-43C8-BF6D-D3CF-39C374A80067}"/>
              </a:ext>
            </a:extLst>
          </p:cNvPr>
          <p:cNvSpPr txBox="1"/>
          <p:nvPr/>
        </p:nvSpPr>
        <p:spPr>
          <a:xfrm>
            <a:off x="5957283" y="2224604"/>
            <a:ext cx="374073" cy="646331"/>
          </a:xfrm>
          <a:prstGeom prst="rect">
            <a:avLst/>
          </a:prstGeom>
          <a:noFill/>
        </p:spPr>
        <p:txBody>
          <a:bodyPr wrap="square" rtlCol="0">
            <a:spAutoFit/>
          </a:bodyPr>
          <a:lstStyle/>
          <a:p>
            <a:r>
              <a:rPr lang="es-ES_tradnl" sz="3600" dirty="0"/>
              <a:t>?</a:t>
            </a:r>
          </a:p>
        </p:txBody>
      </p:sp>
      <p:cxnSp>
        <p:nvCxnSpPr>
          <p:cNvPr id="8" name="Straight Arrow Connector 7">
            <a:extLst>
              <a:ext uri="{FF2B5EF4-FFF2-40B4-BE49-F238E27FC236}">
                <a16:creationId xmlns:a16="http://schemas.microsoft.com/office/drawing/2014/main" id="{55F440D8-A2BB-48B1-2FBF-1F6A4A7B3359}"/>
              </a:ext>
            </a:extLst>
          </p:cNvPr>
          <p:cNvCxnSpPr>
            <a:stCxn id="7" idx="3"/>
          </p:cNvCxnSpPr>
          <p:nvPr/>
        </p:nvCxnSpPr>
        <p:spPr>
          <a:xfrm>
            <a:off x="6331356" y="2547770"/>
            <a:ext cx="15437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90F4F0-8311-D41C-B6E4-FEF6CBD074FD}"/>
              </a:ext>
            </a:extLst>
          </p:cNvPr>
          <p:cNvSpPr txBox="1"/>
          <p:nvPr/>
        </p:nvSpPr>
        <p:spPr>
          <a:xfrm>
            <a:off x="7952338" y="2316936"/>
            <a:ext cx="1366565" cy="461665"/>
          </a:xfrm>
          <a:prstGeom prst="rect">
            <a:avLst/>
          </a:prstGeom>
          <a:noFill/>
        </p:spPr>
        <p:txBody>
          <a:bodyPr wrap="square" rtlCol="0">
            <a:spAutoFit/>
          </a:bodyPr>
          <a:lstStyle/>
          <a:p>
            <a:pPr algn="ctr"/>
            <a:r>
              <a:rPr lang="es-ES_tradnl" sz="2400" dirty="0"/>
              <a:t>RESULTS</a:t>
            </a:r>
          </a:p>
        </p:txBody>
      </p:sp>
      <p:sp>
        <p:nvSpPr>
          <p:cNvPr id="10" name="TextBox 9">
            <a:extLst>
              <a:ext uri="{FF2B5EF4-FFF2-40B4-BE49-F238E27FC236}">
                <a16:creationId xmlns:a16="http://schemas.microsoft.com/office/drawing/2014/main" id="{A3019ECC-86D4-BDCA-29FF-E917247DE787}"/>
              </a:ext>
            </a:extLst>
          </p:cNvPr>
          <p:cNvSpPr txBox="1"/>
          <p:nvPr/>
        </p:nvSpPr>
        <p:spPr>
          <a:xfrm>
            <a:off x="6331355" y="3681849"/>
            <a:ext cx="2733132" cy="523220"/>
          </a:xfrm>
          <a:prstGeom prst="rect">
            <a:avLst/>
          </a:prstGeom>
          <a:noFill/>
        </p:spPr>
        <p:txBody>
          <a:bodyPr wrap="square" rtlCol="0">
            <a:spAutoFit/>
          </a:bodyPr>
          <a:lstStyle/>
          <a:p>
            <a:r>
              <a:rPr lang="es-ES_tradnl" sz="2800" b="1" dirty="0">
                <a:highlight>
                  <a:srgbClr val="FFFF00"/>
                </a:highlight>
              </a:rPr>
              <a:t>KNOWLEDGE</a:t>
            </a:r>
          </a:p>
        </p:txBody>
      </p:sp>
      <p:cxnSp>
        <p:nvCxnSpPr>
          <p:cNvPr id="11" name="Straight Arrow Connector 10">
            <a:extLst>
              <a:ext uri="{FF2B5EF4-FFF2-40B4-BE49-F238E27FC236}">
                <a16:creationId xmlns:a16="http://schemas.microsoft.com/office/drawing/2014/main" id="{757714C0-6057-B74B-A5D6-2227FD4E33C1}"/>
              </a:ext>
            </a:extLst>
          </p:cNvPr>
          <p:cNvCxnSpPr>
            <a:cxnSpLocks/>
            <a:stCxn id="10" idx="0"/>
          </p:cNvCxnSpPr>
          <p:nvPr/>
        </p:nvCxnSpPr>
        <p:spPr>
          <a:xfrm flipH="1" flipV="1">
            <a:off x="6331356" y="2770907"/>
            <a:ext cx="1366565" cy="9109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73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EEFA-599E-7779-B968-1EB7B965D4F2}"/>
              </a:ext>
            </a:extLst>
          </p:cNvPr>
          <p:cNvSpPr>
            <a:spLocks noGrp="1"/>
          </p:cNvSpPr>
          <p:nvPr>
            <p:ph type="title"/>
          </p:nvPr>
        </p:nvSpPr>
        <p:spPr/>
        <p:txBody>
          <a:bodyPr/>
          <a:lstStyle/>
          <a:p>
            <a:r>
              <a:rPr lang="en-US" dirty="0"/>
              <a:t>What is causal inference?</a:t>
            </a:r>
          </a:p>
        </p:txBody>
      </p:sp>
      <p:sp>
        <p:nvSpPr>
          <p:cNvPr id="4" name="Content Placeholder 2">
            <a:extLst>
              <a:ext uri="{FF2B5EF4-FFF2-40B4-BE49-F238E27FC236}">
                <a16:creationId xmlns:a16="http://schemas.microsoft.com/office/drawing/2014/main" id="{E702EED2-7AF3-CE82-950A-96F9A185F67B}"/>
              </a:ext>
            </a:extLst>
          </p:cNvPr>
          <p:cNvSpPr txBox="1">
            <a:spLocks/>
          </p:cNvSpPr>
          <p:nvPr/>
        </p:nvSpPr>
        <p:spPr>
          <a:xfrm>
            <a:off x="1113311" y="5293819"/>
            <a:ext cx="10515600" cy="13255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Garamond" panose="02020404030301010803" pitchFamily="18" charset="0"/>
              </a:rPr>
              <a:t>“Causal inference is the leveraging of theory and deep knowledge of institutional details </a:t>
            </a:r>
            <a:r>
              <a:rPr lang="en-US" dirty="0">
                <a:highlight>
                  <a:srgbClr val="FFFF00"/>
                </a:highlight>
                <a:latin typeface="Garamond" panose="02020404030301010803" pitchFamily="18" charset="0"/>
              </a:rPr>
              <a:t>to estimate the impact </a:t>
            </a:r>
            <a:r>
              <a:rPr lang="en-US" dirty="0">
                <a:latin typeface="Garamond" panose="02020404030301010803" pitchFamily="18" charset="0"/>
              </a:rPr>
              <a:t>of events and choices on a given outcome of interest.” (Cunningham, p. 14)</a:t>
            </a:r>
          </a:p>
          <a:p>
            <a:endParaRPr lang="es-ES_tradnl" dirty="0"/>
          </a:p>
        </p:txBody>
      </p:sp>
      <p:sp>
        <p:nvSpPr>
          <p:cNvPr id="5" name="TextBox 4">
            <a:extLst>
              <a:ext uri="{FF2B5EF4-FFF2-40B4-BE49-F238E27FC236}">
                <a16:creationId xmlns:a16="http://schemas.microsoft.com/office/drawing/2014/main" id="{C8469BF7-1F19-015A-25E0-7690B0944499}"/>
              </a:ext>
            </a:extLst>
          </p:cNvPr>
          <p:cNvSpPr txBox="1"/>
          <p:nvPr/>
        </p:nvSpPr>
        <p:spPr>
          <a:xfrm>
            <a:off x="2544418" y="2132271"/>
            <a:ext cx="1940325" cy="830997"/>
          </a:xfrm>
          <a:prstGeom prst="rect">
            <a:avLst/>
          </a:prstGeom>
          <a:noFill/>
        </p:spPr>
        <p:txBody>
          <a:bodyPr wrap="square" rtlCol="0">
            <a:spAutoFit/>
          </a:bodyPr>
          <a:lstStyle/>
          <a:p>
            <a:pPr algn="ctr"/>
            <a:r>
              <a:rPr lang="es-ES_tradnl" sz="2400" dirty="0"/>
              <a:t>EVENTS / </a:t>
            </a:r>
          </a:p>
          <a:p>
            <a:pPr algn="ctr"/>
            <a:r>
              <a:rPr lang="es-ES_tradnl" sz="2400" dirty="0"/>
              <a:t>DECISIONS</a:t>
            </a:r>
          </a:p>
        </p:txBody>
      </p:sp>
      <p:cxnSp>
        <p:nvCxnSpPr>
          <p:cNvPr id="6" name="Straight Connector 5">
            <a:extLst>
              <a:ext uri="{FF2B5EF4-FFF2-40B4-BE49-F238E27FC236}">
                <a16:creationId xmlns:a16="http://schemas.microsoft.com/office/drawing/2014/main" id="{ADDED07F-24B6-E9C7-1C92-E6BABA8AF6C2}"/>
              </a:ext>
            </a:extLst>
          </p:cNvPr>
          <p:cNvCxnSpPr>
            <a:cxnSpLocks/>
            <a:stCxn id="5" idx="3"/>
          </p:cNvCxnSpPr>
          <p:nvPr/>
        </p:nvCxnSpPr>
        <p:spPr>
          <a:xfrm>
            <a:off x="4484743" y="2547770"/>
            <a:ext cx="147254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97565E-43C8-BF6D-D3CF-39C374A80067}"/>
              </a:ext>
            </a:extLst>
          </p:cNvPr>
          <p:cNvSpPr txBox="1"/>
          <p:nvPr/>
        </p:nvSpPr>
        <p:spPr>
          <a:xfrm>
            <a:off x="5957283" y="2224604"/>
            <a:ext cx="374073" cy="646331"/>
          </a:xfrm>
          <a:prstGeom prst="rect">
            <a:avLst/>
          </a:prstGeom>
          <a:noFill/>
        </p:spPr>
        <p:txBody>
          <a:bodyPr wrap="square" rtlCol="0">
            <a:spAutoFit/>
          </a:bodyPr>
          <a:lstStyle/>
          <a:p>
            <a:r>
              <a:rPr lang="es-ES_tradnl" sz="3600" dirty="0"/>
              <a:t>?</a:t>
            </a:r>
          </a:p>
        </p:txBody>
      </p:sp>
      <p:cxnSp>
        <p:nvCxnSpPr>
          <p:cNvPr id="8" name="Straight Arrow Connector 7">
            <a:extLst>
              <a:ext uri="{FF2B5EF4-FFF2-40B4-BE49-F238E27FC236}">
                <a16:creationId xmlns:a16="http://schemas.microsoft.com/office/drawing/2014/main" id="{55F440D8-A2BB-48B1-2FBF-1F6A4A7B3359}"/>
              </a:ext>
            </a:extLst>
          </p:cNvPr>
          <p:cNvCxnSpPr>
            <a:stCxn id="7" idx="3"/>
          </p:cNvCxnSpPr>
          <p:nvPr/>
        </p:nvCxnSpPr>
        <p:spPr>
          <a:xfrm>
            <a:off x="6331356" y="2547770"/>
            <a:ext cx="1543792" cy="0"/>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90F4F0-8311-D41C-B6E4-FEF6CBD074FD}"/>
              </a:ext>
            </a:extLst>
          </p:cNvPr>
          <p:cNvSpPr txBox="1"/>
          <p:nvPr/>
        </p:nvSpPr>
        <p:spPr>
          <a:xfrm>
            <a:off x="7952338" y="2316936"/>
            <a:ext cx="1366565" cy="461665"/>
          </a:xfrm>
          <a:prstGeom prst="rect">
            <a:avLst/>
          </a:prstGeom>
          <a:noFill/>
        </p:spPr>
        <p:txBody>
          <a:bodyPr wrap="square" rtlCol="0">
            <a:spAutoFit/>
          </a:bodyPr>
          <a:lstStyle/>
          <a:p>
            <a:pPr algn="ctr"/>
            <a:r>
              <a:rPr lang="es-ES_tradnl" sz="2400" dirty="0"/>
              <a:t>RESULTS</a:t>
            </a:r>
          </a:p>
        </p:txBody>
      </p:sp>
      <p:sp>
        <p:nvSpPr>
          <p:cNvPr id="10" name="TextBox 9">
            <a:extLst>
              <a:ext uri="{FF2B5EF4-FFF2-40B4-BE49-F238E27FC236}">
                <a16:creationId xmlns:a16="http://schemas.microsoft.com/office/drawing/2014/main" id="{A3019ECC-86D4-BDCA-29FF-E917247DE787}"/>
              </a:ext>
            </a:extLst>
          </p:cNvPr>
          <p:cNvSpPr txBox="1"/>
          <p:nvPr/>
        </p:nvSpPr>
        <p:spPr>
          <a:xfrm>
            <a:off x="6331355" y="3681849"/>
            <a:ext cx="2733132" cy="523220"/>
          </a:xfrm>
          <a:prstGeom prst="rect">
            <a:avLst/>
          </a:prstGeom>
          <a:noFill/>
        </p:spPr>
        <p:txBody>
          <a:bodyPr wrap="square" rtlCol="0">
            <a:spAutoFit/>
          </a:bodyPr>
          <a:lstStyle/>
          <a:p>
            <a:r>
              <a:rPr lang="es-ES_tradnl" sz="2800" b="1" dirty="0"/>
              <a:t>KNOWLEDGE</a:t>
            </a:r>
          </a:p>
        </p:txBody>
      </p:sp>
      <p:cxnSp>
        <p:nvCxnSpPr>
          <p:cNvPr id="11" name="Straight Arrow Connector 10">
            <a:extLst>
              <a:ext uri="{FF2B5EF4-FFF2-40B4-BE49-F238E27FC236}">
                <a16:creationId xmlns:a16="http://schemas.microsoft.com/office/drawing/2014/main" id="{757714C0-6057-B74B-A5D6-2227FD4E33C1}"/>
              </a:ext>
            </a:extLst>
          </p:cNvPr>
          <p:cNvCxnSpPr>
            <a:cxnSpLocks/>
            <a:stCxn id="10" idx="0"/>
          </p:cNvCxnSpPr>
          <p:nvPr/>
        </p:nvCxnSpPr>
        <p:spPr>
          <a:xfrm flipH="1" flipV="1">
            <a:off x="6331356" y="2770907"/>
            <a:ext cx="1366565" cy="9109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62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EEFA-599E-7779-B968-1EB7B965D4F2}"/>
              </a:ext>
            </a:extLst>
          </p:cNvPr>
          <p:cNvSpPr>
            <a:spLocks noGrp="1"/>
          </p:cNvSpPr>
          <p:nvPr>
            <p:ph type="title"/>
          </p:nvPr>
        </p:nvSpPr>
        <p:spPr/>
        <p:txBody>
          <a:bodyPr/>
          <a:lstStyle/>
          <a:p>
            <a:r>
              <a:rPr lang="en-US" dirty="0"/>
              <a:t>What is causal inference?</a:t>
            </a:r>
          </a:p>
        </p:txBody>
      </p:sp>
      <p:sp>
        <p:nvSpPr>
          <p:cNvPr id="4" name="Content Placeholder 2">
            <a:extLst>
              <a:ext uri="{FF2B5EF4-FFF2-40B4-BE49-F238E27FC236}">
                <a16:creationId xmlns:a16="http://schemas.microsoft.com/office/drawing/2014/main" id="{E702EED2-7AF3-CE82-950A-96F9A185F67B}"/>
              </a:ext>
            </a:extLst>
          </p:cNvPr>
          <p:cNvSpPr txBox="1">
            <a:spLocks/>
          </p:cNvSpPr>
          <p:nvPr/>
        </p:nvSpPr>
        <p:spPr>
          <a:xfrm>
            <a:off x="1113311" y="5293819"/>
            <a:ext cx="10515600" cy="13255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Garamond" panose="02020404030301010803" pitchFamily="18" charset="0"/>
              </a:rPr>
              <a:t>“Causal inference is the leveraging of theory and deep knowledge of institutional details to estimate the impact of </a:t>
            </a:r>
            <a:r>
              <a:rPr lang="en-US" dirty="0">
                <a:highlight>
                  <a:srgbClr val="FFFF00"/>
                </a:highlight>
                <a:latin typeface="Garamond" panose="02020404030301010803" pitchFamily="18" charset="0"/>
              </a:rPr>
              <a:t>events and choices on a given outcome of interest</a:t>
            </a:r>
            <a:r>
              <a:rPr lang="en-US" dirty="0">
                <a:latin typeface="Garamond" panose="02020404030301010803" pitchFamily="18" charset="0"/>
              </a:rPr>
              <a:t>.” (Cunningham, p. 14)</a:t>
            </a:r>
          </a:p>
          <a:p>
            <a:endParaRPr lang="es-ES_tradnl" dirty="0"/>
          </a:p>
        </p:txBody>
      </p:sp>
      <p:sp>
        <p:nvSpPr>
          <p:cNvPr id="5" name="TextBox 4">
            <a:extLst>
              <a:ext uri="{FF2B5EF4-FFF2-40B4-BE49-F238E27FC236}">
                <a16:creationId xmlns:a16="http://schemas.microsoft.com/office/drawing/2014/main" id="{C8469BF7-1F19-015A-25E0-7690B0944499}"/>
              </a:ext>
            </a:extLst>
          </p:cNvPr>
          <p:cNvSpPr txBox="1"/>
          <p:nvPr/>
        </p:nvSpPr>
        <p:spPr>
          <a:xfrm>
            <a:off x="2544418" y="2132271"/>
            <a:ext cx="1940325" cy="830997"/>
          </a:xfrm>
          <a:prstGeom prst="rect">
            <a:avLst/>
          </a:prstGeom>
          <a:noFill/>
        </p:spPr>
        <p:txBody>
          <a:bodyPr wrap="square" rtlCol="0">
            <a:spAutoFit/>
          </a:bodyPr>
          <a:lstStyle/>
          <a:p>
            <a:pPr algn="ctr"/>
            <a:r>
              <a:rPr lang="es-ES_tradnl" sz="2400" dirty="0">
                <a:highlight>
                  <a:srgbClr val="FFFF00"/>
                </a:highlight>
              </a:rPr>
              <a:t>EVENTS / </a:t>
            </a:r>
          </a:p>
          <a:p>
            <a:pPr algn="ctr"/>
            <a:r>
              <a:rPr lang="es-ES_tradnl" sz="2400" dirty="0">
                <a:highlight>
                  <a:srgbClr val="FFFF00"/>
                </a:highlight>
              </a:rPr>
              <a:t>DECISIONS</a:t>
            </a:r>
          </a:p>
        </p:txBody>
      </p:sp>
      <p:cxnSp>
        <p:nvCxnSpPr>
          <p:cNvPr id="6" name="Straight Connector 5">
            <a:extLst>
              <a:ext uri="{FF2B5EF4-FFF2-40B4-BE49-F238E27FC236}">
                <a16:creationId xmlns:a16="http://schemas.microsoft.com/office/drawing/2014/main" id="{ADDED07F-24B6-E9C7-1C92-E6BABA8AF6C2}"/>
              </a:ext>
            </a:extLst>
          </p:cNvPr>
          <p:cNvCxnSpPr>
            <a:cxnSpLocks/>
            <a:stCxn id="5" idx="3"/>
          </p:cNvCxnSpPr>
          <p:nvPr/>
        </p:nvCxnSpPr>
        <p:spPr>
          <a:xfrm>
            <a:off x="4484743" y="2547770"/>
            <a:ext cx="14725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97565E-43C8-BF6D-D3CF-39C374A80067}"/>
              </a:ext>
            </a:extLst>
          </p:cNvPr>
          <p:cNvSpPr txBox="1"/>
          <p:nvPr/>
        </p:nvSpPr>
        <p:spPr>
          <a:xfrm>
            <a:off x="5957283" y="2224604"/>
            <a:ext cx="374073" cy="646331"/>
          </a:xfrm>
          <a:prstGeom prst="rect">
            <a:avLst/>
          </a:prstGeom>
          <a:noFill/>
        </p:spPr>
        <p:txBody>
          <a:bodyPr wrap="square" rtlCol="0">
            <a:spAutoFit/>
          </a:bodyPr>
          <a:lstStyle/>
          <a:p>
            <a:r>
              <a:rPr lang="es-ES_tradnl" sz="3600" dirty="0"/>
              <a:t>?</a:t>
            </a:r>
          </a:p>
        </p:txBody>
      </p:sp>
      <p:cxnSp>
        <p:nvCxnSpPr>
          <p:cNvPr id="8" name="Straight Arrow Connector 7">
            <a:extLst>
              <a:ext uri="{FF2B5EF4-FFF2-40B4-BE49-F238E27FC236}">
                <a16:creationId xmlns:a16="http://schemas.microsoft.com/office/drawing/2014/main" id="{55F440D8-A2BB-48B1-2FBF-1F6A4A7B3359}"/>
              </a:ext>
            </a:extLst>
          </p:cNvPr>
          <p:cNvCxnSpPr>
            <a:stCxn id="7" idx="3"/>
          </p:cNvCxnSpPr>
          <p:nvPr/>
        </p:nvCxnSpPr>
        <p:spPr>
          <a:xfrm>
            <a:off x="6331356" y="2547770"/>
            <a:ext cx="15437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90F4F0-8311-D41C-B6E4-FEF6CBD074FD}"/>
              </a:ext>
            </a:extLst>
          </p:cNvPr>
          <p:cNvSpPr txBox="1"/>
          <p:nvPr/>
        </p:nvSpPr>
        <p:spPr>
          <a:xfrm>
            <a:off x="7952338" y="2316936"/>
            <a:ext cx="1366565" cy="461665"/>
          </a:xfrm>
          <a:prstGeom prst="rect">
            <a:avLst/>
          </a:prstGeom>
          <a:noFill/>
        </p:spPr>
        <p:txBody>
          <a:bodyPr wrap="square" rtlCol="0">
            <a:spAutoFit/>
          </a:bodyPr>
          <a:lstStyle/>
          <a:p>
            <a:pPr algn="ctr"/>
            <a:r>
              <a:rPr lang="es-ES_tradnl" sz="2400" dirty="0">
                <a:highlight>
                  <a:srgbClr val="FFFF00"/>
                </a:highlight>
              </a:rPr>
              <a:t>RESULTS</a:t>
            </a:r>
          </a:p>
        </p:txBody>
      </p:sp>
      <p:sp>
        <p:nvSpPr>
          <p:cNvPr id="10" name="TextBox 9">
            <a:extLst>
              <a:ext uri="{FF2B5EF4-FFF2-40B4-BE49-F238E27FC236}">
                <a16:creationId xmlns:a16="http://schemas.microsoft.com/office/drawing/2014/main" id="{A3019ECC-86D4-BDCA-29FF-E917247DE787}"/>
              </a:ext>
            </a:extLst>
          </p:cNvPr>
          <p:cNvSpPr txBox="1"/>
          <p:nvPr/>
        </p:nvSpPr>
        <p:spPr>
          <a:xfrm>
            <a:off x="6331355" y="3681849"/>
            <a:ext cx="2733132" cy="523220"/>
          </a:xfrm>
          <a:prstGeom prst="rect">
            <a:avLst/>
          </a:prstGeom>
          <a:noFill/>
        </p:spPr>
        <p:txBody>
          <a:bodyPr wrap="square" rtlCol="0">
            <a:spAutoFit/>
          </a:bodyPr>
          <a:lstStyle/>
          <a:p>
            <a:r>
              <a:rPr lang="es-ES_tradnl" sz="2800" b="1" dirty="0"/>
              <a:t>KNOWLEDGE</a:t>
            </a:r>
          </a:p>
        </p:txBody>
      </p:sp>
      <p:cxnSp>
        <p:nvCxnSpPr>
          <p:cNvPr id="11" name="Straight Arrow Connector 10">
            <a:extLst>
              <a:ext uri="{FF2B5EF4-FFF2-40B4-BE49-F238E27FC236}">
                <a16:creationId xmlns:a16="http://schemas.microsoft.com/office/drawing/2014/main" id="{757714C0-6057-B74B-A5D6-2227FD4E33C1}"/>
              </a:ext>
            </a:extLst>
          </p:cNvPr>
          <p:cNvCxnSpPr>
            <a:cxnSpLocks/>
            <a:stCxn id="10" idx="0"/>
          </p:cNvCxnSpPr>
          <p:nvPr/>
        </p:nvCxnSpPr>
        <p:spPr>
          <a:xfrm flipH="1" flipV="1">
            <a:off x="6331356" y="2770907"/>
            <a:ext cx="1366565" cy="9109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08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0C468-32CE-FF58-C29C-14F1786EA874}"/>
              </a:ext>
            </a:extLst>
          </p:cNvPr>
          <p:cNvSpPr>
            <a:spLocks noGrp="1"/>
          </p:cNvSpPr>
          <p:nvPr>
            <p:ph type="title"/>
          </p:nvPr>
        </p:nvSpPr>
        <p:spPr/>
        <p:txBody>
          <a:bodyPr/>
          <a:lstStyle/>
          <a:p>
            <a:r>
              <a:rPr lang="en-US" dirty="0"/>
              <a:t>The Problem: Correlations and Causality</a:t>
            </a:r>
          </a:p>
        </p:txBody>
      </p:sp>
      <p:sp>
        <p:nvSpPr>
          <p:cNvPr id="3" name="Text Placeholder 2">
            <a:extLst>
              <a:ext uri="{FF2B5EF4-FFF2-40B4-BE49-F238E27FC236}">
                <a16:creationId xmlns:a16="http://schemas.microsoft.com/office/drawing/2014/main" id="{B94C4FBB-A7F8-0C0A-180F-A30DD2BE373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0056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4FB944-57CE-CA34-78E8-4A4D5FBDE3FE}"/>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71A97573-A77A-9F35-194D-356A615446E5}"/>
              </a:ext>
            </a:extLst>
          </p:cNvPr>
          <p:cNvSpPr>
            <a:spLocks noGrp="1"/>
          </p:cNvSpPr>
          <p:nvPr>
            <p:ph idx="1"/>
          </p:nvPr>
        </p:nvSpPr>
        <p:spPr/>
        <p:txBody>
          <a:bodyPr/>
          <a:lstStyle/>
          <a:p>
            <a:r>
              <a:rPr lang="en-US" dirty="0"/>
              <a:t>Rarely will </a:t>
            </a:r>
            <a:r>
              <a:rPr lang="en-US" dirty="0">
                <a:solidFill>
                  <a:schemeClr val="accent1"/>
                </a:solidFill>
              </a:rPr>
              <a:t>observational data </a:t>
            </a:r>
            <a:r>
              <a:rPr lang="en-US" dirty="0"/>
              <a:t>(the data that we obtain by observing the world) reflect the causal relations we want to prove. </a:t>
            </a:r>
          </a:p>
        </p:txBody>
      </p:sp>
    </p:spTree>
    <p:extLst>
      <p:ext uri="{BB962C8B-B14F-4D97-AF65-F5344CB8AC3E}">
        <p14:creationId xmlns:p14="http://schemas.microsoft.com/office/powerpoint/2010/main" val="8688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B177-F738-2CD9-8056-1B62C360E765}"/>
              </a:ext>
            </a:extLst>
          </p:cNvPr>
          <p:cNvSpPr>
            <a:spLocks noGrp="1"/>
          </p:cNvSpPr>
          <p:nvPr>
            <p:ph type="title"/>
          </p:nvPr>
        </p:nvSpPr>
        <p:spPr/>
        <p:txBody>
          <a:bodyPr/>
          <a:lstStyle/>
          <a:p>
            <a:r>
              <a:rPr lang="en-US" dirty="0"/>
              <a:t>Correlation =/= Causation</a:t>
            </a:r>
          </a:p>
        </p:txBody>
      </p:sp>
      <p:sp>
        <p:nvSpPr>
          <p:cNvPr id="3" name="Content Placeholder 2">
            <a:extLst>
              <a:ext uri="{FF2B5EF4-FFF2-40B4-BE49-F238E27FC236}">
                <a16:creationId xmlns:a16="http://schemas.microsoft.com/office/drawing/2014/main" id="{C753BDA9-6C42-163F-EF07-9F91311E8339}"/>
              </a:ext>
            </a:extLst>
          </p:cNvPr>
          <p:cNvSpPr>
            <a:spLocks noGrp="1"/>
          </p:cNvSpPr>
          <p:nvPr>
            <p:ph idx="1"/>
          </p:nvPr>
        </p:nvSpPr>
        <p:spPr/>
        <p:txBody>
          <a:bodyPr/>
          <a:lstStyle/>
          <a:p>
            <a:r>
              <a:rPr lang="en-US" dirty="0"/>
              <a:t>Por example:</a:t>
            </a:r>
          </a:p>
          <a:p>
            <a:pPr lvl="1"/>
            <a:r>
              <a:rPr lang="en-US" dirty="0"/>
              <a:t>The rooster sings and the sun comes out. Can we </a:t>
            </a:r>
            <a:r>
              <a:rPr lang="en-US" b="1" dirty="0"/>
              <a:t>assert</a:t>
            </a:r>
            <a:r>
              <a:rPr lang="en-US" dirty="0"/>
              <a:t> that the rooster makes the sun come out?</a:t>
            </a:r>
          </a:p>
          <a:p>
            <a:pPr lvl="1"/>
            <a:r>
              <a:rPr lang="en-US" dirty="0"/>
              <a:t>A couple rents an apartment, and the oven breaks down. Can we </a:t>
            </a:r>
            <a:r>
              <a:rPr lang="en-US" b="1" dirty="0"/>
              <a:t>assert</a:t>
            </a:r>
            <a:r>
              <a:rPr lang="en-US" dirty="0"/>
              <a:t> that the couple broke the oven?</a:t>
            </a:r>
          </a:p>
          <a:p>
            <a:pPr lvl="1"/>
            <a:r>
              <a:rPr lang="en-US" dirty="0"/>
              <a:t>The most prosperous countries are also the most democratic. Can we </a:t>
            </a:r>
            <a:r>
              <a:rPr lang="en-US" b="1" dirty="0"/>
              <a:t>assert</a:t>
            </a:r>
            <a:r>
              <a:rPr lang="en-US" dirty="0"/>
              <a:t> that development makes country democratize?</a:t>
            </a:r>
          </a:p>
        </p:txBody>
      </p:sp>
    </p:spTree>
    <p:extLst>
      <p:ext uri="{BB962C8B-B14F-4D97-AF65-F5344CB8AC3E}">
        <p14:creationId xmlns:p14="http://schemas.microsoft.com/office/powerpoint/2010/main" val="352223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B148-ED94-E94D-846C-9355C05DF5F6}"/>
              </a:ext>
            </a:extLst>
          </p:cNvPr>
          <p:cNvSpPr>
            <a:spLocks noGrp="1"/>
          </p:cNvSpPr>
          <p:nvPr>
            <p:ph type="title"/>
          </p:nvPr>
        </p:nvSpPr>
        <p:spPr/>
        <p:txBody>
          <a:bodyPr/>
          <a:lstStyle/>
          <a:p>
            <a:r>
              <a:rPr lang="en-US" dirty="0"/>
              <a:t>No Correlation =/= No Causation</a:t>
            </a:r>
          </a:p>
        </p:txBody>
      </p:sp>
      <p:sp>
        <p:nvSpPr>
          <p:cNvPr id="3" name="Content Placeholder 2">
            <a:extLst>
              <a:ext uri="{FF2B5EF4-FFF2-40B4-BE49-F238E27FC236}">
                <a16:creationId xmlns:a16="http://schemas.microsoft.com/office/drawing/2014/main" id="{7491A2B6-BBE5-7764-14BD-74BE52EE87E5}"/>
              </a:ext>
            </a:extLst>
          </p:cNvPr>
          <p:cNvSpPr>
            <a:spLocks noGrp="1"/>
          </p:cNvSpPr>
          <p:nvPr>
            <p:ph idx="1"/>
          </p:nvPr>
        </p:nvSpPr>
        <p:spPr/>
        <p:txBody>
          <a:bodyPr/>
          <a:lstStyle/>
          <a:p>
            <a:r>
              <a:rPr lang="en-US" dirty="0"/>
              <a:t>For example:</a:t>
            </a:r>
          </a:p>
          <a:p>
            <a:pPr lvl="1"/>
            <a:r>
              <a:rPr lang="en-US" dirty="0"/>
              <a:t>The Federal Reserve raises interest rates to avoid high inflation. Inflation remains at the same level. The fact nothing happened could be the result of the actions from the Federal Reserve, despite seeing no correlation. </a:t>
            </a:r>
          </a:p>
        </p:txBody>
      </p:sp>
    </p:spTree>
    <p:extLst>
      <p:ext uri="{BB962C8B-B14F-4D97-AF65-F5344CB8AC3E}">
        <p14:creationId xmlns:p14="http://schemas.microsoft.com/office/powerpoint/2010/main" val="2566585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C6975B-79B4-97A1-EE6D-560DDC1E5544}"/>
              </a:ext>
            </a:extLst>
          </p:cNvPr>
          <p:cNvSpPr>
            <a:spLocks noGrp="1"/>
          </p:cNvSpPr>
          <p:nvPr>
            <p:ph type="title"/>
          </p:nvPr>
        </p:nvSpPr>
        <p:spPr/>
        <p:txBody>
          <a:bodyPr>
            <a:noAutofit/>
          </a:bodyPr>
          <a:lstStyle/>
          <a:p>
            <a:r>
              <a:rPr lang="en-US" sz="5400" dirty="0"/>
              <a:t>Other Problems: Experimental vs. Non-Experimental Data</a:t>
            </a:r>
          </a:p>
        </p:txBody>
      </p:sp>
      <p:sp>
        <p:nvSpPr>
          <p:cNvPr id="5" name="Text Placeholder 4">
            <a:extLst>
              <a:ext uri="{FF2B5EF4-FFF2-40B4-BE49-F238E27FC236}">
                <a16:creationId xmlns:a16="http://schemas.microsoft.com/office/drawing/2014/main" id="{A073B8FB-B3F4-A530-D327-22A908C2FC3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88012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A7C984-3209-B1AB-6284-10596B713461}"/>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6FC437F0-D77F-D6D1-7054-A508C025C7E3}"/>
              </a:ext>
            </a:extLst>
          </p:cNvPr>
          <p:cNvSpPr>
            <a:spLocks noGrp="1"/>
          </p:cNvSpPr>
          <p:nvPr>
            <p:ph idx="1"/>
          </p:nvPr>
        </p:nvSpPr>
        <p:spPr/>
        <p:txBody>
          <a:bodyPr/>
          <a:lstStyle/>
          <a:p>
            <a:r>
              <a:rPr lang="en-US" dirty="0"/>
              <a:t>We obtain </a:t>
            </a:r>
            <a:r>
              <a:rPr lang="en-US" dirty="0">
                <a:solidFill>
                  <a:schemeClr val="accent1"/>
                </a:solidFill>
              </a:rPr>
              <a:t>experimental data </a:t>
            </a:r>
            <a:r>
              <a:rPr lang="en-US" dirty="0"/>
              <a:t>from controlled spaces, similar to the data we obtain in a laboratory setting. </a:t>
            </a:r>
          </a:p>
          <a:p>
            <a:r>
              <a:rPr lang="en-US" dirty="0"/>
              <a:t>We obtain </a:t>
            </a:r>
            <a:r>
              <a:rPr lang="en-US" dirty="0">
                <a:solidFill>
                  <a:schemeClr val="accent1"/>
                </a:solidFill>
              </a:rPr>
              <a:t>non-experimental data</a:t>
            </a:r>
            <a:r>
              <a:rPr lang="en-US" dirty="0"/>
              <a:t> (i.e., observational data), from the world we observe. </a:t>
            </a:r>
          </a:p>
          <a:p>
            <a:endParaRPr lang="en-US" dirty="0"/>
          </a:p>
          <a:p>
            <a:r>
              <a:rPr lang="en-US" dirty="0"/>
              <a:t>When we want to infer causality, what is the problem with observational data?</a:t>
            </a:r>
          </a:p>
        </p:txBody>
      </p:sp>
    </p:spTree>
    <p:extLst>
      <p:ext uri="{BB962C8B-B14F-4D97-AF65-F5344CB8AC3E}">
        <p14:creationId xmlns:p14="http://schemas.microsoft.com/office/powerpoint/2010/main" val="2963896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7A5C9-A000-7EA6-D66B-8623B625DA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9B97EC-B502-5A37-AE43-BE34B4CCC022}"/>
              </a:ext>
            </a:extLst>
          </p:cNvPr>
          <p:cNvSpPr>
            <a:spLocks noGrp="1"/>
          </p:cNvSpPr>
          <p:nvPr>
            <p:ph idx="1"/>
          </p:nvPr>
        </p:nvSpPr>
        <p:spPr/>
        <p:txBody>
          <a:bodyPr/>
          <a:lstStyle/>
          <a:p>
            <a:r>
              <a:rPr lang="en-US" dirty="0"/>
              <a:t>That’s right! Observational data is </a:t>
            </a:r>
            <a:r>
              <a:rPr lang="en-US" dirty="0">
                <a:solidFill>
                  <a:schemeClr val="accent1"/>
                </a:solidFill>
              </a:rPr>
              <a:t>endogenous</a:t>
            </a:r>
            <a:r>
              <a:rPr lang="en-US" dirty="0"/>
              <a:t>. </a:t>
            </a:r>
          </a:p>
          <a:p>
            <a:r>
              <a:rPr lang="en-US" dirty="0"/>
              <a:t>This means that </a:t>
            </a:r>
            <a:r>
              <a:rPr lang="en-US" dirty="0">
                <a:highlight>
                  <a:srgbClr val="FFFF00"/>
                </a:highlight>
              </a:rPr>
              <a:t>DECISIONS</a:t>
            </a:r>
            <a:r>
              <a:rPr lang="en-US" dirty="0"/>
              <a:t> are </a:t>
            </a:r>
            <a:r>
              <a:rPr lang="en-US" i="1" dirty="0"/>
              <a:t>not independent </a:t>
            </a:r>
            <a:r>
              <a:rPr lang="en-US" dirty="0"/>
              <a:t>from the </a:t>
            </a:r>
            <a:r>
              <a:rPr lang="en-US" dirty="0">
                <a:highlight>
                  <a:srgbClr val="FFFF00"/>
                </a:highlight>
              </a:rPr>
              <a:t>RESULTS</a:t>
            </a:r>
            <a:r>
              <a:rPr lang="en-US" dirty="0"/>
              <a:t>. </a:t>
            </a:r>
          </a:p>
          <a:p>
            <a:pPr lvl="1"/>
            <a:r>
              <a:rPr lang="en-US" dirty="0"/>
              <a:t>Examples?</a:t>
            </a:r>
          </a:p>
          <a:p>
            <a:pPr lvl="1"/>
            <a:endParaRPr lang="en-US" dirty="0"/>
          </a:p>
          <a:p>
            <a:r>
              <a:rPr lang="en-US" dirty="0"/>
              <a:t>In other words, it is difficult to establish a </a:t>
            </a:r>
            <a:r>
              <a:rPr lang="en-US" dirty="0">
                <a:solidFill>
                  <a:schemeClr val="accent1"/>
                </a:solidFill>
              </a:rPr>
              <a:t>counter-factual</a:t>
            </a:r>
            <a:r>
              <a:rPr lang="en-US" dirty="0"/>
              <a:t>: situations where, under the same circumstances, units with the same characteristics would have taken different decisions that led to different results (</a:t>
            </a:r>
            <a:r>
              <a:rPr lang="en-US" i="1" dirty="0">
                <a:solidFill>
                  <a:schemeClr val="accent1"/>
                </a:solidFill>
              </a:rPr>
              <a:t>what if…</a:t>
            </a:r>
            <a:r>
              <a:rPr lang="en-US" dirty="0"/>
              <a:t>). </a:t>
            </a:r>
          </a:p>
        </p:txBody>
      </p:sp>
    </p:spTree>
    <p:extLst>
      <p:ext uri="{BB962C8B-B14F-4D97-AF65-F5344CB8AC3E}">
        <p14:creationId xmlns:p14="http://schemas.microsoft.com/office/powerpoint/2010/main" val="30784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BAF91-50E7-A46E-EC08-C0F001F892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19B749-1C98-CEE6-8379-7072061A72EC}"/>
              </a:ext>
            </a:extLst>
          </p:cNvPr>
          <p:cNvSpPr>
            <a:spLocks noGrp="1"/>
          </p:cNvSpPr>
          <p:nvPr>
            <p:ph idx="1"/>
          </p:nvPr>
        </p:nvSpPr>
        <p:spPr/>
        <p:txBody>
          <a:bodyPr/>
          <a:lstStyle/>
          <a:p>
            <a:r>
              <a:rPr lang="en-US" dirty="0"/>
              <a:t>In this class we will learn about causal inference, randomized experiments, and why we can infer causality from randomized experiments. </a:t>
            </a:r>
          </a:p>
          <a:p>
            <a:r>
              <a:rPr lang="en-US" dirty="0"/>
              <a:t>We will learn about the problems with observational data, how to estimate correlations in observational data (i.e., through regressions), and how to approach causal inference using observational data (e.g., regression discontinuities, difference-in-difference). </a:t>
            </a:r>
          </a:p>
          <a:p>
            <a:endParaRPr lang="en-US" dirty="0"/>
          </a:p>
          <a:p>
            <a:r>
              <a:rPr lang="en-US" dirty="0"/>
              <a:t>(We we also learn about best practices when applying these methods).</a:t>
            </a:r>
          </a:p>
        </p:txBody>
      </p:sp>
    </p:spTree>
    <p:extLst>
      <p:ext uri="{BB962C8B-B14F-4D97-AF65-F5344CB8AC3E}">
        <p14:creationId xmlns:p14="http://schemas.microsoft.com/office/powerpoint/2010/main" val="3373470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C729-40C3-FE5C-AA4E-E8DCD0208BEE}"/>
              </a:ext>
            </a:extLst>
          </p:cNvPr>
          <p:cNvSpPr>
            <a:spLocks noGrp="1"/>
          </p:cNvSpPr>
          <p:nvPr>
            <p:ph type="title"/>
          </p:nvPr>
        </p:nvSpPr>
        <p:spPr/>
        <p:txBody>
          <a:bodyPr/>
          <a:lstStyle/>
          <a:p>
            <a:r>
              <a:rPr lang="en-US" dirty="0"/>
              <a:t>The Scientific Method</a:t>
            </a:r>
          </a:p>
        </p:txBody>
      </p:sp>
      <p:sp>
        <p:nvSpPr>
          <p:cNvPr id="3" name="Text Placeholder 2">
            <a:extLst>
              <a:ext uri="{FF2B5EF4-FFF2-40B4-BE49-F238E27FC236}">
                <a16:creationId xmlns:a16="http://schemas.microsoft.com/office/drawing/2014/main" id="{CE59366E-FC9F-1824-9C5D-4E66E7F6A0E4}"/>
              </a:ext>
            </a:extLst>
          </p:cNvPr>
          <p:cNvSpPr>
            <a:spLocks noGrp="1"/>
          </p:cNvSpPr>
          <p:nvPr>
            <p:ph type="body" idx="1"/>
          </p:nvPr>
        </p:nvSpPr>
        <p:spPr/>
        <p:txBody>
          <a:bodyPr/>
          <a:lstStyle/>
          <a:p>
            <a:r>
              <a:rPr lang="en-CA" b="1" dirty="0"/>
              <a:t>Mr. Morton</a:t>
            </a:r>
            <a:r>
              <a:rPr lang="en-CA" dirty="0"/>
              <a:t>: It's not fun, it's science.</a:t>
            </a:r>
            <a:endParaRPr lang="en-US" dirty="0"/>
          </a:p>
        </p:txBody>
      </p:sp>
    </p:spTree>
    <p:extLst>
      <p:ext uri="{BB962C8B-B14F-4D97-AF65-F5344CB8AC3E}">
        <p14:creationId xmlns:p14="http://schemas.microsoft.com/office/powerpoint/2010/main" val="37104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493AC8-AF33-ADF9-F4EF-43A082795E27}"/>
              </a:ext>
            </a:extLst>
          </p:cNvPr>
          <p:cNvSpPr txBox="1"/>
          <p:nvPr/>
        </p:nvSpPr>
        <p:spPr>
          <a:xfrm>
            <a:off x="3622963" y="3244334"/>
            <a:ext cx="4946073" cy="369332"/>
          </a:xfrm>
          <a:prstGeom prst="rect">
            <a:avLst/>
          </a:prstGeom>
          <a:noFill/>
        </p:spPr>
        <p:txBody>
          <a:bodyPr wrap="square" rtlCol="0">
            <a:spAutoFit/>
          </a:bodyPr>
          <a:lstStyle/>
          <a:p>
            <a:r>
              <a:rPr lang="en-US" dirty="0">
                <a:hlinkClick r:id="rId2"/>
              </a:rPr>
              <a:t>https://www.youtube.com/watch?v=iZxCjkLS6Mw</a:t>
            </a:r>
            <a:r>
              <a:rPr lang="en-US" dirty="0"/>
              <a:t> </a:t>
            </a:r>
          </a:p>
        </p:txBody>
      </p:sp>
    </p:spTree>
    <p:extLst>
      <p:ext uri="{BB962C8B-B14F-4D97-AF65-F5344CB8AC3E}">
        <p14:creationId xmlns:p14="http://schemas.microsoft.com/office/powerpoint/2010/main" val="3922211887"/>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148</TotalTime>
  <Words>854</Words>
  <Application>Microsoft Macintosh PowerPoint</Application>
  <PresentationFormat>Widescreen</PresentationFormat>
  <Paragraphs>97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Garamond</vt:lpstr>
      <vt:lpstr>Gill Sans MT</vt:lpstr>
      <vt:lpstr>Impact</vt:lpstr>
      <vt:lpstr>Wingdings</vt:lpstr>
      <vt:lpstr>Badge</vt:lpstr>
      <vt:lpstr>What is Causal Inference?</vt:lpstr>
      <vt:lpstr>PowerPoint Presentation</vt:lpstr>
      <vt:lpstr>PowerPoint Presentation</vt:lpstr>
      <vt:lpstr>PowerPoint Presentation</vt:lpstr>
      <vt:lpstr>The Scientific Method</vt:lpstr>
      <vt:lpstr>PowerPoint Presentation</vt:lpstr>
      <vt:lpstr>PowerPoint Presentation</vt:lpstr>
      <vt:lpstr>The scientific method</vt:lpstr>
      <vt:lpstr>More than anything, a cycle:</vt:lpstr>
      <vt:lpstr>Hypothesis</vt:lpstr>
      <vt:lpstr>Hypotheses</vt:lpstr>
      <vt:lpstr>PowerPoint Presentation</vt:lpstr>
      <vt:lpstr>Observing the World</vt:lpstr>
      <vt:lpstr>PowerPoint Presentation</vt:lpstr>
      <vt:lpstr>What is causal inference?</vt:lpstr>
      <vt:lpstr>What is causal inference?</vt:lpstr>
      <vt:lpstr>What is causal inference?</vt:lpstr>
      <vt:lpstr>What is causal inference?</vt:lpstr>
      <vt:lpstr>The Problem: Correlations and Causality</vt:lpstr>
      <vt:lpstr>PowerPoint Presentation</vt:lpstr>
      <vt:lpstr>Correlation =/= Causation</vt:lpstr>
      <vt:lpstr>No Correlation =/= No Causation</vt:lpstr>
      <vt:lpstr>Other Problems: Experimental vs. Non-Experimental Data</vt:lpstr>
      <vt:lpstr>PowerPoint Presentation</vt:lpstr>
      <vt:lpstr>PowerPoint Presentation</vt:lpstr>
      <vt:lpstr>PowerPoint Presentation</vt:lpstr>
      <vt:lpstr>The Scientific Method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Causal Inference</dc:title>
  <dc:creator>Sebastian Vallejo Vera</dc:creator>
  <cp:lastModifiedBy>Sebastian Vallejo Vera</cp:lastModifiedBy>
  <cp:revision>4</cp:revision>
  <dcterms:created xsi:type="dcterms:W3CDTF">2024-01-02T22:55:52Z</dcterms:created>
  <dcterms:modified xsi:type="dcterms:W3CDTF">2026-01-06T02:58:10Z</dcterms:modified>
</cp:coreProperties>
</file>